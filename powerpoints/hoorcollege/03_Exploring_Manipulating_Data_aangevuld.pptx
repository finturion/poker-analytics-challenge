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 id="905" r:id="rId38"/>
    <p:sldId id="906" r:id="rId39"/>
    <p:sldId id="907" r:id="rId40"/>
    <p:sldId id="908" r:id="rId41"/>
    <p:sldId id="909" r:id="rId42"/>
    <p:sldId id="910" r:id="rId43"/>
    <p:sldId id="911" r:id="rId44"/>
    <p:sldId id="912" r:id="rId45"/>
    <p:sldId id="913" r:id="rId46"/>
    <p:sldId id="914" r:id="rId4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r>
              <a:t>[np.random] Dit is precies wat schat_winkans() doet. Je kunt de winkans</a:t>
            </a:r>
          </a:p>
          <a:p>
            <a:r>
              <a:t>van A-K tegen vijf tegenstanders niet uitrekenen met een formule; je deelt duizend</a:t>
            </a:r>
          </a:p>
          <a:p>
            <a:r>
              <a:t>keer willekeurige kaarten en telt hoe vaak je wint. Een verdeling maken om een</a:t>
            </a:r>
          </a:p>
          <a:p>
            <a:r>
              <a:t>getal te schatten dat je niet kunt afleiden - dat is Monte Carlo, en dat zit al</a:t>
            </a:r>
          </a:p>
          <a:p>
            <a:r>
              <a:t>sinds werkcollege 4 in hun bot.</a:t>
            </a: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Kort houden - dit is de kaart, niet de reis.</a:t>
            </a:r>
          </a:p>
          <a:p>
            <a:r>
              <a:t>Het enige dat ze moeten onthouden: winkans en pot odds naast elkaar is de</a:t>
            </a:r>
          </a:p>
          <a:p>
            <a:r>
              <a:t>beslisregel, en dat is de hele week. De rest is gereedschap om die regel te maken.</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grens van week 3,</a:t>
            </a:r>
          </a:p>
          <a:p>
            <a:r>
              <a:t>en het is een bewuste grens. Preflop-winkansen veranderen nooit, dus 169 starthanden</a:t>
            </a:r>
          </a:p>
          <a:p>
            <a:r>
              <a:t>kun je een keer uitrekenen en in een dictionary plakken. Daarom kon het.</a:t>
            </a:r>
          </a:p>
          <a:p/>
          <a:p>
            <a:r>
              <a:t>Vraag die altijd komt: ziet mijn bot het bord? Nee. Twee kaarten, elke straat, de</a:t>
            </a:r>
          </a:p>
          <a:p>
            <a:r>
              <a:t>hele hand lang. Dat is deze week zo en dat verandert in week 5.</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kleur is hier het punt, niet de</a:t>
            </a:r>
          </a:p>
          <a:p>
            <a:r>
              <a:t>techniek. Zelfde rangen, bord met drie schoppen: 36,6% tegen 8,0%. Op de river 94,1%</a:t>
            </a:r>
          </a:p>
          <a:p>
            <a:r>
              <a:t>tegen 0,0%. Dezelfde kaarten qua waarde, een compleet andere hand.</a:t>
            </a:r>
          </a:p>
          <a:p/>
          <a:p>
            <a:r>
              <a:t>En de opzoektabel houdt op te werken: binnen "een paar" op de flop loopt de echte</a:t>
            </a:r>
          </a:p>
          <a:p>
            <a:r>
              <a:t>winkans van 8,5% tot 75,5%. Elke tabelwaarde zit in beide richtingen ver mis.</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Loop de verplichte regel langzaam langs. De</a:t>
            </a:r>
          </a:p>
          <a:p>
            <a:r>
              <a:t>engine kijkt naar je PARAMETERNAMEN; verkeerd gespeld betekent dat je die informatie</a:t>
            </a:r>
          </a:p>
          <a:p>
            <a:r>
              <a:t>niet krijgt, zonder foutmelding. Dat is de stilste fout in het hele vak.</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Vier getallen op tafel en dan stil zijn.</a:t>
            </a:r>
          </a:p>
          <a:p/>
          <a:p>
            <a:r>
              <a:t>Het gemiddelde is exact nul en dat is geen toeval: poker is een nulsom, wat de een</a:t>
            </a:r>
          </a:p>
          <a:p>
            <a:r>
              <a:t>wint verliest de ander. Daarmee is het meteen je controle -- komt er geen nul uit je</a:t>
            </a:r>
          </a:p>
          <a:p>
            <a:r>
              <a:t>eigen berekening, dan klopt je groepering niet en is alles daarna onzin.</a:t>
            </a:r>
          </a:p>
          <a:p/>
          <a:p>
            <a:r>
              <a:t>Mediaan nul betekent: in de meeste handen gebeurt er niets. En toch ging er in een</a:t>
            </a:r>
          </a:p>
          <a:p>
            <a:r>
              <a:t>van die handen meer dan duizend chips om. Vraag het aan de zaal voordat je het zegt:</a:t>
            </a:r>
          </a:p>
          <a:p>
            <a:r>
              <a:t>welk van deze vier getallen had je dat verteld?</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De bakjes zijn met opzet ongelijk.</a:t>
            </a:r>
          </a:p>
          <a:p>
            <a:r>
              <a:t>Rond nul zit bijna alles, dus daar wil je fijn verdelen; de staarten zijn zo dun dat</a:t>
            </a:r>
          </a:p>
          <a:p>
            <a:r>
              <a:t>ze alleen als één bakje zichtbaar blijven.</a:t>
            </a:r>
          </a:p>
          <a:p/>
          <a:p>
            <a:r>
              <a:t>Die piek rond nul zijn handen die zijn weggelegd zonder in de blinds te zitten: je</a:t>
            </a:r>
          </a:p>
          <a:p>
            <a:r>
              <a:t>verliest niets en je wint niets. Het spel gebeurt in de handen aan de randen, en dat</a:t>
            </a:r>
          </a:p>
          <a:p>
            <a:r>
              <a:t>zijn er een paar van de duizenden.</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y-as is logaritmisch, en dat is geen truc maar de</a:t>
            </a:r>
          </a:p>
          <a:p>
            <a:r>
              <a:t>enige manier om allebei te zien: de piek is duizenden handen hoog en de staart is</a:t>
            </a:r>
          </a:p>
          <a:p>
            <a:r>
              <a:t>één hand. Lineair zie je één balk en verder wit.</a:t>
            </a:r>
          </a:p>
          <a:p/>
          <a:p>
            <a:r>
              <a:t>Goede vraag aan de zaal: df["winst"].hist(bins=40) geeft precies dat lege plaatje.</a:t>
            </a:r>
          </a:p>
          <a:p>
            <a:r>
              <a:t>Wie had gemerkt dat er iets ontbrak? De standaardinstelling van een grafiek is een</a:t>
            </a:r>
          </a:p>
          <a:p>
            <a:r>
              <a:t>keuze die iemand anders voor je heeft gemaakt.</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3 - het gesprek van vandaag] Laat ze de</a:t>
            </a:r>
          </a:p>
          <a:p>
            <a:r>
              <a:t>tabel zelf lezen voordat je iets zegt.</a:t>
            </a:r>
          </a:p>
          <a:p/>
          <a:p>
            <a:r>
              <a:t>De vraag is niet "waarom foldt de klas zoveel" maar "waarom levert elke andere actie</a:t>
            </a:r>
          </a:p>
          <a:p>
            <a:r>
              <a:t>gemiddeld geld op, en doet niemand het". Antwoord: aan een tafel van folders wint de</a:t>
            </a:r>
          </a:p>
          <a:p>
            <a:r>
              <a:t>big blind de small blind. Folden kost je bijna niets - en levert je ook niets op.</a:t>
            </a:r>
          </a:p>
          <a:p/>
          <a:p>
            <a:r>
              <a:t>Let op bij het navolgen: filter op aan_zet, anders tel je handen mee waarin de bot</a:t>
            </a:r>
          </a:p>
          <a:p>
            <a:r>
              <a:t>nooit iets koos en komt elk percentage te laag uit. Dat is dezelfde val als in de</a:t>
            </a:r>
          </a:p>
          <a:p>
            <a:r>
              <a:t>demo van vanmiddag.</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4 - hier eindig je] Laat de uitslag</a:t>
            </a:r>
          </a:p>
          <a:p>
            <a:r>
              <a:t>even staan voordat je hem uitlegt.</a:t>
            </a:r>
          </a:p>
          <a:p/>
          <a:p>
            <a:r>
              <a:t>Het gaat niet om "de domme bot wint". Het gaat om: jullie drempels staan zo hoog dat</a:t>
            </a:r>
          </a:p>
          <a:p>
            <a:r>
              <a:t>niet meedoen bijna net zo goed werkt als meedoen. Kijk naar nummer twee - die foldt</a:t>
            </a:r>
          </a:p>
          <a:p>
            <a:r>
              <a:t>ruim tachtig procent en niet negenennegentig, en dat is het verschil.</a:t>
            </a:r>
          </a:p>
          <a:p/>
          <a:p>
            <a:r>
              <a:t>Over de correlatie: niet doorslaan. Een handvol bots draagt dat getal en een paar</a:t>
            </a:r>
          </a:p>
          <a:p>
            <a:r>
              <a:t>tientallen punten is weinig. Dat onderscheid, zie ik een verband tegenover heb ik</a:t>
            </a:r>
          </a:p>
          <a:p>
            <a:r>
              <a:t>iets aangetoond, is precies wat het criterium Analyse van Case 2 beoordeelt.</a:t>
            </a:r>
          </a:p>
          <a:p/>
          <a:p>
            <a:r>
              <a:t>De vraag voor donderdag is niet "moet ik minder folden" maar "waar liggen mijn</a:t>
            </a:r>
          </a:p>
          <a:p>
            <a:r>
              <a:t>drempels, en waarom daar".</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deadline is donderdag 18:00 en dat is geen</a:t>
            </a:r>
          </a:p>
          <a:p>
            <a:r>
              <a:t>inlevermoment maar een BESLUIT: welke vraag, welke twee bronnen, op welke kolom die</a:t>
            </a:r>
          </a:p>
          <a:p>
            <a:r>
              <a:t>aan elkaar passen, wie doet wat.</a:t>
            </a:r>
          </a:p>
          <a:p/>
          <a:p>
            <a:r>
              <a:t>Het zinnetje over Den Haag en 's-Gravenhage is niet grappig bedoeld. Laat ze nu al</a:t>
            </a:r>
          </a:p>
          <a:p>
            <a:r>
              <a:t>een keer kijken of hun twee bronnen echt een gemeenschappelijke kolom hebben met</a:t>
            </a:r>
          </a:p>
          <a:p>
            <a:r>
              <a:t>dezelfde schrijfwijze.</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Vergelijken en annoteren is het criterium waar</a:t>
            </a:r>
          </a:p>
          <a:p>
            <a:r>
              <a:t>groepen punten laten liggen. Het vraagt diff, cumsum of shift - het verschil met het</a:t>
            </a:r>
          </a:p>
          <a:p>
            <a:r>
              <a:t>moment ervoor, niet alleen de waarde. Ze hebben diff vanmiddag al gebruikt om de</a:t>
            </a:r>
          </a:p>
          <a:p>
            <a:r>
              <a:t>winst-kolom te maken; zeg dat er hardop bij.</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Deze dia is saai en bespaart je</a:t>
            </a:r>
          </a:p>
          <a:p>
            <a:r>
              <a:t>in week 4 een half uur discussie. De aftrek gaat van BEIDE cijfers af, IDS en VA.</a:t>
            </a:r>
          </a:p>
          <a:p/>
          <a:p>
            <a:r>
              <a:t>"Een schone clone draait zonder handmatige stappen" is de zwaarste: hun app moet het</a:t>
            </a:r>
          </a:p>
          <a:p>
            <a:r>
              <a:t>doen op een computer die hun notebook nooit heeft gezien.</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dia die de curriculum-audit vroeg.</a:t>
            </a:r>
          </a:p>
          <a:p>
            <a:r>
              <a:t>Studenten leggen de koppeling tussen werkcollege en rubric zelf niet. Een zin - dit</a:t>
            </a:r>
          </a:p>
          <a:p>
            <a:r>
              <a:t>is het criterium waarop je case wordt beoordeeld - is het verschil tussen een</a:t>
            </a:r>
          </a:p>
          <a:p>
            <a:r>
              <a:t>oefening en een reden.</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[EDA-recept] Dit recept is precies de volgorde van de demo straks:</a:t>
            </a:r>
          </a:p>
          <a:p>
            <a:r>
              <a:t>describe -&gt; univariaat -&gt; bivariaat. Blok 1 is describe, blok 3 is bivariaat.</a:t>
            </a:r>
          </a:p>
          <a:p>
            <a:r>
              <a:t>Zeg dat je het zo meteen op hun eigen toernooi doet, dan luisteren ze anders.</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 wat de samenvatting verbergt] Op het toernooi van deze week:</a:t>
            </a:r>
          </a:p>
          <a:p>
            <a:r>
              <a:t>gemiddelde 0,0 - mediaan 0,0 - std 39 - laagste -1030 - hoogste +1750.</a:t>
            </a:r>
          </a:p>
          <a:p/>
          <a:p>
            <a:r>
              <a:t>Het gemiddelde is exact nul en dat is geen toeval: poker is een nulsom, wat de</a:t>
            </a:r>
          </a:p>
          <a:p>
            <a:r>
              <a:t>een wint verliest de ander. Dat is meteen je controle. Komt er geen nul uit je</a:t>
            </a:r>
          </a:p>
          <a:p>
            <a:r>
              <a:t>eigen berekening, dan klopt je groepering niet.</a:t>
            </a:r>
          </a:p>
          <a:p/>
          <a:p>
            <a:r>
              <a:t>Mediaan nul betekent: in de meeste handen gebeurt er niets. En toch ging er in</a:t>
            </a:r>
          </a:p>
          <a:p>
            <a:r>
              <a:t>een van die handen 1750 chips om. Vier getallen, en geen van de vier vertelt dat.</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 de verdeling] Op hun data: 4838 van de 6750 handen vallen</a:t>
            </a:r>
          </a:p>
          <a:p>
            <a:r>
              <a:t>tussen 0 en 20 chips. 1488 tussen -20 en -1. En dan de staarten: 53 handen tussen</a:t>
            </a:r>
          </a:p>
          <a:p>
            <a:r>
              <a:t>-100 en -20, negen onder de -200, zeven boven de +200.</a:t>
            </a:r>
          </a:p>
          <a:p/>
          <a:p>
            <a:r>
              <a:t>Die ene piek rond nul zijn handen die zijn weggelegd zonder in de blinds te zitten.</a:t>
            </a:r>
          </a:p>
          <a:p>
            <a:r>
              <a:t>Het echte spel zit in de zeven handen rechts. Vraag aan de zaal: welk van de vier</a:t>
            </a:r>
          </a:p>
          <a:p>
            <a:r>
              <a:t>getallen van de vorige dia had je dat verteld? Geen enkel.</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[Central tendency] Hier maakt de keuze het verschil tussen twee conclusies,</a:t>
            </a:r>
          </a:p>
          <a:p>
            <a:r>
              <a:t>en dat kun je op hun data laten zien. Gemiddelde winst per hand: 0. Mediaan: 0.</a:t>
            </a:r>
          </a:p>
          <a:p>
            <a:r>
              <a:t>Allebei nul, allebei waar, en samen verbergen ze een hand van +1750.</a:t>
            </a:r>
          </a:p>
          <a:p/>
          <a:p>
            <a:r>
              <a:t>Bij de bots ligt het andersom: de mediaan van de eindstand is 946, het gemiddelde</a:t>
            </a:r>
          </a:p>
          <a:p>
            <a:r>
              <a:t>1000 (want nulsom). Dat verschil van 54 chips is de scheefheid - een paar bots</a:t>
            </a:r>
          </a:p>
          <a:p>
            <a:r>
              <a:t>hebben veel, de meeste iets minder dan waarmee ze begonnen.</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[Filteren] De twee filters uit de demo:</a:t>
            </a:r>
          </a:p>
          <a:p/>
          <a:p>
            <a:r>
              <a:t>  handen[handen["bot_naam"] == "500959250"]      -- rijen op inhoud</a:t>
            </a:r>
          </a:p>
          <a:p>
            <a:r>
              <a:t>  handen.loc[handen["aan_zet"], "actie"]         -- boolean mask</a:t>
            </a:r>
          </a:p>
          <a:p/>
          <a:p>
            <a:r>
              <a:t>Die tweede is de belangrijkste regel van het college. aan_zet is een kolom vol</a:t>
            </a:r>
          </a:p>
          <a:p>
            <a:r>
              <a:t>True/False; in .loc zetten houdt alleen de rijen waar hij True is. 928 van de 6750</a:t>
            </a:r>
          </a:p>
          <a:p>
            <a:r>
              <a:t>logregels zijn handen waarin de bot nooit iets koos - hij zat in de blinds en de</a:t>
            </a:r>
          </a:p>
          <a:p>
            <a:r>
              <a:t>hand was al voorbij.</a:t>
            </a:r>
          </a:p>
        </p:txBody>
      </p:sp>
      <p:sp>
        <p:nvSpPr>
          <p:cNvPr id="4" name="Slide Number Placeholder 3"/>
          <p:cNvSpPr>
            <a:spLocks noGrp="1"/>
          </p:cNvSpPr>
          <p:nvPr>
            <p:ph type="sldNum"/>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[Nieuwe variabelen] De winst-kolom is hier het voorbeeld, en hij komt</a:t>
            </a:r>
          </a:p>
          <a:p>
            <a:r>
              <a:t>niet uit het log maar reken je zelf uit:</a:t>
            </a:r>
          </a:p>
          <a:p/>
          <a:p>
            <a:r>
              <a:t>  handen["winst"] = handen.groupby(["bot_naam","simulatie"])["stack"].diff()</a:t>
            </a:r>
          </a:p>
          <a:p>
            <a:r>
              <a:t>                          .fillna(handen["stack"] - 1000)</a:t>
            </a:r>
          </a:p>
          <a:p/>
          <a:p>
            <a:r>
              <a:t>Het log bewaart de stack NA elke hand, dus winst is het verschil met de hand</a:t>
            </a:r>
          </a:p>
          <a:p>
            <a:r>
              <a:t>ervoor. Twee dingen die misgaan: groeperen zonder simulatie (dan trek je de</a:t>
            </a:r>
          </a:p>
          <a:p>
            <a:r>
              <a:t>eerste hand van zitting 1 af van de laatste van zitting 0), en de NaN van de</a:t>
            </a:r>
          </a:p>
          <a:p>
            <a:r>
              <a:t>eerste hand laten staan.</a:t>
            </a:r>
          </a:p>
          <a:p/>
          <a:p>
            <a:r>
              <a:t>Controle: alle winst samen is precies 0.</a:t>
            </a:r>
          </a:p>
        </p:txBody>
      </p:sp>
      <p:sp>
        <p:nvSpPr>
          <p:cNvPr id="4" name="Slide Number Placeholder 3"/>
          <p:cNvSpPr>
            <a:spLocks noGrp="1"/>
          </p:cNvSpPr>
          <p:nvPr>
            <p:ph type="sldNum"/>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[Groupby] Een-op-een met de vorige dia:</a:t>
            </a:r>
          </a:p>
          <a:p/>
          <a:p>
            <a:r>
              <a:t>  gapminder.groupby('continent')['pop'].sum()</a:t>
            </a:r>
          </a:p>
          <a:p>
            <a:r>
              <a:t>  handen.groupby('bot_naam')['winst'].sum()</a:t>
            </a:r>
          </a:p>
          <a:p/>
          <a:p>
            <a:r>
              <a:t>Letterlijk dezelfde regel. En dan de valkuil, die je moet laten zien:</a:t>
            </a:r>
          </a:p>
          <a:p/>
          <a:p>
            <a:r>
              <a:t>  handen.groupby('bot_naam')['stack'].sum()   -&gt;  258.550 chips</a:t>
            </a:r>
          </a:p>
          <a:p/>
          <a:p>
            <a:r>
              <a:t>Geen foutmelding, keurig getal, volslagen onzin. Een stack is een STAND, geen</a:t>
            </a:r>
          </a:p>
          <a:p>
            <a:r>
              <a:t>stroom. Dat over 250 handen optellen is hetzelfde als de bevolking van Europa</a:t>
            </a:r>
          </a:p>
          <a:p>
            <a:r>
              <a:t>over alle twaalf gapminder-jaren optellen. Voor een stand wil je .last().</a:t>
            </a:r>
          </a:p>
        </p:txBody>
      </p:sp>
      <p:sp>
        <p:nvSpPr>
          <p:cNvPr id="4" name="Slide Number Placeholder 3"/>
          <p:cNvSpPr>
            <a:spLocks noGrp="1"/>
          </p:cNvSpPr>
          <p:nvPr>
            <p:ph type="sldNum"/>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[Opdracht] De opdracht is dit jaar niet gapminder maar hun eigen</a:t>
            </a:r>
          </a:p>
          <a:p>
            <a:r>
              <a:t>toernooi: 03_demo_college_toernooi.ipynb. Dezelfde acht bewerkingen, hun eigen data.</a:t>
            </a:r>
          </a:p>
          <a:p/>
          <a:p>
            <a:r>
              <a:t>Ze hebben hun token nodig. Wie dat kwijt is pakt toernooi_week3.json van</a:t>
            </a:r>
          </a:p>
          <a:p>
            <a:r>
              <a:t>Brightspace. Reken op vijf minuten opstarten - de eerste API-aanroep wekt de server.</a:t>
            </a:r>
          </a:p>
          <a:p/>
          <a:p>
            <a:r>
              <a:t>De drie TODO's onderaan zijn de kern: eindstand als tabel, fold% per bot, en</a:t>
            </a:r>
          </a:p>
          <a:p>
            <a:r>
              <a:t>.corr() tussen die twee. Uitwerkingen staan in 03_demo_college_uitwerkingen.ipynb.</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 Id="rId3"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 Id="rId4"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Deze week in twee werkcolleges</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Werkcollege 4 — de stapeling</a:t>
            </a:r>
          </a:p>
          <a:p>
            <a:pPr lvl="1">
              <a:defRPr sz="1400" b="0">
                <a:solidFill>
                  <a:srgbClr val="000000"/>
                </a:solidFill>
                <a:latin typeface="Arial"/>
              </a:defRPr>
            </a:pPr>
            <a:r>
              <a:t>standaardwaarde in een functie · dictionary als opzoektabel · filteren en groeperen</a:t>
            </a:r>
          </a:p>
          <a:p>
            <a:pPr lvl="1">
              <a:defRPr sz="1400" b="0">
                <a:solidFill>
                  <a:srgbClr val="000000"/>
                </a:solidFill>
                <a:latin typeface="Arial"/>
              </a:defRPr>
            </a:pPr>
            <a:r>
              <a:t>de spelregels: vier straten, dus je bot beslist vier keer per hand</a:t>
            </a:r>
          </a:p>
          <a:p>
            <a:pPr lvl="1">
              <a:defRPr sz="1400" b="0">
                <a:solidFill>
                  <a:srgbClr val="1B4D3E"/>
                </a:solidFill>
                <a:latin typeface="Arial"/>
              </a:defRPr>
            </a:pPr>
            <a:r>
              <a:t>handsterkte · winkans · pot odds — die laatste twee naast elkaar is een beslisregel</a:t>
            </a:r>
          </a:p>
          <a:p>
            <a:pPr>
              <a:spcBef>
                <a:spcPts val="1300"/>
              </a:spcBef>
              <a:defRPr sz="1700" b="1">
                <a:solidFill>
                  <a:srgbClr val="25167A"/>
                </a:solidFill>
                <a:latin typeface="Arial"/>
              </a:defRPr>
            </a:pPr>
            <a:r>
              <a:t>Werkcollege 5 — van bot naar data</a:t>
            </a:r>
          </a:p>
          <a:p>
            <a:pPr lvl="1">
              <a:defRPr sz="1400" b="0">
                <a:solidFill>
                  <a:srgbClr val="000000"/>
                </a:solidFill>
                <a:latin typeface="Arial"/>
              </a:defRPr>
            </a:pPr>
            <a:r>
              <a:t>live testen tegen een klasgenoot · v2 naast v1 · de spelregels in je eigen log</a:t>
            </a:r>
          </a:p>
          <a:p>
            <a:pPr lvl="1">
              <a:defRPr sz="1400" b="0">
                <a:solidFill>
                  <a:srgbClr val="000000"/>
                </a:solidFill>
                <a:latin typeface="Arial"/>
              </a:defRPr>
            </a:pPr>
            <a:r>
              <a:t>peer review · aftrap Case 2 · twee tabellen samenvoegen · van notebook naar Streamlit</a:t>
            </a:r>
          </a:p>
          <a:p>
            <a:pPr>
              <a:spcBef>
                <a:spcPts val="1300"/>
              </a:spcBef>
              <a:defRPr sz="1700" b="1">
                <a:solidFill>
                  <a:srgbClr val="000000"/>
                </a:solidFill>
                <a:latin typeface="Arial"/>
              </a:defRPr>
            </a:pPr>
            <a:r>
              <a:t>Het hoofdwerk zit in het huiswerk: reken op 4 tot 8 uur eigen botwerk.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36,6% op de flop — en 94,1% op de river, met de flush</a:t>
            </a:r>
          </a:p>
          <a:p>
            <a:pPr lvl="1">
              <a:defRPr sz="1400" b="0">
                <a:solidFill>
                  <a:srgbClr val="505A64"/>
                </a:solidFill>
                <a:latin typeface="Arial"/>
              </a:defRPr>
            </a:pPr>
            <a:r>
              <a:t>H7 C8, gemengde kleuren: 8,0% op de flop — en 0,0% op de river</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zonder je stack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de samenvatting verbergt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df["winst"].describe()</a:t>
            </a:r>
          </a:p>
          <a:p>
            <a:pPr lvl="1">
              <a:defRPr sz="1400" b="0">
                <a:solidFill>
                  <a:srgbClr val="000000"/>
                </a:solidFill>
                <a:latin typeface="Arial"/>
              </a:defRPr>
            </a:pPr>
            <a:r>
              <a:t>gemiddelde 0,0 · nulsom: wat de een wint, verliest de ander</a:t>
            </a:r>
          </a:p>
          <a:p>
            <a:pPr lvl="1">
              <a:defRPr sz="1400" b="0">
                <a:solidFill>
                  <a:srgbClr val="000000"/>
                </a:solidFill>
                <a:latin typeface="Arial"/>
              </a:defRPr>
            </a:pPr>
            <a:r>
              <a:t>mediaan 0,0 · in de meeste handen gebeurt er niets</a:t>
            </a:r>
          </a:p>
          <a:p>
            <a:pPr lvl="1">
              <a:defRPr sz="1400" b="0">
                <a:solidFill>
                  <a:srgbClr val="000000"/>
                </a:solidFill>
                <a:latin typeface="Arial"/>
              </a:defRPr>
            </a:pPr>
            <a:r>
              <a:t>standaarddeviatie 39</a:t>
            </a:r>
          </a:p>
          <a:p>
            <a:pPr lvl="1">
              <a:defRPr sz="1400" b="0">
                <a:solidFill>
                  <a:srgbClr val="000000"/>
                </a:solidFill>
                <a:latin typeface="Arial"/>
              </a:defRPr>
            </a:pPr>
            <a:r>
              <a:t>laagste -1030 · hoogste +1750 — iemand verloor zijn hele stack in één hand</a:t>
            </a:r>
          </a:p>
          <a:p>
            <a:pPr>
              <a:spcBef>
                <a:spcPts val="1300"/>
              </a:spcBef>
              <a:defRPr sz="1700" b="1">
                <a:solidFill>
                  <a:srgbClr val="25167A"/>
                </a:solidFill>
                <a:latin typeface="Arial"/>
              </a:defRPr>
            </a:pPr>
            <a:r>
              <a:t>Gemiddelde nul, mediaan nul. Maar in één hand ging er 1750 om.</a:t>
            </a:r>
          </a:p>
          <a:p>
            <a:pPr lvl="1">
              <a:defRPr sz="1400" b="0">
                <a:solidFill>
                  <a:srgbClr val="000000"/>
                </a:solidFill>
                <a:latin typeface="Arial"/>
              </a:defRPr>
            </a:pPr>
            <a:r>
              <a:t>Wat zeggen die drie getallen dan eigenlijk?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En dat zie je in het histogram</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df["winst"].hist(bins=40)</a:t>
            </a:r>
          </a:p>
          <a:p>
            <a:pPr lvl="1">
              <a:defRPr sz="1400" b="0">
                <a:solidFill>
                  <a:srgbClr val="000000"/>
                </a:solidFill>
                <a:latin typeface="Arial"/>
              </a:defRPr>
            </a:pPr>
            <a:r>
              <a:t>-200 en lager · 9 handen</a:t>
            </a:r>
          </a:p>
          <a:p>
            <a:pPr lvl="1">
              <a:defRPr sz="1400" b="0">
                <a:solidFill>
                  <a:srgbClr val="000000"/>
                </a:solidFill>
                <a:latin typeface="Arial"/>
              </a:defRPr>
            </a:pPr>
            <a:r>
              <a:t>-100 tot -20 · 53 handen</a:t>
            </a:r>
          </a:p>
          <a:p>
            <a:pPr lvl="1">
              <a:defRPr sz="1400" b="0">
                <a:solidFill>
                  <a:srgbClr val="000000"/>
                </a:solidFill>
                <a:latin typeface="Arial"/>
              </a:defRPr>
            </a:pPr>
            <a:r>
              <a:t>-20 tot -1 · 1488 handen</a:t>
            </a:r>
          </a:p>
          <a:p>
            <a:pPr lvl="1">
              <a:defRPr sz="1400" b="0">
                <a:solidFill>
                  <a:srgbClr val="000000"/>
                </a:solidFill>
                <a:latin typeface="Arial"/>
              </a:defRPr>
            </a:pPr>
            <a:r>
              <a:t>0 tot 20 · 4838 handen</a:t>
            </a:r>
          </a:p>
          <a:p>
            <a:pPr lvl="1">
              <a:defRPr sz="1400" b="0">
                <a:solidFill>
                  <a:srgbClr val="000000"/>
                </a:solidFill>
                <a:latin typeface="Arial"/>
              </a:defRPr>
            </a:pPr>
            <a:r>
              <a:t>20 tot 50 · 310 handen</a:t>
            </a:r>
          </a:p>
          <a:p>
            <a:pPr lvl="1">
              <a:defRPr sz="1400" b="0">
                <a:solidFill>
                  <a:srgbClr val="000000"/>
                </a:solidFill>
                <a:latin typeface="Arial"/>
              </a:defRPr>
            </a:pPr>
            <a:r>
              <a:t>200 en hoger · 7 handen</a:t>
            </a:r>
          </a:p>
          <a:p>
            <a:pPr>
              <a:spcBef>
                <a:spcPts val="1300"/>
              </a:spcBef>
              <a:defRPr sz="1700" b="1">
                <a:solidFill>
                  <a:srgbClr val="000000"/>
                </a:solidFill>
                <a:latin typeface="Arial"/>
              </a:defRPr>
            </a:pPr>
            <a:r>
              <a:t>Bijna alles zit in één bakje rond nul: weggelegd zonder in de blinds te zitten.</a:t>
            </a:r>
          </a:p>
          <a:p>
            <a:pPr lvl="1">
              <a:defRPr sz="1400" b="0">
                <a:solidFill>
                  <a:srgbClr val="000000"/>
                </a:solidFill>
                <a:latin typeface="Arial"/>
              </a:defRPr>
            </a:pPr>
            <a:r>
              <a:t>7 handen van de 6750 bepalen het hele beeld —</a:t>
            </a:r>
          </a:p>
          <a:p>
            <a:pPr lvl="1">
              <a:defRPr sz="1400" b="0">
                <a:solidFill>
                  <a:srgbClr val="505A64"/>
                </a:solidFill>
                <a:latin typeface="Arial"/>
              </a:defRPr>
            </a:pPr>
            <a:r>
              <a:t>en die zie je in geen enkel samenvattend getal terug</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Hetzelfde, getekend</a:t>
            </a:r>
          </a:p>
        </p:txBody>
      </p:sp>
      <p:sp>
        <p:nvSpPr>
          <p:cNvPr id="3" name="TextBox 2"/>
          <p:cNvSpPr txBox="1"/>
          <p:nvPr/>
        </p:nvSpPr>
        <p:spPr>
          <a:xfrm>
            <a:off x="1984248" y="2084831"/>
            <a:ext cx="8778240" cy="4041648"/>
          </a:xfrm>
          <a:prstGeom prst="rect">
            <a:avLst/>
          </a:prstGeom>
          <a:noFill/>
        </p:spPr>
        <p:txBody>
          <a:bodyPr wrap="square">
            <a:spAutoFit/>
          </a:bodyPr>
          <a:lstStyle/>
          <a:p/>
        </p:txBody>
      </p:sp>
      <p:pic>
        <p:nvPicPr>
          <p:cNvPr id="4" name="Picture 3" descr="winst_histogram.png"/>
          <p:cNvPicPr>
            <a:picLocks noChangeAspect="1"/>
          </p:cNvPicPr>
          <p:nvPr/>
        </p:nvPicPr>
        <p:blipFill>
          <a:blip r:embed="rId2"/>
          <a:stretch>
            <a:fillRect/>
          </a:stretch>
        </p:blipFill>
        <p:spPr>
          <a:xfrm>
            <a:off x="2441448" y="1920240"/>
            <a:ext cx="7863840" cy="3677489"/>
          </a:xfrm>
          <a:prstGeom prst="rect">
            <a:avLst/>
          </a:prstGeom>
        </p:spPr>
      </p:pic>
      <p:sp>
        <p:nvSpPr>
          <p:cNvPr id="5" name="TextBox 4"/>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Categorisch, dan bivariaat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az = df[df["aan_zet"]]</a:t>
            </a:r>
          </a:p>
          <a:p>
            <a:pPr>
              <a:spcBef>
                <a:spcPts val="1300"/>
              </a:spcBef>
              <a:defRPr sz="1700" b="1">
                <a:solidFill>
                  <a:srgbClr val="1B4D3E"/>
                </a:solidFill>
                <a:latin typeface="Arial"/>
              </a:defRPr>
            </a:pPr>
            <a:r>
              <a:t>az["actie"].value_counts(normalize=True)</a:t>
            </a:r>
          </a:p>
          <a:p>
            <a:pPr lvl="1">
              <a:defRPr sz="1400" b="0">
                <a:solidFill>
                  <a:srgbClr val="000000"/>
                </a:solidFill>
                <a:latin typeface="Arial"/>
              </a:defRPr>
            </a:pPr>
            <a:r>
              <a:t>fold · 92,2% van alle beslissingen · gemiddeld -3 chips, mediaan 0</a:t>
            </a:r>
          </a:p>
          <a:p>
            <a:pPr lvl="1">
              <a:defRPr sz="1400" b="0">
                <a:solidFill>
                  <a:srgbClr val="1B4D3E"/>
                </a:solidFill>
                <a:latin typeface="Arial"/>
              </a:defRPr>
            </a:pPr>
            <a:r>
              <a:t>call · 5,9% van alle beslissingen · gemiddeld +10 chips, mediaan +30</a:t>
            </a:r>
          </a:p>
          <a:p>
            <a:pPr lvl="1">
              <a:defRPr sz="1400" b="0">
                <a:solidFill>
                  <a:srgbClr val="1B4D3E"/>
                </a:solidFill>
                <a:latin typeface="Arial"/>
              </a:defRPr>
            </a:pPr>
            <a:r>
              <a:t>raise · 1,3% van alle beslissingen · gemiddeld +65 chips, mediaan +30</a:t>
            </a:r>
          </a:p>
          <a:p>
            <a:pPr lvl="1">
              <a:defRPr sz="1400" b="0">
                <a:solidFill>
                  <a:srgbClr val="1B4D3E"/>
                </a:solidFill>
                <a:latin typeface="Arial"/>
              </a:defRPr>
            </a:pPr>
            <a:r>
              <a:t>grote_raise · 0,6% van alle beslissingen · gemiddeld +19 chips, mediaan +30</a:t>
            </a:r>
          </a:p>
          <a:p>
            <a:pPr>
              <a:spcBef>
                <a:spcPts val="1300"/>
              </a:spcBef>
              <a:defRPr sz="1700" b="1">
                <a:solidFill>
                  <a:srgbClr val="25167A"/>
                </a:solidFill>
                <a:latin typeface="Arial"/>
              </a:defRPr>
            </a:pPr>
            <a:r>
              <a:t>De klas foldt 92,2% van alles. En elke andere actie levert gemiddeld géld op.</a:t>
            </a:r>
          </a:p>
          <a:p>
            <a:pPr lvl="1">
              <a:defRPr sz="1400" b="0">
                <a:solidFill>
                  <a:srgbClr val="505A64"/>
                </a:solidFill>
                <a:latin typeface="Arial"/>
              </a:defRPr>
            </a:pPr>
            <a:r>
              <a:t>Let op aan_zet: zonder dat filter tel je handen mee waarin de bot nooit iets koos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bot die niet nadenkt wint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df.groupby("bot_naam")["stack"].last()</a:t>
            </a:r>
          </a:p>
          <a:p>
            <a:pPr lvl="1">
              <a:defRPr sz="1400" b="0">
                <a:solidFill>
                  <a:srgbClr val="1B4D3E"/>
                </a:solidFill>
                <a:latin typeface="Arial"/>
              </a:defRPr>
            </a:pPr>
            <a:r>
              <a:t>1.  Testbot_CalltAlles · 1748 chips · foldt 0%</a:t>
            </a:r>
          </a:p>
          <a:p>
            <a:pPr lvl="1">
              <a:defRPr sz="1400" b="0">
                <a:solidFill>
                  <a:srgbClr val="000000"/>
                </a:solidFill>
                <a:latin typeface="Arial"/>
              </a:defRPr>
            </a:pPr>
            <a:r>
              <a:t>2.  501011284 · 1738 chips · foldt 82,5%</a:t>
            </a:r>
          </a:p>
          <a:p>
            <a:pPr lvl="1">
              <a:defRPr sz="1400" b="0">
                <a:solidFill>
                  <a:srgbClr val="000000"/>
                </a:solidFill>
                <a:latin typeface="Arial"/>
              </a:defRPr>
            </a:pPr>
            <a:r>
              <a:t>3.  500959250 · 1256 chips · foldt 58,7%</a:t>
            </a:r>
          </a:p>
          <a:p>
            <a:pPr lvl="1">
              <a:defRPr sz="1400" b="0">
                <a:solidFill>
                  <a:srgbClr val="000000"/>
                </a:solidFill>
                <a:latin typeface="Arial"/>
              </a:defRPr>
            </a:pPr>
            <a:r>
              <a:t>4.  500851324 · 1202 chips · foldt 96,3%</a:t>
            </a:r>
          </a:p>
          <a:p>
            <a:pPr>
              <a:spcBef>
                <a:spcPts val="1300"/>
              </a:spcBef>
              <a:defRPr sz="1700" b="1">
                <a:solidFill>
                  <a:srgbClr val="000000"/>
                </a:solidFill>
                <a:latin typeface="Arial"/>
              </a:defRPr>
            </a:pPr>
            <a:r>
              <a:t>Kijkt niet naar zijn kaarten, rekent geen winkans uit, kent geen pot odds.</a:t>
            </a:r>
          </a:p>
          <a:p>
            <a:pPr lvl="1">
              <a:defRPr sz="1400" b="0">
                <a:solidFill>
                  <a:srgbClr val="000000"/>
                </a:solidFill>
                <a:latin typeface="Arial"/>
              </a:defRPr>
            </a:pPr>
            <a:r>
              <a:t>Hij wint van 26 bots waar uren aan is gewerkt, met 10 chips voorsprong</a:t>
            </a:r>
          </a:p>
          <a:p>
            <a:pPr lvl="1">
              <a:defRPr sz="1400" b="0">
                <a:solidFill>
                  <a:srgbClr val="000000"/>
                </a:solidFill>
                <a:latin typeface="Arial"/>
              </a:defRPr>
            </a:pPr>
            <a:r>
              <a:t>En die ene die bijna won foldt 82,5%, niet 99%</a:t>
            </a:r>
          </a:p>
          <a:p>
            <a:pPr>
              <a:spcBef>
                <a:spcPts val="1300"/>
              </a:spcBef>
              <a:defRPr sz="1700" b="1">
                <a:solidFill>
                  <a:srgbClr val="25167A"/>
                </a:solidFill>
                <a:latin typeface="Arial"/>
              </a:defRPr>
            </a:pPr>
            <a:r>
              <a:t>Correlatie fold% met eindstand: -0,69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Groepscase 2 — wat je oplevert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Een Streamlit-dashboard over een onderwerp dat je zelf kiest.</a:t>
            </a:r>
          </a:p>
          <a:p>
            <a:pPr lvl="1">
              <a:defRPr sz="1400" b="0">
                <a:solidFill>
                  <a:srgbClr val="000000"/>
                </a:solidFill>
                <a:latin typeface="Arial"/>
              </a:defRPr>
            </a:pPr>
            <a:r>
              <a:t>Gepubliceerd via GitHub op share.streamlit.io, te openen met een link</a:t>
            </a:r>
          </a:p>
          <a:p>
            <a:pPr lvl="1">
              <a:defRPr sz="1400" b="0">
                <a:solidFill>
                  <a:srgbClr val="000000"/>
                </a:solidFill>
                <a:latin typeface="Arial"/>
              </a:defRPr>
            </a:pPr>
            <a:r>
              <a:t>De app haalt de data zelf op bij een openbare API — niet met de hand gedownload</a:t>
            </a:r>
          </a:p>
          <a:p>
            <a:pPr lvl="1">
              <a:defRPr sz="1400" b="0">
                <a:solidFill>
                  <a:srgbClr val="1B4D3E"/>
                </a:solidFill>
                <a:latin typeface="Arial"/>
              </a:defRPr>
            </a:pPr>
            <a:r>
              <a:t>Minimaal één join: twee bronnen die je tot één tabel samenvoegt</a:t>
            </a:r>
          </a:p>
          <a:p>
            <a:pPr>
              <a:spcBef>
                <a:spcPts val="1300"/>
              </a:spcBef>
              <a:defRPr sz="1700" b="1">
                <a:solidFill>
                  <a:srgbClr val="000000"/>
                </a:solidFill>
                <a:latin typeface="Arial"/>
              </a:defRPr>
            </a:pPr>
            <a:r>
              <a:t>Loopt over week 3 en week 4. Dat is kort.</a:t>
            </a:r>
          </a:p>
          <a:p>
            <a:pPr lvl="1">
              <a:defRPr sz="1400" b="0">
                <a:solidFill>
                  <a:srgbClr val="000000"/>
                </a:solidFill>
                <a:latin typeface="Arial"/>
              </a:defRPr>
            </a:pPr>
            <a:r>
              <a:t>Donderdag 18:00 staat je onderwerp vast: welke vraag, welke twee bronnen,</a:t>
            </a:r>
          </a:p>
          <a:p>
            <a:pPr lvl="1">
              <a:defRPr sz="1400" b="0">
                <a:solidFill>
                  <a:srgbClr val="000000"/>
                </a:solidFill>
                <a:latin typeface="Arial"/>
              </a:defRPr>
            </a:pPr>
            <a:r>
              <a:t>op welke kolom die aan elkaar passen, en wie in de groep wat doet</a:t>
            </a:r>
          </a:p>
          <a:p>
            <a:pPr>
              <a:spcBef>
                <a:spcPts val="1300"/>
              </a:spcBef>
              <a:defRPr sz="1700" b="1">
                <a:solidFill>
                  <a:srgbClr val="25167A"/>
                </a:solidFill>
                <a:latin typeface="Arial"/>
              </a:defRPr>
            </a:pPr>
            <a:r>
              <a:t>Zoek nu al op of die twee bronnen écht een gemeenschappelijke kolom hebben.</a:t>
            </a:r>
          </a:p>
          <a:p>
            <a:pPr lvl="1">
              <a:defRPr sz="1400" b="0">
                <a:solidFill>
                  <a:srgbClr val="505A64"/>
                </a:solidFill>
                <a:latin typeface="Arial"/>
              </a:defRPr>
            </a:pPr>
            <a:r>
              <a:t>"Den Haag" en "'s-Gravenhage" passen niet op elkaar zonder 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je cijfer vandaan komt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Drie criteria voor IDS — de data-kant</a:t>
            </a:r>
          </a:p>
          <a:p>
            <a:pPr lvl="1">
              <a:defRPr sz="1400" b="0">
                <a:solidFill>
                  <a:srgbClr val="000000"/>
                </a:solidFill>
                <a:latin typeface="Arial"/>
              </a:defRPr>
            </a:pPr>
            <a:r>
              <a:t>Data verzameling · twee bronnen, plus de sleutel en de rijen vóór en ná de join</a:t>
            </a:r>
          </a:p>
          <a:p>
            <a:pPr lvl="1">
              <a:defRPr sz="1400" b="0">
                <a:solidFill>
                  <a:srgbClr val="000000"/>
                </a:solidFill>
                <a:latin typeface="Arial"/>
              </a:defRPr>
            </a:pPr>
            <a:r>
              <a:t>Data verkenning · lege waarden, bereik, dubbele rijen — en wat je ermee deed</a:t>
            </a:r>
          </a:p>
          <a:p>
            <a:pPr lvl="1">
              <a:defRPr sz="1400" b="0">
                <a:solidFill>
                  <a:srgbClr val="000000"/>
                </a:solidFill>
                <a:latin typeface="Arial"/>
              </a:defRPr>
            </a:pPr>
            <a:r>
              <a:t>Analyse · een conclusie die de data draagt, niet meer dan dat</a:t>
            </a:r>
          </a:p>
          <a:p>
            <a:pPr>
              <a:spcBef>
                <a:spcPts val="1300"/>
              </a:spcBef>
              <a:defRPr sz="1700" b="1">
                <a:solidFill>
                  <a:srgbClr val="25167A"/>
                </a:solidFill>
                <a:latin typeface="Arial"/>
              </a:defRPr>
            </a:pPr>
            <a:r>
              <a:t>Vier criteria voor VA — de verhaalkant</a:t>
            </a:r>
          </a:p>
          <a:p>
            <a:pPr lvl="1">
              <a:defRPr sz="1400" b="0">
                <a:solidFill>
                  <a:srgbClr val="000000"/>
                </a:solidFill>
                <a:latin typeface="Arial"/>
              </a:defRPr>
            </a:pPr>
            <a:r>
              <a:t>Opbouw en verhaallijn · Interactiviteit · Dashboardontwerp</a:t>
            </a:r>
          </a:p>
          <a:p>
            <a:pPr lvl="1">
              <a:defRPr sz="1400" b="0">
                <a:solidFill>
                  <a:srgbClr val="000000"/>
                </a:solidFill>
                <a:latin typeface="Arial"/>
              </a:defRPr>
            </a:pPr>
            <a:r>
              <a:t>Vergelijken en annoteren · het verschil, het opgetelde verloop, of de waarde</a:t>
            </a:r>
          </a:p>
          <a:p>
            <a:pPr lvl="1">
              <a:defRPr sz="1400" b="0">
                <a:solidFill>
                  <a:srgbClr val="1B4D3E"/>
                </a:solidFill>
                <a:latin typeface="Arial"/>
              </a:defRPr>
            </a:pPr>
            <a:r>
              <a:t>ten opzichte van het moment ervoor — diff, cumsum, shift</a:t>
            </a:r>
          </a:p>
          <a:p>
            <a:pPr>
              <a:spcBef>
                <a:spcPts val="1300"/>
              </a:spcBef>
              <a:defRPr sz="1700" b="1">
                <a:solidFill>
                  <a:srgbClr val="000000"/>
                </a:solidFill>
                <a:latin typeface="Arial"/>
              </a:defRPr>
            </a:pPr>
            <a:r>
              <a:t>Vijf niveaus, van Ontbreekt (1) tot Uitstekend (9).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Vijf voorwaarden — die gaan van je cijfer af</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Dit zijn geen criteria maar drempels. Beide cijfers, IDS en VA.</a:t>
            </a:r>
          </a:p>
          <a:p>
            <a:pPr lvl="1">
              <a:defRPr sz="1400" b="0">
                <a:solidFill>
                  <a:srgbClr val="000000"/>
                </a:solidFill>
                <a:latin typeface="Arial"/>
              </a:defRPr>
            </a:pPr>
            <a:r>
              <a:t>App niet online, of een schone clone draait niet zonder handwerk</a:t>
            </a:r>
          </a:p>
          <a:p>
            <a:pPr lvl="1">
              <a:defRPr sz="1400" b="0">
                <a:solidFill>
                  <a:srgbClr val="25167A"/>
                </a:solidFill>
                <a:latin typeface="Arial"/>
              </a:defRPr>
            </a:pPr>
            <a:r>
              <a:t>     -1,0</a:t>
            </a:r>
          </a:p>
          <a:p>
            <a:pPr lvl="1">
              <a:defRPr sz="1400" b="0">
                <a:solidFill>
                  <a:srgbClr val="000000"/>
                </a:solidFill>
                <a:latin typeface="Arial"/>
              </a:defRPr>
            </a:pPr>
            <a:r>
              <a:t>Presentatie langer dan 10 minuten, exclusief vragen</a:t>
            </a:r>
          </a:p>
          <a:p>
            <a:pPr lvl="1">
              <a:defRPr sz="1400" b="0">
                <a:solidFill>
                  <a:srgbClr val="25167A"/>
                </a:solidFill>
                <a:latin typeface="Arial"/>
              </a:defRPr>
            </a:pPr>
            <a:r>
              <a:t>     -1,0</a:t>
            </a:r>
          </a:p>
          <a:p>
            <a:pPr lvl="1">
              <a:defRPr sz="1400" b="0">
                <a:solidFill>
                  <a:srgbClr val="000000"/>
                </a:solidFill>
                <a:latin typeface="Arial"/>
              </a:defRPr>
            </a:pPr>
            <a:r>
              <a:t>Geen slider, checkbox én dropdown, elk gekoppeld aan een tabel of grafiek</a:t>
            </a:r>
          </a:p>
          <a:p>
            <a:pPr lvl="1">
              <a:defRPr sz="1400" b="0">
                <a:solidFill>
                  <a:srgbClr val="25167A"/>
                </a:solidFill>
                <a:latin typeface="Arial"/>
              </a:defRPr>
            </a:pPr>
            <a:r>
              <a:t>     -0,5</a:t>
            </a:r>
          </a:p>
          <a:p>
            <a:pPr>
              <a:spcBef>
                <a:spcPts val="1300"/>
              </a:spcBef>
              <a:defRPr sz="1700" b="1">
                <a:solidFill>
                  <a:srgbClr val="000000"/>
                </a:solidFill>
                <a:latin typeface="Arial"/>
              </a:defRPr>
            </a:pPr>
            <a:r>
              <a:t>En twee zonder aftrek, maar niet vrijblijvend:</a:t>
            </a:r>
          </a:p>
          <a:p>
            <a:pPr lvl="1">
              <a:defRPr sz="1400" b="0">
                <a:solidFill>
                  <a:srgbClr val="505A64"/>
                </a:solidFill>
                <a:latin typeface="Arial"/>
              </a:defRPr>
            </a:pPr>
            <a:r>
              <a:t>Onderwerp op tijd gemeld · code van anderen met bron erbij, en uit te leggen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Dat heb je vanmiddag al gedaan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De demo van zojuist was Case 2 in het klein:</a:t>
            </a:r>
          </a:p>
          <a:p>
            <a:pPr lvl="1">
              <a:defRPr sz="1400" b="0">
                <a:solidFill>
                  <a:srgbClr val="1B4D3E"/>
                </a:solidFill>
                <a:latin typeface="Arial"/>
              </a:defRPr>
            </a:pPr>
            <a:r>
              <a:t>twee tabellen op bot_naam samengevoegd, rijen geteld vóór en ná</a:t>
            </a:r>
          </a:p>
          <a:p>
            <a:pPr lvl="1">
              <a:defRPr sz="1400" b="0">
                <a:solidFill>
                  <a:srgbClr val="000000"/>
                </a:solidFill>
                <a:latin typeface="Arial"/>
              </a:defRPr>
            </a:pPr>
            <a:r>
              <a:t>     → criterium Data verzameling</a:t>
            </a:r>
          </a:p>
          <a:p>
            <a:pPr lvl="1">
              <a:defRPr sz="1400" b="0">
                <a:solidFill>
                  <a:srgbClr val="1B4D3E"/>
                </a:solidFill>
                <a:latin typeface="Arial"/>
              </a:defRPr>
            </a:pPr>
            <a:r>
              <a:t>928 lege waarden gevonden, en gezien wat ze met je percentage deden</a:t>
            </a:r>
          </a:p>
          <a:p>
            <a:pPr lvl="1">
              <a:defRPr sz="1400" b="0">
                <a:solidFill>
                  <a:srgbClr val="000000"/>
                </a:solidFill>
                <a:latin typeface="Arial"/>
              </a:defRPr>
            </a:pPr>
            <a:r>
              <a:t>     → criterium Data verkenning</a:t>
            </a:r>
          </a:p>
          <a:p>
            <a:pPr lvl="1">
              <a:defRPr sz="1400" b="0">
                <a:solidFill>
                  <a:srgbClr val="1B4D3E"/>
                </a:solidFill>
                <a:latin typeface="Arial"/>
              </a:defRPr>
            </a:pPr>
            <a:r>
              <a:t>diff en cumsum over het verloop van een stack</a:t>
            </a:r>
          </a:p>
          <a:p>
            <a:pPr lvl="1">
              <a:defRPr sz="1400" b="0">
                <a:solidFill>
                  <a:srgbClr val="000000"/>
                </a:solidFill>
                <a:latin typeface="Arial"/>
              </a:defRPr>
            </a:pPr>
            <a:r>
              <a:t>     → criterium Vergelijken en annoteren</a:t>
            </a:r>
          </a:p>
          <a:p>
            <a:pPr>
              <a:spcBef>
                <a:spcPts val="1300"/>
              </a:spcBef>
              <a:defRPr sz="1700" b="1">
                <a:solidFill>
                  <a:srgbClr val="000000"/>
                </a:solidFill>
                <a:latin typeface="Arial"/>
              </a:defRPr>
            </a:pPr>
            <a:r>
              <a:t>Het verschil met de case: daar kiest niemand de dataset voor je,</a:t>
            </a:r>
          </a:p>
          <a:p>
            <a:pPr lvl="1">
              <a:defRPr sz="1400" b="0">
                <a:solidFill>
                  <a:srgbClr val="505A64"/>
                </a:solidFill>
                <a:latin typeface="Arial"/>
              </a:defRPr>
            </a:pPr>
            <a:r>
              <a:t>en staat er geen kolom aan_zet klaar om je fout te laten zien.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