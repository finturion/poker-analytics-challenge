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 id="905" r:id="rId38"/>
    <p:sldId id="906" r:id="rId39"/>
    <p:sldId id="907" r:id="rId40"/>
    <p:sldId id="908" r:id="rId41"/>
    <p:sldId id="909" r:id="rId42"/>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36,6% op de flop — en 94,1% op de river, met de flush</a:t>
            </a:r>
          </a:p>
          <a:p>
            <a:pPr lvl="1">
              <a:defRPr sz="1400" b="0">
                <a:solidFill>
                  <a:srgbClr val="505A64"/>
                </a:solidFill>
                <a:latin typeface="Arial"/>
              </a:defRPr>
            </a:pPr>
            <a:r>
              <a:t>H7 C8, gemengde kleuren: 8,0% op de flop — en 0,0% op de river</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zonder je stack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bot die niet nadenkt werd eerste</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Toernooi week 3, 27 bots. De uitslag bovenaan:</a:t>
            </a:r>
          </a:p>
          <a:p>
            <a:pPr lvl="1">
              <a:defRPr sz="1400" b="0">
                <a:solidFill>
                  <a:srgbClr val="1B4D3E"/>
                </a:solidFill>
                <a:latin typeface="Arial"/>
              </a:defRPr>
            </a:pPr>
            <a:r>
              <a:t>1.  Testbot_CalltAlles — 1748 chips, foldt 0,0%</a:t>
            </a:r>
          </a:p>
          <a:p>
            <a:pPr lvl="1">
              <a:defRPr sz="1400" b="0">
                <a:solidFill>
                  <a:srgbClr val="000000"/>
                </a:solidFill>
                <a:latin typeface="Arial"/>
              </a:defRPr>
            </a:pPr>
            <a:r>
              <a:t>2.  een van jullie — 1738 chips, foldt 82,5%</a:t>
            </a:r>
          </a:p>
          <a:p>
            <a:pPr lvl="1">
              <a:defRPr sz="1400" b="0">
                <a:solidFill>
                  <a:srgbClr val="000000"/>
                </a:solidFill>
                <a:latin typeface="Arial"/>
              </a:defRPr>
            </a:pPr>
            <a:r>
              <a:t>3.  een van jullie — 1256 chips, foldt 58,7%</a:t>
            </a:r>
          </a:p>
          <a:p>
            <a:pPr>
              <a:spcBef>
                <a:spcPts val="1300"/>
              </a:spcBef>
              <a:defRPr sz="1700" b="1">
                <a:solidFill>
                  <a:srgbClr val="000000"/>
                </a:solidFill>
                <a:latin typeface="Arial"/>
              </a:defRPr>
            </a:pPr>
            <a:r>
              <a:t>Die eerste is één regel: geef altijd "call" terug, wat je ook hebt.</a:t>
            </a:r>
          </a:p>
          <a:p>
            <a:pPr lvl="1">
              <a:defRPr sz="1400" b="0">
                <a:solidFill>
                  <a:srgbClr val="000000"/>
                </a:solidFill>
                <a:latin typeface="Arial"/>
              </a:defRPr>
            </a:pPr>
            <a:r>
              <a:t>Geen winkans, geen pot odds, kijkt niet eens naar zijn kaarten</a:t>
            </a:r>
          </a:p>
          <a:p>
            <a:pPr lvl="1">
              <a:defRPr sz="1400" b="0">
                <a:solidFill>
                  <a:srgbClr val="000000"/>
                </a:solidFill>
                <a:latin typeface="Arial"/>
              </a:defRPr>
            </a:pPr>
            <a:r>
              <a:t>De klas foldde 92,2% van alle beslissingen; negen bots foldden 99% of meer</a:t>
            </a:r>
          </a:p>
          <a:p>
            <a:pPr lvl="1">
              <a:defRPr sz="1400" b="0">
                <a:solidFill>
                  <a:srgbClr val="505A64"/>
                </a:solidFill>
                <a:latin typeface="Arial"/>
              </a:defRPr>
            </a:pPr>
            <a:r>
              <a:t>Correlatie tussen fold% en eindstand: -0,69 — meer folden is minder eindigen</a:t>
            </a:r>
          </a:p>
          <a:p>
            <a:pPr>
              <a:spcBef>
                <a:spcPts val="1300"/>
              </a:spcBef>
              <a:defRPr sz="1700" b="1">
                <a:solidFill>
                  <a:srgbClr val="25167A"/>
                </a:solidFill>
                <a:latin typeface="Arial"/>
              </a:defRPr>
            </a:pPr>
            <a:r>
              <a:t>Waarom verliest een bot mét regels van een bot zonder regels?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Groepscase 2 — wat je oplevert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Een Streamlit-dashboard over een onderwerp dat je zelf kiest.</a:t>
            </a:r>
          </a:p>
          <a:p>
            <a:pPr lvl="1">
              <a:defRPr sz="1400" b="0">
                <a:solidFill>
                  <a:srgbClr val="000000"/>
                </a:solidFill>
                <a:latin typeface="Arial"/>
              </a:defRPr>
            </a:pPr>
            <a:r>
              <a:t>Gepubliceerd via GitHub op share.streamlit.io, te openen met een link</a:t>
            </a:r>
          </a:p>
          <a:p>
            <a:pPr lvl="1">
              <a:defRPr sz="1400" b="0">
                <a:solidFill>
                  <a:srgbClr val="000000"/>
                </a:solidFill>
                <a:latin typeface="Arial"/>
              </a:defRPr>
            </a:pPr>
            <a:r>
              <a:t>De app haalt de data zelf op bij een openbare API — niet met de hand gedownload</a:t>
            </a:r>
          </a:p>
          <a:p>
            <a:pPr lvl="1">
              <a:defRPr sz="1400" b="0">
                <a:solidFill>
                  <a:srgbClr val="1B4D3E"/>
                </a:solidFill>
                <a:latin typeface="Arial"/>
              </a:defRPr>
            </a:pPr>
            <a:r>
              <a:t>Minimaal één join: twee bronnen die je tot één tabel samenvoegt</a:t>
            </a:r>
          </a:p>
          <a:p>
            <a:pPr>
              <a:spcBef>
                <a:spcPts val="1300"/>
              </a:spcBef>
              <a:defRPr sz="1700" b="1">
                <a:solidFill>
                  <a:srgbClr val="000000"/>
                </a:solidFill>
                <a:latin typeface="Arial"/>
              </a:defRPr>
            </a:pPr>
            <a:r>
              <a:t>Loopt over week 3 en week 4. Dat is kort.</a:t>
            </a:r>
          </a:p>
          <a:p>
            <a:pPr lvl="1">
              <a:defRPr sz="1400" b="0">
                <a:solidFill>
                  <a:srgbClr val="000000"/>
                </a:solidFill>
                <a:latin typeface="Arial"/>
              </a:defRPr>
            </a:pPr>
            <a:r>
              <a:t>Donderdag 18:00 staat je onderwerp vast: welke vraag, welke twee bronnen,</a:t>
            </a:r>
          </a:p>
          <a:p>
            <a:pPr lvl="1">
              <a:defRPr sz="1400" b="0">
                <a:solidFill>
                  <a:srgbClr val="000000"/>
                </a:solidFill>
                <a:latin typeface="Arial"/>
              </a:defRPr>
            </a:pPr>
            <a:r>
              <a:t>op welke kolom die aan elkaar passen, en wie in de groep wat doet</a:t>
            </a:r>
          </a:p>
          <a:p>
            <a:pPr>
              <a:spcBef>
                <a:spcPts val="1300"/>
              </a:spcBef>
              <a:defRPr sz="1700" b="1">
                <a:solidFill>
                  <a:srgbClr val="25167A"/>
                </a:solidFill>
                <a:latin typeface="Arial"/>
              </a:defRPr>
            </a:pPr>
            <a:r>
              <a:t>Zoek nu al op of die twee bronnen écht een gemeenschappelijke kolom hebben.</a:t>
            </a:r>
          </a:p>
          <a:p>
            <a:pPr lvl="1">
              <a:defRPr sz="1400" b="0">
                <a:solidFill>
                  <a:srgbClr val="505A64"/>
                </a:solidFill>
                <a:latin typeface="Arial"/>
              </a:defRPr>
            </a:pPr>
            <a:r>
              <a:t>"Den Haag" en "'s-Gravenhage" passen niet op elkaar zonder 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je cijfer vandaan komt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Drie criteria voor IDS — de data-kant</a:t>
            </a:r>
          </a:p>
          <a:p>
            <a:pPr lvl="1">
              <a:defRPr sz="1400" b="0">
                <a:solidFill>
                  <a:srgbClr val="000000"/>
                </a:solidFill>
                <a:latin typeface="Arial"/>
              </a:defRPr>
            </a:pPr>
            <a:r>
              <a:t>Data verzameling · twee bronnen, plus de sleutel en de rijen vóór en ná de join</a:t>
            </a:r>
          </a:p>
          <a:p>
            <a:pPr lvl="1">
              <a:defRPr sz="1400" b="0">
                <a:solidFill>
                  <a:srgbClr val="000000"/>
                </a:solidFill>
                <a:latin typeface="Arial"/>
              </a:defRPr>
            </a:pPr>
            <a:r>
              <a:t>Data verkenning · lege waarden, bereik, dubbele rijen — en wat je ermee deed</a:t>
            </a:r>
          </a:p>
          <a:p>
            <a:pPr lvl="1">
              <a:defRPr sz="1400" b="0">
                <a:solidFill>
                  <a:srgbClr val="000000"/>
                </a:solidFill>
                <a:latin typeface="Arial"/>
              </a:defRPr>
            </a:pPr>
            <a:r>
              <a:t>Analyse · een conclusie die de data draagt, niet meer dan dat</a:t>
            </a:r>
          </a:p>
          <a:p>
            <a:pPr>
              <a:spcBef>
                <a:spcPts val="1300"/>
              </a:spcBef>
              <a:defRPr sz="1700" b="1">
                <a:solidFill>
                  <a:srgbClr val="25167A"/>
                </a:solidFill>
                <a:latin typeface="Arial"/>
              </a:defRPr>
            </a:pPr>
            <a:r>
              <a:t>Vier criteria voor VA — de verhaalkant</a:t>
            </a:r>
          </a:p>
          <a:p>
            <a:pPr lvl="1">
              <a:defRPr sz="1400" b="0">
                <a:solidFill>
                  <a:srgbClr val="000000"/>
                </a:solidFill>
                <a:latin typeface="Arial"/>
              </a:defRPr>
            </a:pPr>
            <a:r>
              <a:t>Opbouw en verhaallijn · Interactiviteit · Dashboardontwerp</a:t>
            </a:r>
          </a:p>
          <a:p>
            <a:pPr lvl="1">
              <a:defRPr sz="1400" b="0">
                <a:solidFill>
                  <a:srgbClr val="000000"/>
                </a:solidFill>
                <a:latin typeface="Arial"/>
              </a:defRPr>
            </a:pPr>
            <a:r>
              <a:t>Vergelijken en annoteren · het verschil, het opgetelde verloop, of de waarde</a:t>
            </a:r>
          </a:p>
          <a:p>
            <a:pPr lvl="1">
              <a:defRPr sz="1400" b="0">
                <a:solidFill>
                  <a:srgbClr val="1B4D3E"/>
                </a:solidFill>
                <a:latin typeface="Arial"/>
              </a:defRPr>
            </a:pPr>
            <a:r>
              <a:t>ten opzichte van het moment ervoor — diff, cumsum, shift</a:t>
            </a:r>
          </a:p>
          <a:p>
            <a:pPr>
              <a:spcBef>
                <a:spcPts val="1300"/>
              </a:spcBef>
              <a:defRPr sz="1700" b="1">
                <a:solidFill>
                  <a:srgbClr val="000000"/>
                </a:solidFill>
                <a:latin typeface="Arial"/>
              </a:defRPr>
            </a:pPr>
            <a:r>
              <a:t>Vijf niveaus, van Ontbreekt (1) tot Uitstekend (9).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Vijf voorwaarden — die gaan van je cijfer af</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Dit zijn geen criteria maar drempels. Beide cijfers, IDS en VA.</a:t>
            </a:r>
          </a:p>
          <a:p>
            <a:pPr lvl="1">
              <a:defRPr sz="1400" b="0">
                <a:solidFill>
                  <a:srgbClr val="000000"/>
                </a:solidFill>
                <a:latin typeface="Arial"/>
              </a:defRPr>
            </a:pPr>
            <a:r>
              <a:t>App niet online, of een schone clone draait niet zonder handwerk</a:t>
            </a:r>
          </a:p>
          <a:p>
            <a:pPr lvl="1">
              <a:defRPr sz="1400" b="0">
                <a:solidFill>
                  <a:srgbClr val="25167A"/>
                </a:solidFill>
                <a:latin typeface="Arial"/>
              </a:defRPr>
            </a:pPr>
            <a:r>
              <a:t>     -1,0</a:t>
            </a:r>
          </a:p>
          <a:p>
            <a:pPr lvl="1">
              <a:defRPr sz="1400" b="0">
                <a:solidFill>
                  <a:srgbClr val="000000"/>
                </a:solidFill>
                <a:latin typeface="Arial"/>
              </a:defRPr>
            </a:pPr>
            <a:r>
              <a:t>Presentatie langer dan 10 minuten, exclusief vragen</a:t>
            </a:r>
          </a:p>
          <a:p>
            <a:pPr lvl="1">
              <a:defRPr sz="1400" b="0">
                <a:solidFill>
                  <a:srgbClr val="25167A"/>
                </a:solidFill>
                <a:latin typeface="Arial"/>
              </a:defRPr>
            </a:pPr>
            <a:r>
              <a:t>     -1,0</a:t>
            </a:r>
          </a:p>
          <a:p>
            <a:pPr lvl="1">
              <a:defRPr sz="1400" b="0">
                <a:solidFill>
                  <a:srgbClr val="000000"/>
                </a:solidFill>
                <a:latin typeface="Arial"/>
              </a:defRPr>
            </a:pPr>
            <a:r>
              <a:t>Geen slider, checkbox én dropdown, elk gekoppeld aan een tabel of grafiek</a:t>
            </a:r>
          </a:p>
          <a:p>
            <a:pPr lvl="1">
              <a:defRPr sz="1400" b="0">
                <a:solidFill>
                  <a:srgbClr val="25167A"/>
                </a:solidFill>
                <a:latin typeface="Arial"/>
              </a:defRPr>
            </a:pPr>
            <a:r>
              <a:t>     -0,5</a:t>
            </a:r>
          </a:p>
          <a:p>
            <a:pPr>
              <a:spcBef>
                <a:spcPts val="1300"/>
              </a:spcBef>
              <a:defRPr sz="1700" b="1">
                <a:solidFill>
                  <a:srgbClr val="000000"/>
                </a:solidFill>
                <a:latin typeface="Arial"/>
              </a:defRPr>
            </a:pPr>
            <a:r>
              <a:t>En twee zonder aftrek, maar niet vrijblijvend:</a:t>
            </a:r>
          </a:p>
          <a:p>
            <a:pPr lvl="1">
              <a:defRPr sz="1400" b="0">
                <a:solidFill>
                  <a:srgbClr val="505A64"/>
                </a:solidFill>
                <a:latin typeface="Arial"/>
              </a:defRPr>
            </a:pPr>
            <a:r>
              <a:t>Onderwerp op tijd gemeld · code van anderen met bron erbij, en uit te leggen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Dat heb je vanmiddag al gedaan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De demo van zojuist was Case 2 in het klein:</a:t>
            </a:r>
          </a:p>
          <a:p>
            <a:pPr lvl="1">
              <a:defRPr sz="1400" b="0">
                <a:solidFill>
                  <a:srgbClr val="1B4D3E"/>
                </a:solidFill>
                <a:latin typeface="Arial"/>
              </a:defRPr>
            </a:pPr>
            <a:r>
              <a:t>twee tabellen op bot_naam samengevoegd, rijen geteld vóór en ná</a:t>
            </a:r>
          </a:p>
          <a:p>
            <a:pPr lvl="1">
              <a:defRPr sz="1400" b="0">
                <a:solidFill>
                  <a:srgbClr val="000000"/>
                </a:solidFill>
                <a:latin typeface="Arial"/>
              </a:defRPr>
            </a:pPr>
            <a:r>
              <a:t>     → criterium Data verzameling</a:t>
            </a:r>
          </a:p>
          <a:p>
            <a:pPr lvl="1">
              <a:defRPr sz="1400" b="0">
                <a:solidFill>
                  <a:srgbClr val="1B4D3E"/>
                </a:solidFill>
                <a:latin typeface="Arial"/>
              </a:defRPr>
            </a:pPr>
            <a:r>
              <a:t>928 lege waarden gevonden, en gezien wat ze met je percentage deden</a:t>
            </a:r>
          </a:p>
          <a:p>
            <a:pPr lvl="1">
              <a:defRPr sz="1400" b="0">
                <a:solidFill>
                  <a:srgbClr val="000000"/>
                </a:solidFill>
                <a:latin typeface="Arial"/>
              </a:defRPr>
            </a:pPr>
            <a:r>
              <a:t>     → criterium Data verkenning</a:t>
            </a:r>
          </a:p>
          <a:p>
            <a:pPr lvl="1">
              <a:defRPr sz="1400" b="0">
                <a:solidFill>
                  <a:srgbClr val="1B4D3E"/>
                </a:solidFill>
                <a:latin typeface="Arial"/>
              </a:defRPr>
            </a:pPr>
            <a:r>
              <a:t>diff en cumsum over het verloop van een stack</a:t>
            </a:r>
          </a:p>
          <a:p>
            <a:pPr lvl="1">
              <a:defRPr sz="1400" b="0">
                <a:solidFill>
                  <a:srgbClr val="000000"/>
                </a:solidFill>
                <a:latin typeface="Arial"/>
              </a:defRPr>
            </a:pPr>
            <a:r>
              <a:t>     → criterium Vergelijken en annoteren</a:t>
            </a:r>
          </a:p>
          <a:p>
            <a:pPr>
              <a:spcBef>
                <a:spcPts val="1300"/>
              </a:spcBef>
              <a:defRPr sz="1700" b="1">
                <a:solidFill>
                  <a:srgbClr val="000000"/>
                </a:solidFill>
                <a:latin typeface="Arial"/>
              </a:defRPr>
            </a:pPr>
            <a:r>
              <a:t>Het verschil met de case: daar kiest niemand de dataset voor je,</a:t>
            </a:r>
          </a:p>
          <a:p>
            <a:pPr lvl="1">
              <a:defRPr sz="1400" b="0">
                <a:solidFill>
                  <a:srgbClr val="505A64"/>
                </a:solidFill>
                <a:latin typeface="Arial"/>
              </a:defRPr>
            </a:pPr>
            <a:r>
              <a:t>en staat er geen kolom aan_zet klaar om je fout te laten zien.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