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Hiermee open je, want dit is wat iedereen wil weten.</a:t>
            </a:r>
          </a:p>
          <a:p/>
          <a:p>
            <a:r>
              <a:t>De ladder: 0,5 - 0,4 - 0,3 - 0,2 - 0,1 voor de eerste vijf, en verder niets. Twee toernooien die meetellen, dus maximaal 1,0 bonuspunt over de hele week. Eindigen twee bots op exact dezelfde winst, dan delen ze de plekken en krijgen ze allebei het gemiddelde van die punten — anders bepaalt een toevallige volgorde wie de hogere plek krijgt, en daar hang je geen bonuspunt aan op.</a:t>
            </a:r>
          </a:p>
          <a:p/>
          <a:p>
            <a:r>
              <a:t>LET OP: zolang de oranje regel er staat zijn dit verzonnen studentnummers uit een testtoernooi. Draai scripts/analyse_toernooi.py op de echte export en de dia klopt vanzelf — inclusief deze sprekersnotitie, want die getallen komen uit hetzelfde cijfers.json.</a:t>
            </a:r>
          </a:p>
          <a:p/>
          <a:p>
            <a:r>
              <a:t>Wie hier net buiten valt: dia 13 laat zien hoe dun dat verschil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hier, en laat even bezinken hoe groot dit is. Twintigduizend beslissingen van dertig bots.</a:t>
            </a:r>
          </a:p>
          <a:p/>
          <a:p>
            <a:r>
              <a:t>De sprong die ze vandaag maken: tot nu toe was data iets wat ze kregen. Dit hebben ze zelf gegenereerd, door een bot te schrijven.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Kort ophalen, niet opnieuw uitleggen. Ze hebben dit vorige week gedaan; het punt is dat ze zien dat het nu ergens voor dient.</a:t>
            </a:r>
          </a:p>
          <a:p/>
          <a:p>
            <a:r>
              <a:t>De kleurkeuze mag je hardop verantwoorden: ik heb het groen-rood van onze eigen huisstijl door een kleurenblindheidstest gehaald en het zakte — de twee liggen voor protanopie te dicht bij elkaar. Vandaar blauw. Dat is precies het soort controle dat zij in Deel 6 hebben geleerd.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65.9%, call 21.0%, raise 12.0%.</a:t>
            </a:r>
          </a:p>
          <a:p/>
          <a:p>
            <a:r>
              <a:t>Vraag het eerst aan de zaal voor je het laat zien: hoeveel procent denken jullie? De meesten schatten veel te laag.</a:t>
            </a:r>
          </a:p>
          <a:p/>
          <a:p>
            <a:r>
              <a:t>En dan de vervolgvraag die de hele middag draagt: als twee op de drie beslissingen een fold is, wat betekent dat voor jouw bot? Agressie is goedkoop tegen een tafel die wegloopt.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mediaan ligt op 72,3%. De bot die hier oranje is, zit op 75,6%.</a:t>
            </a:r>
          </a:p>
          <a:p/>
          <a:p>
            <a:r>
              <a:t>Laat ze zichzelf opzoeken — dat is de opdracht in 3.2. Wie boven de 80% zit doet nauwelijks mee; wie onder de 20% zit betaalt overal aan mee.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statistiek die ik er zelf bij heb gezocht, en de uitkomst verraste me: een correlatie van +0,45 tussen fold-percentage en eindstand. In dít veld deden de defensievere bots het beter.</a:t>
            </a:r>
          </a:p>
          <a:p/>
          <a:p>
            <a:r>
              <a:t>Belangrijk om erbij te zeggen: dat is geen algemene pokerwaarheid. Het zegt iets over dit veld — er zitten een paar bots in die alles callen, en die verliezen langzaam hun chips aan iedereen. Tegen een tafel vol defensieve bots zou de lijn andersom kunnen lopen.</a:t>
            </a:r>
          </a:p>
          <a:p/>
          <a:p>
            <a:r>
              <a:t>Goede vraag voor de zaal: is dit oorzaak of gevolg?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mijn favoriete plaat van de middag. Niemand heeft zijn code gedeeld, en toch zie je precies waar de klas zijn grens legt.</a:t>
            </a:r>
          </a:p>
          <a:p/>
          <a:p>
            <a:r>
              <a:t>Let op het patroon: de diagonaal (paren) is licht, de linkerbovenhoek (aas, heer) is licht, en rechtsonder wordt alles weggegooid. Dat is de winkans-tabel uit Werkcollege 5 — maar dan afgeleid uit gedrag in plaats van uit een simulatie.</a:t>
            </a:r>
          </a:p>
          <a:p/>
          <a:p>
            <a:r>
              <a:t>De kleur is één hue van licht naar donker, want dit is een oplopende schaal en geen set categorieën.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 twee kleuren om een nulpunt heen, want winst heeft een richting.</a:t>
            </a:r>
          </a:p>
          <a:p/>
          <a:p>
            <a:r>
              <a:t>A-A staat ver boven de rest; de schaal is op het 92e percentiel afgekapt, anders zou al het andere wit worden. Dat is een keuze die je hardop moet maken en niet stilletjes.</a:t>
            </a:r>
          </a:p>
          <a:p/>
          <a:p>
            <a:r>
              <a:t>De vraag die telt: leg deze plaat naast de vorige. Waar is een vakje donkergroen in déze, en donkergroen in die? Dan gooit de klas iets weg waar geld in zit.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komen 3.3 en 3.4 samen, en dit is wat ik ze mee wil geven: data science levert zelden een antwoord, het levert een kandidaat.</a:t>
            </a:r>
          </a:p>
          <a:p/>
          <a:p>
            <a:r>
              <a:t>Die tweede vraag is de eerlijke. Wie deze hand speelde was misschien juist de betere bot, en dan meet je de bot en niet de hand. Dat heet selectie-effect, en het is de reden dat je het op donderdag toetst in plaats van het te geloven.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staat Visual Maandag in één plaat: twintig grijze lijnen, twee uitgelicht, en een titel die iets beweert.</a:t>
            </a:r>
          </a:p>
          <a:p/>
          <a:p>
            <a:r>
              <a:t>Deze bot eindigde in zijn beste simulatie op 3.520 chips en in zijn slechtste op 0. Zelfde code, zelfde drempels, andere kaarten.</a:t>
            </a:r>
          </a:p>
          <a:p/>
          <a:p>
            <a:r>
              <a:t>Laat ze dit zelf maken voor hun eigen bot — het is één groupby en een plot, en het is de meest persoonlijke grafiek van de middag.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grafiek die het dichtst bij 'wat moet ik veranderen' komt. Per actiesoort: wat leverde die jou op, en wat leverde die de rest op?</a:t>
            </a:r>
          </a:p>
          <a:p/>
          <a:p>
            <a:r>
              <a:t>Let op de n= achter elk getal, en maak daar een punt van. In dit voorbeeld verliest de grote raise 84 chips per hand terwijl de klas er 175 mee wint — maar over zeven handen. Dat is geen conclusie, dat is een aanwijzing waar je verder moet kijken.</a:t>
            </a:r>
          </a:p>
          <a:p/>
          <a:p>
            <a:r>
              <a:t>Wie hier een echt verschil ziet bij een actie die hij vaak doet, heeft zijn verandering voor Deel 4 gevonden.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gemiddelde verstopt hoe vaak iets voorkwam. Hier staat de optelsom: welke handen hebben jou over het hele toernooi het meeste gekost, en welke het meeste opgeleverd.</a:t>
            </a:r>
          </a:p>
          <a:p/>
          <a:p>
            <a:r>
              <a:t>In dit voorbeeld is K-10 de duurste hand (-1.010 chips over 10 handen) en A-K de beste (+2.000 over 9).</a:t>
            </a:r>
          </a:p>
          <a:p/>
          <a:p>
            <a:r>
              <a:t>De vraag die ze zichzelf moeten stellen: speel ik die duurste hand eigenlijk wel bewust, of valt hij per ongeluk binnen een van mijn drempels?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beste bot haalde gemiddeld 1.690 chips, met een standaarddeviatie van 1.067. De nummer twee zit op 1.666.</a:t>
            </a:r>
          </a:p>
          <a:p/>
          <a:p>
            <a:r>
              <a:t>Het verschil tussen nummer 1 en nummer 2 is kleiner dan de spreiding binnen één bot. Laat dat even staan.</a:t>
            </a:r>
          </a:p>
          <a:p/>
          <a:p>
            <a:r>
              <a:t>Daarom loopt de bonus over twee toernooien, en daarom is 'ik ben gezakt van plek 3 naar plek 9' geen bewijs dat je bot slechter is geworden.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antwoord op 'ik ben klaar, wat nu'. Drie sporen, en het middelste is het belangrijkste en het minst voor de hand liggende.</a:t>
            </a:r>
          </a:p>
          <a:p/>
          <a:p>
            <a:r>
              <a:t>Neem even de tijd voor die rode regel onderin. Het logboek heeft ÉÉN regel per hand, met alleen de eerste actie van die hand. Alles wat per ronde, per pot of per tegenstander speelt staat er dus niet in. Dat is geen omissie maar een ontwerpkeuze: een regel per beslissing zou het logboek vijf keer zo groot maken.</a:t>
            </a:r>
          </a:p>
          <a:p/>
          <a:p>
            <a:r>
              <a:t>Wie dáár iets over wil weten, moet zijn bot het zelf laten opschrijven. Dat is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dia waar ik de meeste waarde van verwacht, want 'bedenk een analyse' is een opdracht waar de meesten op vastlopen.</a:t>
            </a:r>
          </a:p>
          <a:p/>
          <a:p>
            <a:r>
              <a:t>Het punt: je verzint niets. Je hebt in Werkcollege 7 vijf regels geschreven, en in elke regel staat een getal dat je op gevoel hebt gekozen — 150, STERK, MEEDOEN, ZWAK. Elk van die getallen is een hypothese. Stel over elk dezelfde twee vragen: hoe vaak vuurt deze regel, en wat levert hij op als hij vuurt?</a:t>
            </a:r>
          </a:p>
          <a:p/>
          <a:p>
            <a:r>
              <a:t>Loop ze samen langs en laat ze bij hun eigen bot kijken. Wie een regel heeft die nooit vuurt, heeft dode code — en dat is op zichzelf al een bevinding.</a:t>
            </a:r>
          </a:p>
          <a:p/>
          <a:p>
            <a:r>
              <a:t>De kleur rechts zegt waar het antwoord vandaan komt, en sluit aan op de vorige dia: blauw is het logboek, oranje moet je zelf laten opschrijven.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meest waardevolle dia van het hele slot, en de makkelijkste om over te slaan.</a:t>
            </a:r>
          </a:p>
          <a:p/>
          <a:p>
            <a:r>
              <a:t>Het idee is simpel: je bot weet op het moment van beslissen alles — de ronde, de pot, zijn winkans, welke regel er vuurde. Die kennis gooit hij nu weg. Eén append per beslissing en je houdt hem vast.</a:t>
            </a:r>
          </a:p>
          <a:p/>
          <a:p>
            <a:r>
              <a:t>Koppel het aan de vijf-regelstructuur uit Werkcollege 7: door 'regel' mee te loggen kun je achteraf per regel uitrekenen wat hij opleverde. Dan weet je welke van je vijf regels het werk doet en welke er alleen maar staat.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als er tijd over is. Het punt: ze denken dat ze alleen een percentage hebben, terwijl beschrijf_hand() ze de handsóórt geeft.</a:t>
            </a:r>
          </a:p>
          <a:p/>
          <a:p>
            <a:r>
              <a:t>Een regel als 'bij three of a kind of beter ga ik door, wat de winkans ook zegt' is voor sommigen begrijpelijker dan drempels, en het is een volwaardige strategie.</a:t>
            </a:r>
          </a:p>
          <a:p/>
          <a:p>
            <a:r>
              <a:t>vergelijk_handen is vooral nuttig om te begrijpen waarom je een hand verloor die je dacht te winnen — kickers.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en wijs vooruit: donderdagochtend draait de oefenronde. Dan weten ze binnen een dag of hun verandering iets deed.</a:t>
            </a:r>
          </a:p>
          <a:p/>
          <a:p>
            <a:r>
              <a:t>Dat is de hele cyclus die dit vak wil laten zien: meten, concluderen, aanpassen, opnieuw meten. Niet één keer een analyse maken en hopen.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94560"/>
            <a:ext cx="10058400" cy="2926080"/>
          </a:xfrm>
          <a:prstGeom prst="rect">
            <a:avLst/>
          </a:prstGeom>
          <a:noFill/>
        </p:spPr>
        <p:txBody>
          <a:bodyPr wrap="square">
            <a:spAutoFit/>
          </a:bodyPr>
          <a:lstStyle/>
          <a:p>
            <a:pPr>
              <a:defRPr sz="1200" b="1">
                <a:solidFill>
                  <a:srgbClr val="FFFFFF"/>
                </a:solidFill>
              </a:defRPr>
            </a:pPr>
            <a:r>
              <a:t>WEEK 5 · WERKCOLLEGE 8</a:t>
            </a:r>
          </a:p>
          <a:p>
            <a:pPr>
              <a:spcBef>
                <a:spcPts val="1000"/>
              </a:spcBef>
              <a:defRPr sz="4000" b="1">
                <a:solidFill>
                  <a:srgbClr val="FFFFFF"/>
                </a:solidFill>
              </a:defRPr>
            </a:pPr>
            <a:r>
              <a:t>Wat zegt de data over je bot?</a:t>
            </a:r>
          </a:p>
          <a:p>
            <a:pPr>
              <a:spcBef>
                <a:spcPts val="800"/>
              </a:spcBef>
              <a:defRPr sz="2000" b="0">
                <a:solidFill>
                  <a:srgbClr val="DCE1E6"/>
                </a:solidFill>
              </a:defRPr>
            </a:pPr>
            <a:r>
              <a:t>20.912 beslissingen van 30 bots. vanmorgen gespeeld</a:t>
            </a:r>
          </a:p>
          <a:p>
            <a:pPr>
              <a:spcBef>
                <a:spcPts val="1800"/>
              </a:spcBef>
              <a:defRPr sz="1400" b="0">
                <a:solidFill>
                  <a:srgbClr val="DCE1E6"/>
                </a:solidFill>
              </a:defRPr>
            </a:pPr>
            <a:r>
              <a:t>Vandaag lever je niets in. Je onderzoekt — en verandert daarna één 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UITSLAG</a:t>
            </a:r>
          </a:p>
          <a:p>
            <a:pPr>
              <a:spcBef>
                <a:spcPts val="400"/>
              </a:spcBef>
              <a:defRPr sz="2400" b="1">
                <a:solidFill>
                  <a:srgbClr val="121E31"/>
                </a:solidFill>
              </a:defRPr>
            </a:pPr>
            <a:r>
              <a:t>Wie pakt er een bonuspunt?</a:t>
            </a:r>
          </a:p>
        </p:txBody>
      </p:sp>
      <p:pic>
        <p:nvPicPr>
          <p:cNvPr id="4" name="Picture 3" descr="wc8_uitslag.png"/>
          <p:cNvPicPr>
            <a:picLocks noChangeAspect="1"/>
          </p:cNvPicPr>
          <p:nvPr/>
        </p:nvPicPr>
        <p:blipFill>
          <a:blip r:embed="rId2"/>
          <a:stretch>
            <a:fillRect/>
          </a:stretch>
        </p:blipFill>
        <p:spPr>
          <a:xfrm>
            <a:off x="2233812" y="1600200"/>
            <a:ext cx="7724071" cy="4572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DATASET</a:t>
            </a:r>
          </a:p>
          <a:p>
            <a:pPr>
              <a:spcBef>
                <a:spcPts val="400"/>
              </a:spcBef>
              <a:defRPr sz="2400" b="1">
                <a:solidFill>
                  <a:srgbClr val="121E31"/>
                </a:solidFill>
              </a:defRPr>
            </a:pPr>
            <a:r>
              <a:t>Wat je vandaag in handen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2000" b="1">
                <a:solidFill>
                  <a:srgbClr val="1B4D3E"/>
                </a:solidFill>
              </a:defRPr>
            </a:pPr>
            <a:r>
              <a:t>30 bots  ·  20 simulaties  ·  24.000 regels</a:t>
            </a:r>
          </a:p>
          <a:p>
            <a:pPr>
              <a:spcBef>
                <a:spcPts val="1000"/>
              </a:spcBef>
              <a:defRPr sz="1400" b="0">
                <a:solidFill>
                  <a:srgbClr val="121E31"/>
                </a:solidFill>
              </a:defRPr>
            </a:pPr>
            <a:r>
              <a:t>Daarvan 20.912 regels waarin een bot écht aan zet kwam.</a:t>
            </a:r>
          </a:p>
          <a:p>
            <a:pPr>
              <a:spcBef>
                <a:spcPts val="800"/>
              </a:spcBef>
              <a:defRPr sz="1400" b="0">
                <a:solidFill>
                  <a:srgbClr val="121E31"/>
                </a:solidFill>
              </a:defRPr>
            </a:pPr>
            <a:r>
              <a:t>Per regel: welke bot, welke simulatie, welke hand, welke twee kaarten, welke actie, en zijn stack daarna.</a:t>
            </a:r>
          </a:p>
          <a:p>
            <a:pPr>
              <a:spcBef>
                <a:spcPts val="800"/>
              </a:spcBef>
              <a:defRPr sz="1400" b="0">
                <a:solidFill>
                  <a:srgbClr val="121E31"/>
                </a:solidFill>
              </a:defRPr>
            </a:pPr>
            <a:r>
              <a:t>Die laatste twee samen geven je wat elke hand opleverde — en daarmee kun je alles hieronder uitrekenen.</a:t>
            </a:r>
          </a:p>
          <a:p>
            <a:pPr>
              <a:spcBef>
                <a:spcPts val="1800"/>
              </a:spcBef>
              <a:defRPr sz="1500" b="1">
                <a:solidFill>
                  <a:srgbClr val="B3261E"/>
                </a:solidFill>
              </a:defRPr>
            </a:pPr>
            <a:r>
              <a:t>Dit is geen oefendataset. Dit heeft de klas vanmorgen zelf gespeeld.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TERUG NAAR VISUAL MAANDAG</a:t>
            </a:r>
          </a:p>
          <a:p>
            <a:pPr>
              <a:spcBef>
                <a:spcPts val="400"/>
              </a:spcBef>
              <a:defRPr sz="2400" b="1">
                <a:solidFill>
                  <a:srgbClr val="121E31"/>
                </a:solidFill>
              </a:defRPr>
            </a:pPr>
            <a:r>
              <a:t>Vijf dingen die je vandaag meteen nodig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0">
                <a:solidFill>
                  <a:srgbClr val="121E31"/>
                </a:solidFill>
                <a:latin typeface="Consolas"/>
              </a:defRPr>
            </a:pPr>
            <a:r>
              <a:t>1.  filteren        dertig bots in één plot is spaghetti</a:t>
            </a:r>
          </a:p>
          <a:p>
            <a:pPr>
              <a:spcBef>
                <a:spcPts val="600"/>
              </a:spcBef>
              <a:defRPr sz="1500" b="0">
                <a:solidFill>
                  <a:srgbClr val="121E31"/>
                </a:solidFill>
                <a:latin typeface="Consolas"/>
              </a:defRPr>
            </a:pPr>
            <a:r>
              <a:t>2.  uitlichten      jouw bot in kleur, de rest grijs</a:t>
            </a:r>
          </a:p>
          <a:p>
            <a:pPr>
              <a:spcBef>
                <a:spcPts val="600"/>
              </a:spcBef>
              <a:defRPr sz="1500" b="1">
                <a:solidFill>
                  <a:srgbClr val="1B4D3E"/>
                </a:solidFill>
                <a:latin typeface="Consolas"/>
              </a:defRPr>
            </a:pPr>
            <a:r>
              <a:t>3.  actietitel      beweer iets, benoem niet alleen</a:t>
            </a:r>
          </a:p>
          <a:p>
            <a:pPr>
              <a:spcBef>
                <a:spcPts val="600"/>
              </a:spcBef>
              <a:defRPr sz="1500" b="0">
                <a:solidFill>
                  <a:srgbClr val="121E31"/>
                </a:solidFill>
                <a:latin typeface="Consolas"/>
              </a:defRPr>
            </a:pPr>
            <a:r>
              <a:t>4.  annoteren       waar gebeurt het? zet er een streep bij</a:t>
            </a:r>
          </a:p>
          <a:p>
            <a:pPr>
              <a:spcBef>
                <a:spcPts val="600"/>
              </a:spcBef>
              <a:defRPr sz="1500" b="0">
                <a:solidFill>
                  <a:srgbClr val="121E31"/>
                </a:solidFill>
                <a:latin typeface="Consolas"/>
              </a:defRPr>
            </a:pPr>
            <a:r>
              <a:t>5.  contrast-check  leest je kleur ook voor de rest van de klas?</a:t>
            </a:r>
          </a:p>
          <a:p>
            <a:pPr>
              <a:spcBef>
                <a:spcPts val="2000"/>
              </a:spcBef>
              <a:defRPr sz="1300" b="0">
                <a:solidFill>
                  <a:srgbClr val="505A64"/>
                </a:solidFill>
              </a:defRPr>
            </a:pPr>
            <a:r>
              <a:t>Alles wat hierna komt is daarop gebouwd. De kleurschalen lopen van blauw naar groen en niet van rood naar groen, omdat rood en groen voor een deel van je klasgenoten bijna dezelfde kleur zijn.</a:t>
            </a:r>
          </a:p>
          <a:p>
            <a:pPr>
              <a:spcBef>
                <a:spcPts val="1200"/>
              </a:spcBef>
              <a:defRPr sz="1400" b="1">
                <a:solidFill>
                  <a:srgbClr val="121E31"/>
                </a:solidFill>
              </a:defRPr>
            </a:pPr>
            <a:r>
              <a:t>Dat is geen detail. Dat is Werkcollege 6, Deel 6 — nu op jullie eigen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DE KLAS</a:t>
            </a:r>
          </a:p>
          <a:p>
            <a:pPr>
              <a:spcBef>
                <a:spcPts val="400"/>
              </a:spcBef>
              <a:defRPr sz="2400" b="1">
                <a:solidFill>
                  <a:srgbClr val="121E31"/>
                </a:solidFill>
              </a:defRPr>
            </a:pPr>
            <a:r>
              <a:t>Twee op de drie beslissingen is een fold</a:t>
            </a:r>
          </a:p>
        </p:txBody>
      </p:sp>
      <p:pic>
        <p:nvPicPr>
          <p:cNvPr id="4" name="Picture 3" descr="wc8_acties.png"/>
          <p:cNvPicPr>
            <a:picLocks noChangeAspect="1"/>
          </p:cNvPicPr>
          <p:nvPr/>
        </p:nvPicPr>
        <p:blipFill>
          <a:blip r:embed="rId2"/>
          <a:stretch>
            <a:fillRect/>
          </a:stretch>
        </p:blipFill>
        <p:spPr>
          <a:xfrm>
            <a:off x="901873" y="1600200"/>
            <a:ext cx="10387949"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EN JIJ?</a:t>
            </a:r>
          </a:p>
          <a:p>
            <a:pPr>
              <a:spcBef>
                <a:spcPts val="400"/>
              </a:spcBef>
              <a:defRPr sz="2400" b="1">
                <a:solidFill>
                  <a:srgbClr val="121E31"/>
                </a:solidFill>
              </a:defRPr>
            </a:pPr>
            <a:r>
              <a:t>Waar sta jij in die verdeling?</a:t>
            </a:r>
          </a:p>
        </p:txBody>
      </p:sp>
      <p:pic>
        <p:nvPicPr>
          <p:cNvPr id="4" name="Picture 3" descr="wc8_foldverdeling.png"/>
          <p:cNvPicPr>
            <a:picLocks noChangeAspect="1"/>
          </p:cNvPicPr>
          <p:nvPr/>
        </p:nvPicPr>
        <p:blipFill>
          <a:blip r:embed="rId2"/>
          <a:stretch>
            <a:fillRect/>
          </a:stretch>
        </p:blipFill>
        <p:spPr>
          <a:xfrm>
            <a:off x="1848403" y="1600200"/>
            <a:ext cx="8494889"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VERRASSING</a:t>
            </a:r>
          </a:p>
          <a:p>
            <a:pPr>
              <a:spcBef>
                <a:spcPts val="400"/>
              </a:spcBef>
              <a:defRPr sz="2400" b="1">
                <a:solidFill>
                  <a:srgbClr val="121E31"/>
                </a:solidFill>
              </a:defRPr>
            </a:pPr>
            <a:r>
              <a:t>Defensief spelen wérkt hier   ·   r = +0,45</a:t>
            </a:r>
          </a:p>
        </p:txBody>
      </p:sp>
      <p:pic>
        <p:nvPicPr>
          <p:cNvPr id="4" name="Picture 3" descr="wc8_fold_vs_eindstand.png"/>
          <p:cNvPicPr>
            <a:picLocks noChangeAspect="1"/>
          </p:cNvPicPr>
          <p:nvPr/>
        </p:nvPicPr>
        <p:blipFill>
          <a:blip r:embed="rId2"/>
          <a:stretch>
            <a:fillRect/>
          </a:stretch>
        </p:blipFill>
        <p:spPr>
          <a:xfrm>
            <a:off x="1999178" y="1600200"/>
            <a:ext cx="8193338"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3.3 · GEDRAG LEZEN</a:t>
            </a:r>
          </a:p>
          <a:p>
            <a:pPr>
              <a:spcBef>
                <a:spcPts val="400"/>
              </a:spcBef>
              <a:defRPr sz="2400" b="1">
                <a:solidFill>
                  <a:srgbClr val="121E31"/>
                </a:solidFill>
              </a:defRPr>
            </a:pPr>
            <a:r>
              <a:t>De drempels van de klas, zonder één regel code te zien</a:t>
            </a:r>
          </a:p>
        </p:txBody>
      </p:sp>
      <p:pic>
        <p:nvPicPr>
          <p:cNvPr id="4" name="Picture 3" descr="wc8_matrix_fold.png"/>
          <p:cNvPicPr>
            <a:picLocks noChangeAspect="1"/>
          </p:cNvPicPr>
          <p:nvPr/>
        </p:nvPicPr>
        <p:blipFill>
          <a:blip r:embed="rId2"/>
          <a:stretch>
            <a:fillRect/>
          </a:stretch>
        </p:blipFill>
        <p:spPr>
          <a:xfrm>
            <a:off x="2855625" y="1600200"/>
            <a:ext cx="6480444" cy="4572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3.4 · EN WAT LEVERDE OP?</a:t>
            </a:r>
          </a:p>
          <a:p>
            <a:pPr>
              <a:spcBef>
                <a:spcPts val="400"/>
              </a:spcBef>
              <a:defRPr sz="2400" b="1">
                <a:solidFill>
                  <a:srgbClr val="121E31"/>
                </a:solidFill>
              </a:defRPr>
            </a:pPr>
            <a:r>
              <a:t>Dezelfde 91 handen, nu op geld</a:t>
            </a:r>
          </a:p>
        </p:txBody>
      </p:sp>
      <p:pic>
        <p:nvPicPr>
          <p:cNvPr id="4" name="Picture 3" descr="wc8_matrix_winst.png"/>
          <p:cNvPicPr>
            <a:picLocks noChangeAspect="1"/>
          </p:cNvPicPr>
          <p:nvPr/>
        </p:nvPicPr>
        <p:blipFill>
          <a:blip r:embed="rId2"/>
          <a:stretch>
            <a:fillRect/>
          </a:stretch>
        </p:blipFill>
        <p:spPr>
          <a:xfrm>
            <a:off x="3657698" y="1600200"/>
            <a:ext cx="4876299" cy="4572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HET SNIJPUNT</a:t>
            </a:r>
          </a:p>
          <a:p>
            <a:pPr>
              <a:spcBef>
                <a:spcPts val="400"/>
              </a:spcBef>
              <a:defRPr sz="2400" b="1">
                <a:solidFill>
                  <a:srgbClr val="121E31"/>
                </a:solidFill>
              </a:defRPr>
            </a:pPr>
            <a:r>
              <a:t>Weggegooid, en toch winstgevend</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spcBef>
                <a:spcPts val="400"/>
              </a:spcBef>
              <a:defRPr sz="1400" b="0">
                <a:solidFill>
                  <a:srgbClr val="121E31"/>
                </a:solidFill>
                <a:latin typeface="Consolas"/>
              </a:defRPr>
            </a:pPr>
            <a:r>
              <a:t>2-2       97x gespeeld    64% gefold    gemiddeld +33 chips</a:t>
            </a:r>
          </a:p>
          <a:p>
            <a:pPr>
              <a:spcBef>
                <a:spcPts val="400"/>
              </a:spcBef>
              <a:defRPr sz="1400" b="0">
                <a:solidFill>
                  <a:srgbClr val="121E31"/>
                </a:solidFill>
                <a:latin typeface="Consolas"/>
              </a:defRPr>
            </a:pPr>
            <a:r>
              <a:t>Q-9      245x gespeeld    59% gefold    gemiddeld +16 chips</a:t>
            </a:r>
          </a:p>
          <a:p>
            <a:pPr>
              <a:spcBef>
                <a:spcPts val="400"/>
              </a:spcBef>
              <a:defRPr sz="1400" b="0">
                <a:solidFill>
                  <a:srgbClr val="121E31"/>
                </a:solidFill>
                <a:latin typeface="Consolas"/>
              </a:defRPr>
            </a:pPr>
            <a:r>
              <a:t>K-7      283x gespeeld    56% gefold    gemiddeld +14 chips</a:t>
            </a:r>
          </a:p>
          <a:p>
            <a:pPr>
              <a:spcBef>
                <a:spcPts val="400"/>
              </a:spcBef>
              <a:defRPr sz="1400" b="0">
                <a:solidFill>
                  <a:srgbClr val="121E31"/>
                </a:solidFill>
                <a:latin typeface="Consolas"/>
              </a:defRPr>
            </a:pPr>
            <a:r>
              <a:t>K-3      223x gespeeld    63% gefold    gemiddeld +12 chips</a:t>
            </a:r>
          </a:p>
          <a:p>
            <a:pPr>
              <a:spcBef>
                <a:spcPts val="400"/>
              </a:spcBef>
              <a:defRPr sz="1400" b="0">
                <a:solidFill>
                  <a:srgbClr val="121E31"/>
                </a:solidFill>
                <a:latin typeface="Consolas"/>
              </a:defRPr>
            </a:pPr>
            <a:r>
              <a:t>K-8      271x gespeeld    53% gefold    gemiddeld +8 chips</a:t>
            </a:r>
          </a:p>
          <a:p>
            <a:pPr>
              <a:spcBef>
                <a:spcPts val="1800"/>
              </a:spcBef>
              <a:defRPr sz="1400" b="1">
                <a:solidFill>
                  <a:srgbClr val="1B4D3E"/>
                </a:solidFill>
              </a:defRPr>
            </a:pPr>
            <a:r>
              <a:t>Deze handen worden vaker gefold dan gespeeld, maar leveren geld op wanneer er wél mee gespeeld wordt.</a:t>
            </a:r>
          </a:p>
          <a:p>
            <a:pPr>
              <a:spcBef>
                <a:spcPts val="1200"/>
              </a:spcBef>
              <a:defRPr sz="1300" b="0">
                <a:solidFill>
                  <a:srgbClr val="505A64"/>
                </a:solidFill>
              </a:defRPr>
            </a:pPr>
            <a:r>
              <a:t>Is dat een kans, of kijk je naar de handen die toevallig goed afliepen? Dat is precies de vraag die je met deze data niet helemaal kunt beslechten.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EIGEN SPEL</a:t>
            </a:r>
          </a:p>
          <a:p>
            <a:pPr>
              <a:spcBef>
                <a:spcPts val="400"/>
              </a:spcBef>
              <a:defRPr sz="2400" b="1">
                <a:solidFill>
                  <a:srgbClr val="121E31"/>
                </a:solidFill>
              </a:defRPr>
            </a:pPr>
            <a:r>
              <a:t>Dezelfde bot, twintig keer een ander verhaal</a:t>
            </a:r>
          </a:p>
        </p:txBody>
      </p:sp>
      <p:pic>
        <p:nvPicPr>
          <p:cNvPr id="4" name="Picture 3" descr="wc8_stackverloop.png"/>
          <p:cNvPicPr>
            <a:picLocks noChangeAspect="1"/>
          </p:cNvPicPr>
          <p:nvPr/>
        </p:nvPicPr>
        <p:blipFill>
          <a:blip r:embed="rId2"/>
          <a:stretch>
            <a:fillRect/>
          </a:stretch>
        </p:blipFill>
        <p:spPr>
          <a:xfrm>
            <a:off x="1957224" y="1600200"/>
            <a:ext cx="8277246"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ACTIES</a:t>
            </a:r>
          </a:p>
          <a:p>
            <a:pPr>
              <a:spcBef>
                <a:spcPts val="400"/>
              </a:spcBef>
              <a:defRPr sz="2400" b="1">
                <a:solidFill>
                  <a:srgbClr val="121E31"/>
                </a:solidFill>
              </a:defRPr>
            </a:pPr>
            <a:r>
              <a:t>Levert jouw raise meer op dan die van de klas?</a:t>
            </a:r>
          </a:p>
        </p:txBody>
      </p:sp>
      <p:pic>
        <p:nvPicPr>
          <p:cNvPr id="4" name="Picture 3" descr="wc8_jij_tegenover_klas.png"/>
          <p:cNvPicPr>
            <a:picLocks noChangeAspect="1"/>
          </p:cNvPicPr>
          <p:nvPr/>
        </p:nvPicPr>
        <p:blipFill>
          <a:blip r:embed="rId2"/>
          <a:stretch>
            <a:fillRect/>
          </a:stretch>
        </p:blipFill>
        <p:spPr>
          <a:xfrm>
            <a:off x="1934404" y="1600200"/>
            <a:ext cx="8322886" cy="4572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WAAR GING JE GELD HEEN?</a:t>
            </a:r>
          </a:p>
          <a:p>
            <a:pPr>
              <a:spcBef>
                <a:spcPts val="400"/>
              </a:spcBef>
              <a:defRPr sz="2400" b="1">
                <a:solidFill>
                  <a:srgbClr val="121E31"/>
                </a:solidFill>
              </a:defRPr>
            </a:pPr>
            <a:r>
              <a:t>Niet het gemiddelde, maar het totaal</a:t>
            </a:r>
          </a:p>
        </p:txBody>
      </p:sp>
      <p:pic>
        <p:nvPicPr>
          <p:cNvPr id="4" name="Picture 3" descr="wc8_totale_bijdrage.png"/>
          <p:cNvPicPr>
            <a:picLocks noChangeAspect="1"/>
          </p:cNvPicPr>
          <p:nvPr/>
        </p:nvPicPr>
        <p:blipFill>
          <a:blip r:embed="rId2"/>
          <a:stretch>
            <a:fillRect/>
          </a:stretch>
        </p:blipFill>
        <p:spPr>
          <a:xfrm>
            <a:off x="2261341" y="1600200"/>
            <a:ext cx="7669013" cy="4572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3.5 · HOEVEEL IS TOEVAL?</a:t>
            </a:r>
          </a:p>
          <a:p>
            <a:pPr>
              <a:spcBef>
                <a:spcPts val="400"/>
              </a:spcBef>
              <a:defRPr sz="2400" b="1">
                <a:solidFill>
                  <a:srgbClr val="121E31"/>
                </a:solidFill>
              </a:defRPr>
            </a:pPr>
            <a:r>
              <a:t>Hoe stevig is een plek in de top-5?</a:t>
            </a:r>
          </a:p>
        </p:txBody>
      </p:sp>
      <p:pic>
        <p:nvPicPr>
          <p:cNvPr id="4" name="Picture 3" descr="wc8_spreiding.png"/>
          <p:cNvPicPr>
            <a:picLocks noChangeAspect="1"/>
          </p:cNvPicPr>
          <p:nvPr/>
        </p:nvPicPr>
        <p:blipFill>
          <a:blip r:embed="rId2"/>
          <a:stretch>
            <a:fillRect/>
          </a:stretch>
        </p:blipFill>
        <p:spPr>
          <a:xfrm>
            <a:off x="2064489" y="1600200"/>
            <a:ext cx="8062717" cy="4572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DAARNA</a:t>
            </a:r>
          </a:p>
          <a:p>
            <a:pPr>
              <a:spcBef>
                <a:spcPts val="400"/>
              </a:spcBef>
              <a:defRPr sz="2400" b="1">
                <a:solidFill>
                  <a:srgbClr val="121E31"/>
                </a:solidFill>
              </a:defRPr>
            </a:pPr>
            <a:r>
              <a:t>Waar kun je nog naar kijken?</a:t>
            </a:r>
          </a:p>
        </p:txBody>
      </p:sp>
      <p:pic>
        <p:nvPicPr>
          <p:cNvPr id="4" name="Picture 3" descr="wc8_routes.png"/>
          <p:cNvPicPr>
            <a:picLocks noChangeAspect="1"/>
          </p:cNvPicPr>
          <p:nvPr/>
        </p:nvPicPr>
        <p:blipFill>
          <a:blip r:embed="rId2"/>
          <a:stretch>
            <a:fillRect/>
          </a:stretch>
        </p:blipFill>
        <p:spPr>
          <a:xfrm>
            <a:off x="1339756" y="1600200"/>
            <a:ext cx="9512183" cy="4572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HOE VERZIN JE ZO'N VRAAG?</a:t>
            </a:r>
          </a:p>
          <a:p>
            <a:pPr>
              <a:spcBef>
                <a:spcPts val="400"/>
              </a:spcBef>
              <a:defRPr sz="2400" b="1">
                <a:solidFill>
                  <a:srgbClr val="121E31"/>
                </a:solidFill>
              </a:defRPr>
            </a:pPr>
            <a:r>
              <a:t>Je leest hem af van je eigen bot</a:t>
            </a:r>
          </a:p>
        </p:txBody>
      </p:sp>
      <p:pic>
        <p:nvPicPr>
          <p:cNvPr id="4" name="Picture 3" descr="wc8_regels.png"/>
          <p:cNvPicPr>
            <a:picLocks noChangeAspect="1"/>
          </p:cNvPicPr>
          <p:nvPr/>
        </p:nvPicPr>
        <p:blipFill>
          <a:blip r:embed="rId2"/>
          <a:stretch>
            <a:fillRect/>
          </a:stretch>
        </p:blipFill>
        <p:spPr>
          <a:xfrm>
            <a:off x="1660198" y="1600200"/>
            <a:ext cx="8871299" cy="4572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2</a:t>
            </a:r>
          </a:p>
          <a:p>
            <a:pPr>
              <a:spcBef>
                <a:spcPts val="400"/>
              </a:spcBef>
              <a:defRPr sz="2400" b="1">
                <a:solidFill>
                  <a:srgbClr val="121E31"/>
                </a:solidFill>
              </a:defRPr>
            </a:pPr>
            <a:r>
              <a:t>Laat je bot opschrijven wat hij doet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1">
                <a:solidFill>
                  <a:srgbClr val="121E31"/>
                </a:solidFill>
              </a:defRPr>
            </a:pPr>
            <a:r>
              <a:t>Drie regels erbij, en je hebt data die niemand anders heeft:</a:t>
            </a:r>
          </a:p>
          <a:p>
            <a:pPr>
              <a:spcBef>
                <a:spcPts val="1400"/>
              </a:spcBef>
              <a:defRPr sz="1300" b="0">
                <a:solidFill>
                  <a:srgbClr val="121E31"/>
                </a:solidFill>
                <a:latin typeface="Consolas"/>
              </a:defRPr>
            </a:pPr>
            <a:r>
              <a:t>BESLISSINGEN = []</a:t>
            </a:r>
          </a:p>
          <a:p>
            <a:pPr>
              <a:spcBef>
                <a:spcPts val="200"/>
              </a:spcBef>
              <a:defRPr sz="1300" b="0">
                <a:solidFill>
                  <a:srgbClr val="121E31"/>
                </a:solidFill>
                <a:latin typeface="Consolas"/>
              </a:defRPr>
            </a:pPr>
          </a:p>
          <a:p>
            <a:pPr>
              <a:spcBef>
                <a:spcPts val="200"/>
              </a:spcBef>
              <a:defRPr sz="1300" b="0">
                <a:solidFill>
                  <a:srgbClr val="505A64"/>
                </a:solidFill>
                <a:latin typeface="Consolas"/>
              </a:defRPr>
            </a:pPr>
            <a:r>
              <a:t>def kies_actie(hand, ..., ronde, pot, inzet_om_te_callen, ...):</a:t>
            </a:r>
          </a:p>
          <a:p>
            <a:pPr>
              <a:spcBef>
                <a:spcPts val="200"/>
              </a:spcBef>
              <a:defRPr sz="1300" b="0">
                <a:solidFill>
                  <a:srgbClr val="505A64"/>
                </a:solidFill>
                <a:latin typeface="Consolas"/>
              </a:defRPr>
            </a:pPr>
            <a:r>
              <a:t>    winkans = schat_winkans(...)</a:t>
            </a:r>
          </a:p>
          <a:p>
            <a:pPr>
              <a:spcBef>
                <a:spcPts val="200"/>
              </a:spcBef>
              <a:defRPr sz="1300" b="0">
                <a:solidFill>
                  <a:srgbClr val="505A64"/>
                </a:solidFill>
                <a:latin typeface="Consolas"/>
              </a:defRPr>
            </a:pPr>
            <a:r>
              <a:t>    ...</a:t>
            </a:r>
          </a:p>
          <a:p>
            <a:pPr>
              <a:spcBef>
                <a:spcPts val="200"/>
              </a:spcBef>
              <a:defRPr sz="1300" b="1">
                <a:solidFill>
                  <a:srgbClr val="1B4D3E"/>
                </a:solidFill>
                <a:latin typeface="Consolas"/>
              </a:defRPr>
            </a:pPr>
            <a:r>
              <a:t>    BESLISSINGEN.append({"ronde": ronde, "winkans": winkans,</a:t>
            </a:r>
          </a:p>
          <a:p>
            <a:pPr>
              <a:spcBef>
                <a:spcPts val="200"/>
              </a:spcBef>
              <a:defRPr sz="1300" b="1">
                <a:solidFill>
                  <a:srgbClr val="1B4D3E"/>
                </a:solidFill>
                <a:latin typeface="Consolas"/>
              </a:defRPr>
            </a:pPr>
            <a:r>
              <a:t>                         "pot": pot, "regel": "bluf", "actie": actie})</a:t>
            </a:r>
          </a:p>
          <a:p>
            <a:pPr>
              <a:spcBef>
                <a:spcPts val="200"/>
              </a:spcBef>
              <a:defRPr sz="1300" b="0">
                <a:solidFill>
                  <a:srgbClr val="505A64"/>
                </a:solidFill>
                <a:latin typeface="Consolas"/>
              </a:defRPr>
            </a:pPr>
            <a:r>
              <a:t>    return actie</a:t>
            </a:r>
          </a:p>
          <a:p>
            <a:pPr>
              <a:spcBef>
                <a:spcPts val="1600"/>
              </a:spcBef>
              <a:defRPr sz="1300" b="0">
                <a:solidFill>
                  <a:srgbClr val="121E31"/>
                </a:solidFill>
              </a:defRPr>
            </a:pPr>
            <a:r>
              <a:t>Daarna speel_duel() draaien en pd.DataFrame(BESLISSINGEN) analyseren. Nu kun je wél zien wat je winkans per straat was, hoe vaak je bluf-regel vuurde, en welke van je vijf regels de beslissing nam.</a:t>
            </a:r>
          </a:p>
          <a:p>
            <a:pPr>
              <a:spcBef>
                <a:spcPts val="1000"/>
              </a:spcBef>
              <a:defRPr sz="1300" b="1">
                <a:solidFill>
                  <a:srgbClr val="B3261E"/>
                </a:solidFill>
              </a:defRPr>
            </a:pPr>
            <a:r>
              <a:t>Let op: dit doe je LOKAAL. In je inzending hoort geen logboek — daar telt alleen wat kies_actie teruggeeft.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3</a:t>
            </a:r>
          </a:p>
          <a:p>
            <a:pPr>
              <a:spcBef>
                <a:spcPts val="400"/>
              </a:spcBef>
              <a:defRPr sz="2400" b="1">
                <a:solidFill>
                  <a:srgbClr val="121E31"/>
                </a:solidFill>
              </a:defRPr>
            </a:pPr>
            <a:r>
              <a:t>Meer weten over je hand — dat kan gewoon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400" b="1">
                <a:solidFill>
                  <a:srgbClr val="1B4D3E"/>
                </a:solidFill>
                <a:latin typeface="Consolas"/>
              </a:defRPr>
            </a:pPr>
            <a:r>
              <a:t>schat_winkans(hand_met_kleur, bord=bord, tegenstanders=n)</a:t>
            </a:r>
          </a:p>
          <a:p>
            <a:pPr>
              <a:spcBef>
                <a:spcPts val="600"/>
              </a:spcBef>
              <a:defRPr sz="1300" b="0">
                <a:solidFill>
                  <a:srgbClr val="121E31"/>
                </a:solidFill>
              </a:defRPr>
            </a:pPr>
            <a:r>
              <a:t>De winkans verandert enorm met het bord en met het aantal tegenstanders. Dezelfde A-K: 38,5% preflop, 75,5% na de ene flop, 22,3% na de andere.</a:t>
            </a:r>
          </a:p>
          <a:p>
            <a:pPr>
              <a:spcBef>
                <a:spcPts val="1800"/>
              </a:spcBef>
              <a:defRPr sz="1400" b="1">
                <a:solidFill>
                  <a:srgbClr val="1B4D3E"/>
                </a:solidFill>
                <a:latin typeface="Consolas"/>
              </a:defRPr>
            </a:pPr>
            <a:r>
              <a:t>beschrijf_hand(hand_met_kleur, bord)</a:t>
            </a:r>
          </a:p>
          <a:p>
            <a:pPr>
              <a:spcBef>
                <a:spcPts val="600"/>
              </a:spcBef>
              <a:defRPr sz="1300" b="0">
                <a:solidFill>
                  <a:srgbClr val="121E31"/>
                </a:solidFill>
              </a:defRPr>
            </a:pPr>
            <a:r>
              <a:t>Geeft terug wat je wérkelijk hebt: 'one pair', 'three of a kind', 'flush'. Daarmee kun je regels schrijven op handsóórt in plaats van op een percentage.</a:t>
            </a:r>
          </a:p>
          <a:p>
            <a:pPr>
              <a:spcBef>
                <a:spcPts val="1800"/>
              </a:spcBef>
              <a:defRPr sz="1400" b="1">
                <a:solidFill>
                  <a:srgbClr val="1B4D3E"/>
                </a:solidFill>
                <a:latin typeface="Consolas"/>
              </a:defRPr>
            </a:pPr>
            <a:r>
              <a:t>vergelijk_handen(jouw_hand, andere_hand, bord)</a:t>
            </a:r>
          </a:p>
          <a:p>
            <a:pPr>
              <a:spcBef>
                <a:spcPts val="600"/>
              </a:spcBef>
              <a:defRPr sz="1300" b="0">
                <a:solidFill>
                  <a:srgbClr val="121E31"/>
                </a:solidFill>
              </a:defRPr>
            </a:pPr>
            <a:r>
              <a:t>Wie wint deze showdown? Zelfde evaluatie als het toernooi, dus inclusief kickers.</a:t>
            </a:r>
          </a:p>
          <a:p>
            <a:pPr>
              <a:spcBef>
                <a:spcPts val="1800"/>
              </a:spcBef>
              <a:defRPr sz="1300" b="1">
                <a:solidFill>
                  <a:srgbClr val="505A64"/>
                </a:solidFill>
              </a:defRPr>
            </a:pPr>
            <a:r>
              <a:t>Alle drie staan in _hulpfuncties_week3.py. Je kent ze uit Werkcollege 5, en in week 5 heeft bijna niemand ze nog gebruikt.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NU JIJ</a:t>
            </a:r>
          </a:p>
          <a:p>
            <a:pPr>
              <a:spcBef>
                <a:spcPts val="400"/>
              </a:spcBef>
              <a:defRPr sz="2400" b="1">
                <a:solidFill>
                  <a:srgbClr val="121E31"/>
                </a:solidFill>
              </a:defRPr>
            </a:pPr>
            <a:r>
              <a:t>Verander één ding, en schrijf op waarom</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800" b="1">
                <a:solidFill>
                  <a:srgbClr val="1B4D3E"/>
                </a:solidFill>
              </a:defRPr>
            </a:pPr>
            <a:r>
              <a:t>Eén ding. Niet drie.</a:t>
            </a:r>
          </a:p>
          <a:p>
            <a:pPr>
              <a:spcBef>
                <a:spcPts val="1000"/>
              </a:spcBef>
              <a:defRPr sz="1400" b="0">
                <a:solidFill>
                  <a:srgbClr val="121E31"/>
                </a:solidFill>
              </a:defRPr>
            </a:pPr>
            <a:r>
              <a:t>Verander je er drie tegelijk en je bot wordt beter, dan weet je donderdag nog steeds niet welke van de drie het deed.</a:t>
            </a:r>
          </a:p>
          <a:p>
            <a:pPr>
              <a:spcBef>
                <a:spcPts val="1800"/>
              </a:spcBef>
              <a:defRPr sz="1500" b="1">
                <a:solidFill>
                  <a:srgbClr val="121E31"/>
                </a:solidFill>
              </a:defRPr>
            </a:pPr>
            <a:r>
              <a:t>Kandidaten uit vanmiddag:</a:t>
            </a:r>
          </a:p>
          <a:p>
            <a:pPr>
              <a:spcBef>
                <a:spcPts val="600"/>
              </a:spcBef>
              <a:defRPr sz="1400" b="0">
                <a:solidFill>
                  <a:srgbClr val="121E31"/>
                </a:solidFill>
                <a:latin typeface="Consolas"/>
              </a:defRPr>
            </a:pPr>
            <a:r>
              <a:t>een van je drempels — STERK, MEEDOEN, ZWAK</a:t>
            </a:r>
          </a:p>
          <a:p>
            <a:pPr>
              <a:spcBef>
                <a:spcPts val="400"/>
              </a:spcBef>
              <a:defRPr sz="1400" b="0">
                <a:solidFill>
                  <a:srgbClr val="121E31"/>
                </a:solidFill>
                <a:latin typeface="Consolas"/>
              </a:defRPr>
            </a:pPr>
            <a:r>
              <a:t>TEGENSTANDERS, want dat verschuift je hele schaal</a:t>
            </a:r>
          </a:p>
          <a:p>
            <a:pPr>
              <a:spcBef>
                <a:spcPts val="400"/>
              </a:spcBef>
              <a:defRPr sz="1400" b="0">
                <a:solidFill>
                  <a:srgbClr val="121E31"/>
                </a:solidFill>
                <a:latin typeface="Consolas"/>
              </a:defRPr>
            </a:pPr>
            <a:r>
              <a:t>de volgorde van je regels</a:t>
            </a:r>
          </a:p>
          <a:p>
            <a:pPr>
              <a:spcBef>
                <a:spcPts val="400"/>
              </a:spcBef>
              <a:defRPr sz="1400" b="0">
                <a:solidFill>
                  <a:srgbClr val="121E31"/>
                </a:solidFill>
                <a:latin typeface="Consolas"/>
              </a:defRPr>
            </a:pPr>
            <a:r>
              <a:t>een hand uit het snijpunt niet meer wegfolden</a:t>
            </a:r>
          </a:p>
          <a:p>
            <a:pPr>
              <a:spcBef>
                <a:spcPts val="1800"/>
              </a:spcBef>
              <a:defRPr sz="1400" b="1">
                <a:solidFill>
                  <a:srgbClr val="B3261E"/>
                </a:solidFill>
              </a:defRPr>
            </a:pPr>
            <a:r>
              <a:t>Schrijf in een comment op WAT je veranderde en WELK getal van vanmiddag die keuze onderbouwt. Dat is ook je antwoord bij de overhoring van volgende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