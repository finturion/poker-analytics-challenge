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Begin hier, en laat even bezinken hoe groot dit is. Twintigduizend beslissingen van dertig bots.</a:t>
            </a:r>
          </a:p>
          <a:p/>
          <a:p>
            <a:r>
              <a:t>De sprong die ze vandaag maken: tot nu toe was data iets wat ze kregen. Dit hebben ze zelf gegenereerd, door een bot te schrijven.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Fold 65.9%, call 21.0%, raise 12.0%.</a:t>
            </a:r>
          </a:p>
          <a:p/>
          <a:p>
            <a:r>
              <a:t>Vraag het eerst aan de zaal voor je het laat zien: hoeveel procent denken jullie? De meesten schatten veel te laag.</a:t>
            </a:r>
          </a:p>
          <a:p/>
          <a:p>
            <a:r>
              <a:t>En dan de vervolgvraag die de hele middag draagt: als twee op de drie beslissingen een fold is, wat betekent dat voor jouw bot? Agressie is goedkoop tegen een tafel die wegloopt.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mediaan ligt op 72,3%. De bot die hier oranje is, zit op 75,6%.</a:t>
            </a:r>
          </a:p>
          <a:p/>
          <a:p>
            <a:r>
              <a:t>Laat ze zichzelf opzoeken — dat is de opdracht in 3.2. Wie boven de 80% zit doet nauwelijks mee; wie onder de 20% zit betaalt overal aan mee.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Dit is de statistiek die ik er zelf bij heb gezocht, en de uitkomst verraste me: een correlatie van +0,45 tussen fold-percentage en eindstand. In dít veld deden de tightere bots het beter.</a:t>
            </a:r>
          </a:p>
          <a:p/>
          <a:p>
            <a:r>
              <a:t>Belangrijk om erbij te zeggen: dat is geen algemene pokerwaarheid. Het zegt iets over dit veld — er zitten een paar bots in die alles callen, en die verliezen langzaam hun chips aan iedereen. Tegen een tafel vol tighte bots zou de lijn andersom kunnen lopen.</a:t>
            </a:r>
          </a:p>
          <a:p/>
          <a:p>
            <a:r>
              <a:t>Goede vraag voor de zaal: is dit oorzaak of gevolg?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Dit is mijn favoriete plaat van de middag. Niemand heeft zijn code gedeeld, en toch zie je precies waar de klas zijn grens legt.</a:t>
            </a:r>
          </a:p>
          <a:p/>
          <a:p>
            <a:r>
              <a:t>Let op het patroon: de diagonaal (paren) is licht, de linkerbovenhoek (aas, heer) is licht, en rechtsonder wordt alles weggegooid. Dat is de winkans-tabel uit Werkcollege 5 — maar dan afgeleid uit gedrag in plaats van uit een simulatie.</a:t>
            </a:r>
          </a:p>
          <a:p/>
          <a:p>
            <a:r>
              <a:t>De kleur is één hue van licht naar donker, want dit is een oplopende schaal en geen set categorieën.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 twee kleuren om een nulpunt heen, want winst heeft een richting.</a:t>
            </a:r>
          </a:p>
          <a:p/>
          <a:p>
            <a:r>
              <a:t>A-A staat ver boven de rest; de schaal is op het 92e percentiel afgekapt, anders zou al het andere wit worden. Dat is een keuze die je hardop moet maken en niet stilletjes.</a:t>
            </a:r>
          </a:p>
          <a:p/>
          <a:p>
            <a:r>
              <a:t>De vraag die telt: leg deze plaat naast de vorige. Waar is een vakje donkergroen in déze, en donkergroen in die? Dan gooit de klas iets weg waar geld in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Hier komen 3.3 en 3.4 samen, en dit is wat ik ze mee wil geven: data science levert zelden een antwoord, het levert een kandidaat.</a:t>
            </a:r>
          </a:p>
          <a:p/>
          <a:p>
            <a:r>
              <a:t>Die tweede vraag is de eerlijke. Wie deze hand speelde was misschien juist de betere bot, en dan meet je de bot en niet de hand. Dat heet selectie-effect, en het is de reden dat je het op donderdag toetst in plaats van het te geloven.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beste bot haalde gemiddeld 1.690 chips, met een standaarddeviatie van 1.067. De nummer twee zit op 1.666.</a:t>
            </a:r>
          </a:p>
          <a:p/>
          <a:p>
            <a:r>
              <a:t>Het verschil tussen nummer 1 en nummer 2 is kleiner dan de spreiding binnen één bot. Laat dat even staan.</a:t>
            </a:r>
          </a:p>
          <a:p/>
          <a:p>
            <a:r>
              <a:t>Daarom loopt de bonus over twee toernooien, en daarom is 'ik ben gezakt van plek 3 naar plek 9' geen bewijs dat je bot slechter is geworden.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Sluit hiermee af, en wijs vooruit: donderdagochtend draait de oefenronde. Dan weten ze binnen een dag of hun verandering iets deed.</a:t>
            </a:r>
          </a:p>
          <a:p/>
          <a:p>
            <a:r>
              <a:t>Dat is de hele cyclus die dit vak wil laten zien: meten, concluderen, aanpassen, opnieuw meten. Niet één keer een analyse maken en hopen.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WEEK 5 · WERKCOLLEGE 8</a:t>
            </a:r>
          </a:p>
          <a:p>
            <a:pPr>
              <a:spcBef>
                <a:spcPts val="1000"/>
              </a:spcBef>
              <a:defRPr sz="4000" b="1">
                <a:solidFill>
                  <a:srgbClr val="FFFFFF"/>
                </a:solidFill>
              </a:defRPr>
            </a:pPr>
            <a:r>
              <a:t>Wat zegt de data over je bot?</a:t>
            </a:r>
          </a:p>
          <a:p>
            <a:pPr>
              <a:spcBef>
                <a:spcPts val="800"/>
              </a:spcBef>
              <a:defRPr sz="2000" b="0">
                <a:solidFill>
                  <a:srgbClr val="DCE1E6"/>
                </a:solidFill>
              </a:defRPr>
            </a:pPr>
            <a:r>
              <a:t>20.912 beslissingen van 30 bots. vanmorgen gespeeld</a:t>
            </a:r>
          </a:p>
          <a:p>
            <a:pPr>
              <a:spcBef>
                <a:spcPts val="1800"/>
              </a:spcBef>
              <a:defRPr sz="1400" b="0">
                <a:solidFill>
                  <a:srgbClr val="DCE1E6"/>
                </a:solidFill>
              </a:defRPr>
            </a:pPr>
            <a:r>
              <a:t>Vandaag lever je niets in. Je onderzoekt — en verandert daarna één ding.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DE DATASET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Wat je vandaag in handen hebt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10698480" cy="4480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20240"/>
            <a:ext cx="9875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4D3E"/>
                </a:solidFill>
              </a:defRPr>
            </a:pPr>
            <a:r>
              <a:t>30 bots  ·  20 simulaties  ·  24.000 regels</a:t>
            </a:r>
          </a:p>
          <a:p>
            <a:pPr>
              <a:spcBef>
                <a:spcPts val="1000"/>
              </a:spcBef>
              <a:defRPr sz="1400" b="0">
                <a:solidFill>
                  <a:srgbClr val="121E31"/>
                </a:solidFill>
              </a:defRPr>
            </a:pPr>
            <a:r>
              <a:t>Daarvan 20.912 regels waarin een bot écht aan zet kwam.</a:t>
            </a:r>
          </a:p>
          <a:p>
            <a:pPr>
              <a:spcBef>
                <a:spcPts val="800"/>
              </a:spcBef>
              <a:defRPr sz="1400" b="0">
                <a:solidFill>
                  <a:srgbClr val="121E31"/>
                </a:solidFill>
              </a:defRPr>
            </a:pPr>
            <a:r>
              <a:t>Per regel: welke bot, welke simulatie, welke hand, welke twee kaarten, welke actie, en zijn stack daarna.</a:t>
            </a:r>
          </a:p>
          <a:p>
            <a:pPr>
              <a:spcBef>
                <a:spcPts val="800"/>
              </a:spcBef>
              <a:defRPr sz="1400" b="0">
                <a:solidFill>
                  <a:srgbClr val="121E31"/>
                </a:solidFill>
              </a:defRPr>
            </a:pPr>
            <a:r>
              <a:t>Die laatste twee samen geven je wat elke hand opleverde — en daarmee kun je alles hieronder uitrekenen.</a:t>
            </a:r>
          </a:p>
          <a:p>
            <a:pPr>
              <a:spcBef>
                <a:spcPts val="1800"/>
              </a:spcBef>
              <a:defRPr sz="1500" b="1">
                <a:solidFill>
                  <a:srgbClr val="B3261E"/>
                </a:solidFill>
              </a:defRPr>
            </a:pPr>
            <a:r>
              <a:t>Dit is geen oefendataset. Dit heeft de klas vanmorgen zelf gespeeld.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3.2 · DE KLAS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Twee op de drie beslissingen is een fold</a:t>
            </a:r>
          </a:p>
        </p:txBody>
      </p:sp>
      <p:pic>
        <p:nvPicPr>
          <p:cNvPr id="4" name="Picture 3" descr="wc8_ac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873" y="1600200"/>
            <a:ext cx="10387949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3.2 · EN JIJ?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Waar sta jij in die verdeling?</a:t>
            </a:r>
          </a:p>
        </p:txBody>
      </p:sp>
      <p:pic>
        <p:nvPicPr>
          <p:cNvPr id="4" name="Picture 3" descr="wc8_foldverde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403" y="1600200"/>
            <a:ext cx="8494889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DE VERRASSING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Tight spelen wérkt hier   ·   r = +0,45</a:t>
            </a:r>
          </a:p>
        </p:txBody>
      </p:sp>
      <p:pic>
        <p:nvPicPr>
          <p:cNvPr id="4" name="Picture 3" descr="wc8_fold_vs_eindst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178" y="1600200"/>
            <a:ext cx="8193338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3.3 · GEDRAG LEZEN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De drempels van de klas, zonder één regel code te zien</a:t>
            </a:r>
          </a:p>
        </p:txBody>
      </p:sp>
      <p:pic>
        <p:nvPicPr>
          <p:cNvPr id="4" name="Picture 3" descr="wc8_matrix_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625" y="1600200"/>
            <a:ext cx="6480444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3.4 · EN WAT LEVERDE OP?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Dezelfde 91 handen, nu op geld</a:t>
            </a:r>
          </a:p>
        </p:txBody>
      </p:sp>
      <p:pic>
        <p:nvPicPr>
          <p:cNvPr id="4" name="Picture 3" descr="wc8_matrix_win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98" y="1600200"/>
            <a:ext cx="4876299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HET SNIJPUNT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Weggegooid, en toch winstgevend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10698480" cy="4480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20240"/>
            <a:ext cx="9875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400" b="0">
                <a:solidFill>
                  <a:srgbClr val="121E31"/>
                </a:solidFill>
                <a:latin typeface="Consolas"/>
              </a:defRPr>
            </a:pPr>
            <a:r>
              <a:t>2-2       97x gespeeld    64% gefold    gemiddeld +33 chips</a:t>
            </a:r>
          </a:p>
          <a:p>
            <a:pPr>
              <a:spcBef>
                <a:spcPts val="400"/>
              </a:spcBef>
              <a:defRPr sz="1400" b="0">
                <a:solidFill>
                  <a:srgbClr val="121E31"/>
                </a:solidFill>
                <a:latin typeface="Consolas"/>
              </a:defRPr>
            </a:pPr>
            <a:r>
              <a:t>Q-9      245x gespeeld    59% gefold    gemiddeld +16 chips</a:t>
            </a:r>
          </a:p>
          <a:p>
            <a:pPr>
              <a:spcBef>
                <a:spcPts val="400"/>
              </a:spcBef>
              <a:defRPr sz="1400" b="0">
                <a:solidFill>
                  <a:srgbClr val="121E31"/>
                </a:solidFill>
                <a:latin typeface="Consolas"/>
              </a:defRPr>
            </a:pPr>
            <a:r>
              <a:t>K-7      283x gespeeld    56% gefold    gemiddeld +14 chips</a:t>
            </a:r>
          </a:p>
          <a:p>
            <a:pPr>
              <a:spcBef>
                <a:spcPts val="400"/>
              </a:spcBef>
              <a:defRPr sz="1400" b="0">
                <a:solidFill>
                  <a:srgbClr val="121E31"/>
                </a:solidFill>
                <a:latin typeface="Consolas"/>
              </a:defRPr>
            </a:pPr>
            <a:r>
              <a:t>K-3      223x gespeeld    63% gefold    gemiddeld +12 chips</a:t>
            </a:r>
          </a:p>
          <a:p>
            <a:pPr>
              <a:spcBef>
                <a:spcPts val="400"/>
              </a:spcBef>
              <a:defRPr sz="1400" b="0">
                <a:solidFill>
                  <a:srgbClr val="121E31"/>
                </a:solidFill>
                <a:latin typeface="Consolas"/>
              </a:defRPr>
            </a:pPr>
            <a:r>
              <a:t>K-8      271x gespeeld    53% gefold    gemiddeld +8 chips</a:t>
            </a:r>
          </a:p>
          <a:p>
            <a:pPr>
              <a:spcBef>
                <a:spcPts val="1800"/>
              </a:spcBef>
              <a:defRPr sz="1400" b="1">
                <a:solidFill>
                  <a:srgbClr val="1B4D3E"/>
                </a:solidFill>
              </a:defRPr>
            </a:pPr>
            <a:r>
              <a:t>Deze handen worden vaker gefold dan gespeeld, maar leveren geld op wanneer er wél mee gespeeld wordt.</a:t>
            </a:r>
          </a:p>
          <a:p>
            <a:pPr>
              <a:spcBef>
                <a:spcPts val="1200"/>
              </a:spcBef>
              <a:defRPr sz="1300" b="0">
                <a:solidFill>
                  <a:srgbClr val="505A64"/>
                </a:solidFill>
              </a:defRPr>
            </a:pPr>
            <a:r>
              <a:t>Is dat een kans, of kijk je naar de handen die toevallig goed afliepen? Dat is precies de vraag die je met deze data niet helemaal kunt beslechten.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3.5 · HOEVEEL IS TOEVAL?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Dezelfde bot, twintig keer gespeeld</a:t>
            </a:r>
          </a:p>
        </p:txBody>
      </p:sp>
      <p:pic>
        <p:nvPicPr>
          <p:cNvPr id="4" name="Picture 3" descr="wc8_sprei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489" y="1600200"/>
            <a:ext cx="806271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EN NU JIJ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Verander één ding, en schrijf op waarom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10698480" cy="4480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20240"/>
            <a:ext cx="9875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4D3E"/>
                </a:solidFill>
              </a:defRPr>
            </a:pPr>
            <a:r>
              <a:t>Eén ding. Niet drie.</a:t>
            </a:r>
          </a:p>
          <a:p>
            <a:pPr>
              <a:spcBef>
                <a:spcPts val="1000"/>
              </a:spcBef>
              <a:defRPr sz="1400" b="0">
                <a:solidFill>
                  <a:srgbClr val="121E31"/>
                </a:solidFill>
              </a:defRPr>
            </a:pPr>
            <a:r>
              <a:t>Verander je er drie tegelijk en je bot wordt beter, dan weet je donderdag nog steeds niet welke van de drie het deed.</a:t>
            </a:r>
          </a:p>
          <a:p>
            <a:pPr>
              <a:spcBef>
                <a:spcPts val="1800"/>
              </a:spcBef>
              <a:defRPr sz="1500" b="1">
                <a:solidFill>
                  <a:srgbClr val="121E31"/>
                </a:solidFill>
              </a:defRPr>
            </a:pPr>
            <a:r>
              <a:t>Kandidaten uit vanmiddag:</a:t>
            </a:r>
          </a:p>
          <a:p>
            <a:pPr>
              <a:spcBef>
                <a:spcPts val="600"/>
              </a:spcBef>
              <a:defRPr sz="1400" b="0">
                <a:solidFill>
                  <a:srgbClr val="121E31"/>
                </a:solidFill>
                <a:latin typeface="Consolas"/>
              </a:defRPr>
            </a:pPr>
            <a:r>
              <a:t>een van je drempels — STERK, MEEDOEN, ZWAK</a:t>
            </a:r>
          </a:p>
          <a:p>
            <a:pPr>
              <a:spcBef>
                <a:spcPts val="400"/>
              </a:spcBef>
              <a:defRPr sz="1400" b="0">
                <a:solidFill>
                  <a:srgbClr val="121E31"/>
                </a:solidFill>
                <a:latin typeface="Consolas"/>
              </a:defRPr>
            </a:pPr>
            <a:r>
              <a:t>TEGENSTANDERS, want dat verschuift je hele schaal</a:t>
            </a:r>
          </a:p>
          <a:p>
            <a:pPr>
              <a:spcBef>
                <a:spcPts val="400"/>
              </a:spcBef>
              <a:defRPr sz="1400" b="0">
                <a:solidFill>
                  <a:srgbClr val="121E31"/>
                </a:solidFill>
                <a:latin typeface="Consolas"/>
              </a:defRPr>
            </a:pPr>
            <a:r>
              <a:t>de volgorde van je regels</a:t>
            </a:r>
          </a:p>
          <a:p>
            <a:pPr>
              <a:spcBef>
                <a:spcPts val="400"/>
              </a:spcBef>
              <a:defRPr sz="1400" b="0">
                <a:solidFill>
                  <a:srgbClr val="121E31"/>
                </a:solidFill>
                <a:latin typeface="Consolas"/>
              </a:defRPr>
            </a:pPr>
            <a:r>
              <a:t>een hand uit het snijpunt niet meer wegfolden</a:t>
            </a:r>
          </a:p>
          <a:p>
            <a:pPr>
              <a:spcBef>
                <a:spcPts val="1800"/>
              </a:spcBef>
              <a:defRPr sz="1400" b="1">
                <a:solidFill>
                  <a:srgbClr val="B3261E"/>
                </a:solidFill>
              </a:defRPr>
            </a:pPr>
            <a:r>
              <a:t>Schrijf in een comment op WAT je veranderde en WELK getal van vanmiddag die keuze onderbouwt. Dat is ook je antwoord bij de overhoring van volgende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