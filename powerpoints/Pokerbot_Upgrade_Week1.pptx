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28"/>
  </p:normalViewPr>
  <p:slideViewPr>
    <p:cSldViewPr snapToGrid="0" snapToObjects="1">
      <p:cViewPr varScale="1">
        <p:scale>
          <a:sx n="114" d="100"/>
          <a:sy n="114" d="100"/>
        </p:scale>
        <p:origin x="664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523912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Welkom bij Deel 2! We gaan de zojuist geleerde basis van Python direct toepassen in een echte context: het simuleren van pokerkaarten en het bouwen van Bot Versie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Benadruk dat poker een afspiegeling is van reële data science: besluitvorming onder onvolledige data en sturen op kansen op lange termijn.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Let op de deadline: woensdag om 13:40 uur moet de API-check succesvol zijn doorlopen.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Leg uit: we trekken kaarten ZONDER terugleggen binnen één hand. De rode stippellijn toont het theoretische gemiddelde.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Benadruk dat de functienaam 'kies_actie' en parameter 'beide_kaarten' exact zo moeten heten. De API test direct of deze functie bestaat en geldige acties returnt.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Verbind dit met Visual Hierarchy: laat zien hoe de datalabels direct vertellen wat belangrijk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 deadline is woensdag om 13:40 uur. Zodra de API '200 OK - Inzending goedgekeurd' teruggeeft, is de afvink geregistreerd.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Zet eventueel een timer op het scherm van 35 minuten. Loop rond om studenten te helpen met vragen.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E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2011680"/>
            <a:ext cx="10058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4FC3A1"/>
                </a:solidFill>
              </a:defRPr>
            </a:pPr>
            <a:r>
              <a:t>POKERBOT ANALYTICS CHALLENGE</a:t>
            </a:r>
          </a:p>
          <a:p>
            <a:pPr>
              <a:spcBef>
                <a:spcPts val="800"/>
              </a:spcBef>
              <a:defRPr sz="4000" b="1">
                <a:solidFill>
                  <a:srgbClr val="FFFFFF"/>
                </a:solidFill>
              </a:defRPr>
            </a:pPr>
            <a:r>
              <a:t>Week 1: De Eerste Deal 🃏</a:t>
            </a:r>
          </a:p>
          <a:p>
            <a:pPr>
              <a:spcBef>
                <a:spcPts val="1200"/>
              </a:spcBef>
              <a:defRPr sz="1800">
                <a:solidFill>
                  <a:srgbClr val="C8D2DC"/>
                </a:solidFill>
              </a:defRPr>
            </a:pPr>
            <a:r>
              <a:t>Van data genereren via kanssimulaties naar je allereerste beslis-bot in Python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301083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B4D3E"/>
                </a:solidFill>
              </a:defRPr>
            </a:pPr>
            <a:r>
              <a:t>WAAROM DEZE UITDAGING?</a:t>
            </a:r>
          </a:p>
          <a:p>
            <a:pPr>
              <a:spcBef>
                <a:spcPts val="400"/>
              </a:spcBef>
              <a:defRPr sz="2400" b="1">
                <a:solidFill>
                  <a:srgbClr val="121E31"/>
                </a:solidFill>
              </a:defRPr>
            </a:pPr>
            <a:r>
              <a:t>Waarom Poker? De Ultieme Data Science Casus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74320" rtlCol="0" anchor="ctr"/>
          <a:lstStyle/>
          <a:p>
            <a:pPr algn="ctr">
              <a:defRPr sz="1500" b="1">
                <a:solidFill>
                  <a:srgbClr val="121E31"/>
                </a:solidFill>
              </a:defRPr>
            </a:pPr>
            <a:r>
              <a:rPr dirty="0"/>
              <a:t>🎲 </a:t>
            </a:r>
            <a:r>
              <a:rPr dirty="0" err="1"/>
              <a:t>Onvolledige</a:t>
            </a:r>
            <a:r>
              <a:rPr dirty="0"/>
              <a:t> </a:t>
            </a:r>
            <a:r>
              <a:rPr dirty="0" err="1"/>
              <a:t>Informatie</a:t>
            </a:r>
            <a:endParaRPr dirty="0"/>
          </a:p>
          <a:p>
            <a:pPr>
              <a:spcBef>
                <a:spcPts val="1200"/>
              </a:spcBef>
              <a:defRPr sz="1100">
                <a:solidFill>
                  <a:srgbClr val="505A64"/>
                </a:solidFill>
              </a:defRPr>
            </a:pPr>
            <a:r>
              <a:rPr dirty="0"/>
              <a:t>In </a:t>
            </a:r>
            <a:r>
              <a:rPr dirty="0" err="1"/>
              <a:t>schaken</a:t>
            </a:r>
            <a:r>
              <a:rPr dirty="0"/>
              <a:t> </a:t>
            </a:r>
            <a:r>
              <a:rPr dirty="0" err="1"/>
              <a:t>ligt</a:t>
            </a:r>
            <a:r>
              <a:rPr dirty="0"/>
              <a:t> </a:t>
            </a:r>
            <a:r>
              <a:rPr dirty="0" err="1"/>
              <a:t>alles</a:t>
            </a:r>
            <a:r>
              <a:rPr dirty="0"/>
              <a:t> open op </a:t>
            </a:r>
            <a:r>
              <a:rPr dirty="0" err="1"/>
              <a:t>tafel</a:t>
            </a:r>
            <a:r>
              <a:rPr dirty="0"/>
              <a:t>. Poker </a:t>
            </a:r>
            <a:r>
              <a:rPr dirty="0" err="1"/>
              <a:t>simuleert</a:t>
            </a:r>
            <a:r>
              <a:rPr dirty="0"/>
              <a:t> de </a:t>
            </a:r>
            <a:r>
              <a:rPr dirty="0" err="1"/>
              <a:t>echte</a:t>
            </a:r>
            <a:r>
              <a:rPr dirty="0"/>
              <a:t> </a:t>
            </a:r>
            <a:r>
              <a:rPr dirty="0" err="1"/>
              <a:t>praktijk</a:t>
            </a:r>
            <a:r>
              <a:rPr dirty="0"/>
              <a:t>: </a:t>
            </a:r>
            <a:r>
              <a:rPr dirty="0" err="1"/>
              <a:t>beslissingen</a:t>
            </a:r>
            <a:r>
              <a:rPr dirty="0"/>
              <a:t> </a:t>
            </a:r>
            <a:r>
              <a:rPr dirty="0" err="1"/>
              <a:t>nemen</a:t>
            </a:r>
            <a:r>
              <a:rPr dirty="0"/>
              <a:t> </a:t>
            </a:r>
            <a:r>
              <a:rPr dirty="0" err="1"/>
              <a:t>onder</a:t>
            </a:r>
            <a:r>
              <a:rPr dirty="0"/>
              <a:t> </a:t>
            </a:r>
            <a:r>
              <a:rPr dirty="0" err="1"/>
              <a:t>onzekerheid</a:t>
            </a:r>
            <a:r>
              <a:rPr dirty="0"/>
              <a:t> met </a:t>
            </a:r>
            <a:r>
              <a:rPr dirty="0" err="1"/>
              <a:t>verborgen</a:t>
            </a:r>
            <a:r>
              <a:rPr dirty="0"/>
              <a:t> data.</a:t>
            </a:r>
            <a:r>
              <a:rPr lang="nl-NL" dirty="0"/>
              <a:t> Je kan dus bluffen!</a:t>
            </a:r>
            <a:endParaRPr dirty="0"/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74320" rtlCol="0" anchor="ctr"/>
          <a:lstStyle/>
          <a:p>
            <a:pPr algn="ctr">
              <a:defRPr sz="1500" b="1">
                <a:solidFill>
                  <a:srgbClr val="121E31"/>
                </a:solidFill>
              </a:defRPr>
            </a:pPr>
            <a:r>
              <a:rPr dirty="0"/>
              <a:t>📈 Expected Value (EV)</a:t>
            </a:r>
          </a:p>
          <a:p>
            <a:pPr>
              <a:spcBef>
                <a:spcPts val="1200"/>
              </a:spcBef>
              <a:defRPr sz="1100">
                <a:solidFill>
                  <a:srgbClr val="505A64"/>
                </a:solidFill>
              </a:defRPr>
            </a:pPr>
            <a:r>
              <a:rPr dirty="0" err="1"/>
              <a:t>Kansberekening</a:t>
            </a:r>
            <a:r>
              <a:rPr dirty="0"/>
              <a:t> </a:t>
            </a:r>
            <a:r>
              <a:rPr lang="nl-NL" dirty="0"/>
              <a:t>is belangrijk</a:t>
            </a:r>
            <a:r>
              <a:rPr dirty="0"/>
              <a:t>. Succes </a:t>
            </a:r>
            <a:r>
              <a:rPr dirty="0" err="1"/>
              <a:t>draait</a:t>
            </a:r>
            <a:r>
              <a:rPr dirty="0"/>
              <a:t> </a:t>
            </a:r>
            <a:r>
              <a:rPr dirty="0" err="1"/>
              <a:t>niet</a:t>
            </a:r>
            <a:r>
              <a:rPr dirty="0"/>
              <a:t> om </a:t>
            </a:r>
            <a:r>
              <a:rPr dirty="0" err="1"/>
              <a:t>één</a:t>
            </a:r>
            <a:r>
              <a:rPr dirty="0"/>
              <a:t> </a:t>
            </a:r>
            <a:r>
              <a:rPr dirty="0" err="1"/>
              <a:t>enkele</a:t>
            </a:r>
            <a:r>
              <a:rPr dirty="0"/>
              <a:t> </a:t>
            </a:r>
            <a:r>
              <a:rPr dirty="0" err="1"/>
              <a:t>winnende</a:t>
            </a:r>
            <a:r>
              <a:rPr dirty="0"/>
              <a:t> hand, maar om </a:t>
            </a:r>
            <a:r>
              <a:rPr dirty="0" err="1"/>
              <a:t>beslissingen</a:t>
            </a:r>
            <a:r>
              <a:rPr dirty="0"/>
              <a:t> met </a:t>
            </a:r>
            <a:r>
              <a:rPr dirty="0" err="1"/>
              <a:t>een</a:t>
            </a:r>
            <a:r>
              <a:rPr dirty="0"/>
              <a:t> </a:t>
            </a:r>
            <a:r>
              <a:rPr dirty="0" err="1"/>
              <a:t>structureel</a:t>
            </a:r>
            <a:r>
              <a:rPr dirty="0"/>
              <a:t> </a:t>
            </a:r>
            <a:r>
              <a:rPr dirty="0" err="1"/>
              <a:t>positieve</a:t>
            </a:r>
            <a:r>
              <a:rPr dirty="0"/>
              <a:t> </a:t>
            </a:r>
            <a:r>
              <a:rPr dirty="0" err="1"/>
              <a:t>verwachtingswaarde</a:t>
            </a:r>
            <a:r>
              <a:rPr dirty="0"/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74320" rtlCol="0" anchor="ctr"/>
          <a:lstStyle/>
          <a:p>
            <a:pPr algn="ctr">
              <a:defRPr sz="1500" b="1">
                <a:solidFill>
                  <a:srgbClr val="121E31"/>
                </a:solidFill>
              </a:defRPr>
            </a:pPr>
            <a:r>
              <a:t>🤖 Opponent Modeling</a:t>
            </a:r>
          </a:p>
          <a:p>
            <a:pPr>
              <a:spcBef>
                <a:spcPts val="1200"/>
              </a:spcBef>
              <a:defRPr sz="1100">
                <a:solidFill>
                  <a:srgbClr val="505A64"/>
                </a:solidFill>
              </a:defRPr>
            </a:pPr>
            <a:r>
              <a:t>Data science in actie: ontdek patronen in het gedrag van tegenstanders en optimaliseer je logica om hun speelstijl te exploiteren.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B4D3E"/>
                </a:solidFill>
              </a:defRPr>
            </a:pPr>
            <a:r>
              <a:t>WERKCOLLEGE 1 • DEEL 2</a:t>
            </a:r>
          </a:p>
          <a:p>
            <a:pPr>
              <a:spcBef>
                <a:spcPts val="400"/>
              </a:spcBef>
              <a:defRPr sz="2400" b="1">
                <a:solidFill>
                  <a:srgbClr val="121E31"/>
                </a:solidFill>
              </a:defRPr>
            </a:pPr>
            <a:r>
              <a:t>Programma &amp; Planning voor vandaag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365760" rtlCol="0" anchor="ctr"/>
          <a:lstStyle/>
          <a:p>
            <a:pPr algn="ctr">
              <a:defRPr sz="1800" b="1">
                <a:solidFill>
                  <a:srgbClr val="121E31"/>
                </a:solidFill>
              </a:defRPr>
            </a:pPr>
            <a:r>
              <a:t>⏱️ Tijdverdeling</a:t>
            </a:r>
          </a:p>
          <a:p>
            <a:pPr>
              <a:spcBef>
                <a:spcPts val="1200"/>
              </a:spcBef>
              <a:defRPr sz="1300" b="1">
                <a:solidFill>
                  <a:srgbClr val="1B4D3E"/>
                </a:solidFill>
              </a:defRPr>
            </a:pPr>
            <a:r>
              <a:t>• 15 min (Klassikaal nu)</a:t>
            </a:r>
          </a:p>
          <a:p>
            <a:pPr>
              <a:defRPr sz="1100">
                <a:solidFill>
                  <a:srgbClr val="505A64"/>
                </a:solidFill>
              </a:defRPr>
            </a:pPr>
            <a:r>
              <a:t>   Concepten bespreken: simulaties, bot-functies &amp; visual hierarchy.</a:t>
            </a:r>
          </a:p>
          <a:p>
            <a:pPr>
              <a:spcBef>
                <a:spcPts val="1200"/>
              </a:spcBef>
              <a:defRPr sz="1300" b="1">
                <a:solidFill>
                  <a:srgbClr val="1B4D3E"/>
                </a:solidFill>
              </a:defRPr>
            </a:pPr>
            <a:r>
              <a:t>• 35 min (Zelf aan de slag)</a:t>
            </a:r>
          </a:p>
          <a:p>
            <a:pPr>
              <a:defRPr sz="1100">
                <a:solidFill>
                  <a:srgbClr val="505A64"/>
                </a:solidFill>
              </a:defRPr>
            </a:pPr>
            <a:r>
              <a:t>   Starten in het Jupyter Notebook en je bot-functie schrijven.</a:t>
            </a:r>
          </a:p>
          <a:p>
            <a:pPr>
              <a:spcBef>
                <a:spcPts val="1200"/>
              </a:spcBef>
              <a:defRPr sz="1300" b="1">
                <a:solidFill>
                  <a:srgbClr val="1B4D3E"/>
                </a:solidFill>
              </a:defRPr>
            </a:pPr>
            <a:r>
              <a:t>• Huiswerk (tot wo 13:40)</a:t>
            </a:r>
          </a:p>
          <a:p>
            <a:pPr>
              <a:defRPr sz="1100">
                <a:solidFill>
                  <a:srgbClr val="505A64"/>
                </a:solidFill>
              </a:defRPr>
            </a:pPr>
            <a:r>
              <a:t>   Afronden, visualisatie polijsten en inleveren via de API.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365760" rtlCol="0" anchor="ctr"/>
          <a:lstStyle/>
          <a:p>
            <a:pPr algn="ctr">
              <a:defRPr sz="1800" b="1">
                <a:solidFill>
                  <a:srgbClr val="121E31"/>
                </a:solidFill>
              </a:defRPr>
            </a:pPr>
            <a:r>
              <a:t>🎯 De 3 Kerndoelen</a:t>
            </a:r>
          </a:p>
          <a:p>
            <a:pPr>
              <a:spcBef>
                <a:spcPts val="1200"/>
              </a:spcBef>
              <a:defRPr sz="1300" b="1">
                <a:solidFill>
                  <a:srgbClr val="1B4D3E"/>
                </a:solidFill>
              </a:defRPr>
            </a:pPr>
            <a:r>
              <a:t>• 1. Data Genereren</a:t>
            </a:r>
          </a:p>
          <a:p>
            <a:pPr>
              <a:defRPr sz="1100">
                <a:solidFill>
                  <a:srgbClr val="505A64"/>
                </a:solidFill>
              </a:defRPr>
            </a:pPr>
            <a:r>
              <a:t>   10.000 handen simuleren via random sampling zonder terugleggen.</a:t>
            </a:r>
          </a:p>
          <a:p>
            <a:pPr>
              <a:spcBef>
                <a:spcPts val="1200"/>
              </a:spcBef>
              <a:defRPr sz="1300" b="1">
                <a:solidFill>
                  <a:srgbClr val="1B4D3E"/>
                </a:solidFill>
              </a:defRPr>
            </a:pPr>
            <a:r>
              <a:t>• 2. Bot v1 Programmeren</a:t>
            </a:r>
          </a:p>
          <a:p>
            <a:pPr>
              <a:defRPr sz="1100">
                <a:solidFill>
                  <a:srgbClr val="505A64"/>
                </a:solidFill>
              </a:defRPr>
            </a:pPr>
            <a:r>
              <a:t>   Een werkende Python-functie `kies_actie(beide_kaarten)` opleveren.</a:t>
            </a:r>
          </a:p>
          <a:p>
            <a:pPr>
              <a:spcBef>
                <a:spcPts val="1200"/>
              </a:spcBef>
              <a:defRPr sz="1300" b="1">
                <a:solidFill>
                  <a:srgbClr val="1B4D3E"/>
                </a:solidFill>
              </a:defRPr>
            </a:pPr>
            <a:r>
              <a:t>• 3. Visualiseren &amp; Exporteren</a:t>
            </a:r>
          </a:p>
          <a:p>
            <a:pPr>
              <a:defRPr sz="1100">
                <a:solidFill>
                  <a:srgbClr val="505A64"/>
                </a:solidFill>
              </a:defRPr>
            </a:pPr>
            <a:r>
              <a:t>   Verdeling plotten in Seaborn en als .py-bestand klaarzetten.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B4D3E"/>
                </a:solidFill>
              </a:defRPr>
            </a:pPr>
            <a:r>
              <a:t>WERKCOLLEGE 1 • DEEL 2</a:t>
            </a:r>
          </a:p>
          <a:p>
            <a:pPr>
              <a:spcBef>
                <a:spcPts val="400"/>
              </a:spcBef>
              <a:defRPr sz="2400" b="1">
                <a:solidFill>
                  <a:srgbClr val="121E31"/>
                </a:solidFill>
              </a:defRPr>
            </a:pPr>
            <a:r>
              <a:t>Stap 1: 10.000 Handen Simuleren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21E31"/>
                </a:solidFill>
              </a:defRPr>
            </a:pPr>
            <a:r>
              <a:t>Waarom data genereren via code?</a:t>
            </a:r>
          </a:p>
          <a:p>
            <a:pPr>
              <a:spcBef>
                <a:spcPts val="1000"/>
              </a:spcBef>
              <a:defRPr sz="1200" b="1">
                <a:solidFill>
                  <a:srgbClr val="1B4D3E"/>
                </a:solidFill>
              </a:defRPr>
            </a:pPr>
            <a:r>
              <a:t>• Monte Carlo Principe: </a:t>
            </a:r>
          </a:p>
          <a:p>
            <a:pPr>
              <a:defRPr sz="1100">
                <a:solidFill>
                  <a:srgbClr val="505A64"/>
                </a:solidFill>
              </a:defRPr>
            </a:pPr>
            <a:r>
              <a:t>  Door een willekeurig proces duizenden keren te herhalen, benaderen we de werkelijke kansen.</a:t>
            </a:r>
          </a:p>
          <a:p>
            <a:pPr>
              <a:spcBef>
                <a:spcPts val="1000"/>
              </a:spcBef>
              <a:defRPr sz="1200" b="1">
                <a:solidFill>
                  <a:srgbClr val="1B4D3E"/>
                </a:solidFill>
              </a:defRPr>
            </a:pPr>
            <a:r>
              <a:t>• Het Deck als Lijst: </a:t>
            </a:r>
          </a:p>
          <a:p>
            <a:pPr>
              <a:defRPr sz="1100">
                <a:solidFill>
                  <a:srgbClr val="505A64"/>
                </a:solidFill>
              </a:defRPr>
            </a:pPr>
            <a:r>
              <a:t>  Een lijst van 52 kaarten waaruit we telkens 2 kaarten trekken met `random.sample()`.</a:t>
            </a:r>
          </a:p>
          <a:p>
            <a:pPr>
              <a:spcBef>
                <a:spcPts val="1000"/>
              </a:spcBef>
              <a:defRPr sz="1200" b="1">
                <a:solidFill>
                  <a:srgbClr val="1B4D3E"/>
                </a:solidFill>
              </a:defRPr>
            </a:pPr>
            <a:r>
              <a:t>• Consistentie Check: </a:t>
            </a:r>
          </a:p>
          <a:p>
            <a:pPr>
              <a:defRPr sz="1100">
                <a:solidFill>
                  <a:srgbClr val="505A64"/>
                </a:solidFill>
              </a:defRPr>
            </a:pPr>
            <a:r>
              <a:t>  Elke kaartwaarde (2 t/m A) moet op de lange termijn even vaak verschijnen (~7.69%).</a:t>
            </a:r>
          </a:p>
        </p:txBody>
      </p:sp>
      <p:pic>
        <p:nvPicPr>
          <p:cNvPr id="5" name="Picture 4" descr="plot1_kaartverdel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828800"/>
            <a:ext cx="5303520" cy="335889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B4D3E"/>
                </a:solidFill>
              </a:defRPr>
            </a:pPr>
            <a:r>
              <a:t>WERKCOLLEGE 1 • DEEL 2</a:t>
            </a:r>
          </a:p>
          <a:p>
            <a:pPr>
              <a:spcBef>
                <a:spcPts val="400"/>
              </a:spcBef>
              <a:defRPr sz="2400" b="1">
                <a:solidFill>
                  <a:srgbClr val="121E31"/>
                </a:solidFill>
              </a:defRPr>
            </a:pPr>
            <a:r>
              <a:t>Stap 2: Wat is een Pokerbot in Python?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698480" cy="1463040"/>
          </a:xfrm>
          <a:prstGeom prst="roundRect">
            <a:avLst/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tlCol="0" anchor="ctr"/>
          <a:lstStyle/>
          <a:p>
            <a:pPr algn="ctr">
              <a:defRPr sz="1400" b="1">
                <a:solidFill>
                  <a:srgbClr val="121E31"/>
                </a:solidFill>
              </a:defRPr>
            </a:pPr>
            <a:r>
              <a:t>Een bot is simpelweg een functie met een helder contract:</a:t>
            </a:r>
          </a:p>
          <a:p>
            <a:pPr>
              <a:spcBef>
                <a:spcPts val="400"/>
              </a:spcBef>
              <a:defRPr sz="1100">
                <a:solidFill>
                  <a:srgbClr val="505A64"/>
                </a:solidFill>
              </a:defRPr>
            </a:pPr>
            <a:r>
              <a:t>• INPUT: Twee gedeelde kaarten in een lijst `beide_kaarten` (bijv. `[('A', 'H'), ('K', 'D')]`)</a:t>
            </a:r>
            <a:br/>
            <a:r>
              <a:t>• LOGICA: Analyseer kaarten (in Week 1: willekeurige geldige actie)</a:t>
            </a:r>
            <a:br/>
            <a:r>
              <a:t>• OUTPUT: Altijd exact één string: `'fold'`, `'call'` of `'raise'`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291840"/>
            <a:ext cx="10698480" cy="2926080"/>
          </a:xfrm>
          <a:prstGeom prst="rect">
            <a:avLst/>
          </a:prstGeom>
          <a:solidFill>
            <a:srgbClr val="181E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20040" tIns="320040" rtlCol="0" anchor="ctr"/>
          <a:lstStyle/>
          <a:p>
            <a:pPr>
              <a:defRPr sz="1200">
                <a:solidFill>
                  <a:srgbClr val="78E1AF"/>
                </a:solidFill>
                <a:latin typeface="Consolas"/>
              </a:defRPr>
            </a:pPr>
            <a:r>
              <a:rPr dirty="0"/>
              <a:t># </a:t>
            </a:r>
            <a:r>
              <a:rPr dirty="0" err="1"/>
              <a:t>Voorbeeld</a:t>
            </a:r>
            <a:r>
              <a:rPr dirty="0"/>
              <a:t>: Bot Versie 1 (mijn_bot_week1.py)</a:t>
            </a:r>
            <a:br>
              <a:rPr dirty="0"/>
            </a:br>
            <a:r>
              <a:rPr dirty="0"/>
              <a:t>import random</a:t>
            </a:r>
            <a:br>
              <a:rPr dirty="0"/>
            </a:br>
            <a:br>
              <a:rPr dirty="0"/>
            </a:br>
            <a:r>
              <a:rPr dirty="0"/>
              <a:t>def </a:t>
            </a:r>
            <a:r>
              <a:rPr dirty="0" err="1"/>
              <a:t>kies_actie</a:t>
            </a:r>
            <a:r>
              <a:rPr dirty="0"/>
              <a:t>(</a:t>
            </a:r>
            <a:r>
              <a:rPr dirty="0" err="1"/>
              <a:t>beide_kaarten</a:t>
            </a:r>
            <a:r>
              <a:rPr dirty="0"/>
              <a:t>: list) -&gt; str:</a:t>
            </a:r>
            <a:br>
              <a:rPr dirty="0"/>
            </a:br>
            <a:r>
              <a:rPr dirty="0"/>
              <a:t>    """</a:t>
            </a:r>
            <a:br>
              <a:rPr dirty="0"/>
            </a:br>
            <a:r>
              <a:rPr dirty="0"/>
              <a:t>    </a:t>
            </a:r>
            <a:r>
              <a:rPr dirty="0" err="1"/>
              <a:t>beide_kaarten</a:t>
            </a:r>
            <a:r>
              <a:rPr dirty="0"/>
              <a:t>: </a:t>
            </a:r>
            <a:r>
              <a:rPr dirty="0" err="1"/>
              <a:t>lijst</a:t>
            </a:r>
            <a:r>
              <a:rPr dirty="0"/>
              <a:t> van 2 </a:t>
            </a:r>
            <a:r>
              <a:rPr dirty="0" err="1"/>
              <a:t>kaarten</a:t>
            </a:r>
            <a:r>
              <a:rPr dirty="0"/>
              <a:t>, </a:t>
            </a:r>
            <a:r>
              <a:rPr dirty="0" err="1"/>
              <a:t>bijv</a:t>
            </a:r>
            <a:r>
              <a:rPr dirty="0"/>
              <a:t>. [('A', 'H'), ('K', 'D')]</a:t>
            </a:r>
            <a:br>
              <a:rPr dirty="0"/>
            </a:br>
            <a:r>
              <a:rPr dirty="0"/>
              <a:t>    </a:t>
            </a:r>
            <a:r>
              <a:rPr dirty="0" err="1"/>
              <a:t>Geeft</a:t>
            </a:r>
            <a:r>
              <a:rPr dirty="0"/>
              <a:t> </a:t>
            </a:r>
            <a:r>
              <a:rPr dirty="0" err="1"/>
              <a:t>terug</a:t>
            </a:r>
            <a:r>
              <a:rPr dirty="0"/>
              <a:t>: 'call', 'raise', of 'fold'</a:t>
            </a:r>
            <a:br>
              <a:rPr dirty="0"/>
            </a:br>
            <a:r>
              <a:rPr dirty="0"/>
              <a:t>    """</a:t>
            </a:r>
            <a:br>
              <a:rPr dirty="0"/>
            </a:br>
            <a:r>
              <a:rPr dirty="0"/>
              <a:t>    </a:t>
            </a:r>
            <a:r>
              <a:rPr dirty="0" err="1"/>
              <a:t>mogelijke_acties</a:t>
            </a:r>
            <a:r>
              <a:rPr dirty="0"/>
              <a:t> = ['fold', 'call', 'raise']</a:t>
            </a:r>
            <a:br>
              <a:rPr dirty="0"/>
            </a:br>
            <a:r>
              <a:rPr dirty="0"/>
              <a:t>    return </a:t>
            </a:r>
            <a:r>
              <a:rPr dirty="0" err="1"/>
              <a:t>random.choice</a:t>
            </a:r>
            <a:r>
              <a:rPr dirty="0"/>
              <a:t>(</a:t>
            </a:r>
            <a:r>
              <a:rPr dirty="0" err="1"/>
              <a:t>mogelijke_acties</a:t>
            </a:r>
            <a:r>
              <a:rPr dirty="0"/>
              <a:t>)  # Week 1: </a:t>
            </a:r>
            <a:r>
              <a:rPr dirty="0" err="1"/>
              <a:t>valide</a:t>
            </a:r>
            <a:r>
              <a:rPr dirty="0"/>
              <a:t> </a:t>
            </a:r>
            <a:r>
              <a:rPr dirty="0" err="1"/>
              <a:t>beslissing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B4D3E"/>
                </a:solidFill>
              </a:defRPr>
            </a:pPr>
            <a:r>
              <a:t>DATA DESIGN &amp; COMMUNICATIE</a:t>
            </a:r>
          </a:p>
          <a:p>
            <a:pPr>
              <a:spcBef>
                <a:spcPts val="400"/>
              </a:spcBef>
              <a:defRPr sz="2400" b="1">
                <a:solidFill>
                  <a:srgbClr val="121E31"/>
                </a:solidFill>
              </a:defRPr>
            </a:pPr>
            <a:r>
              <a:t>Stap 3: Visualiseren &amp; Visual Hierarchy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21E31"/>
                </a:solidFill>
              </a:defRPr>
            </a:pPr>
            <a:r>
              <a:t>Maak grafieken die direct inzicht geven:</a:t>
            </a:r>
          </a:p>
          <a:p>
            <a:pPr>
              <a:spcBef>
                <a:spcPts val="1000"/>
              </a:spcBef>
              <a:defRPr sz="1200" b="1">
                <a:solidFill>
                  <a:srgbClr val="1B4D3E"/>
                </a:solidFill>
              </a:defRPr>
            </a:pPr>
            <a:r>
              <a:t>🎨 Elimineer Ruis (Chart Junk)</a:t>
            </a:r>
          </a:p>
          <a:p>
            <a:pPr>
              <a:defRPr sz="1100">
                <a:solidFill>
                  <a:srgbClr val="505A64"/>
                </a:solidFill>
              </a:defRPr>
            </a:pPr>
            <a:r>
              <a:t>   Geen overbodige 3D-effecten of zware zwarte rasterlijnen.</a:t>
            </a:r>
          </a:p>
          <a:p>
            <a:pPr>
              <a:spcBef>
                <a:spcPts val="1000"/>
              </a:spcBef>
              <a:defRPr sz="1200" b="1">
                <a:solidFill>
                  <a:srgbClr val="1B4D3E"/>
                </a:solidFill>
              </a:defRPr>
            </a:pPr>
            <a:r>
              <a:t>🎨 Doelgericht Kleurgebruik</a:t>
            </a:r>
          </a:p>
          <a:p>
            <a:pPr>
              <a:defRPr sz="1100">
                <a:solidFill>
                  <a:srgbClr val="505A64"/>
                </a:solidFill>
              </a:defRPr>
            </a:pPr>
            <a:r>
              <a:t>   Gebruik kleur met een functie (bijv. accentkleur voor uitschieters of benchmarks).</a:t>
            </a:r>
          </a:p>
          <a:p>
            <a:pPr>
              <a:spcBef>
                <a:spcPts val="1000"/>
              </a:spcBef>
              <a:defRPr sz="1200" b="1">
                <a:solidFill>
                  <a:srgbClr val="1B4D3E"/>
                </a:solidFill>
              </a:defRPr>
            </a:pPr>
            <a:r>
              <a:t>🎨 Duidelijke Actietitels</a:t>
            </a:r>
          </a:p>
          <a:p>
            <a:pPr>
              <a:defRPr sz="1100">
                <a:solidFill>
                  <a:srgbClr val="505A64"/>
                </a:solidFill>
              </a:defRPr>
            </a:pPr>
            <a:r>
              <a:t>   Zet de conclusie in de titel: "Pocket Pairs vallen in ~5.88% van de deals".</a:t>
            </a:r>
          </a:p>
        </p:txBody>
      </p:sp>
      <p:pic>
        <p:nvPicPr>
          <p:cNvPr id="5" name="Picture 4" descr="plot2_pair_frequent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828800"/>
            <a:ext cx="5120640" cy="353789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B4D3E"/>
                </a:solidFill>
              </a:defRPr>
            </a:pPr>
            <a:r>
              <a:t>WERKCOLLEGE 1 • DEEL 2</a:t>
            </a:r>
          </a:p>
          <a:p>
            <a:pPr>
              <a:spcBef>
                <a:spcPts val="400"/>
              </a:spcBef>
              <a:defRPr sz="2400" b="1">
                <a:solidFill>
                  <a:srgbClr val="121E31"/>
                </a:solidFill>
              </a:defRPr>
            </a:pPr>
            <a:r>
              <a:t>Het Eindproduct &amp; Inleveren via de API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365760" rtlCol="0" anchor="ctr"/>
          <a:lstStyle/>
          <a:p>
            <a:pPr algn="ctr">
              <a:defRPr sz="1600" b="1">
                <a:solidFill>
                  <a:srgbClr val="121E31"/>
                </a:solidFill>
              </a:defRPr>
            </a:pPr>
            <a:r>
              <a:t>📁 1. Het Python Bestand</a:t>
            </a:r>
          </a:p>
          <a:p>
            <a:pPr>
              <a:spcBef>
                <a:spcPts val="1000"/>
              </a:spcBef>
              <a:defRPr sz="1200">
                <a:solidFill>
                  <a:srgbClr val="505A64"/>
                </a:solidFill>
              </a:defRPr>
            </a:pPr>
            <a:r>
              <a:t>• Sla je geteste functie op als:</a:t>
            </a:r>
            <a:br/>
            <a:r>
              <a:t>  `mijn_bot_week1.py`</a:t>
            </a:r>
            <a:br/>
            <a:br/>
            <a:r>
              <a:t>• Bevat géén onnodige print statements of oneindige loops.</a:t>
            </a:r>
            <a:br/>
            <a:br/>
            <a:r>
              <a:t>• Bevat de functie `kies_actie(beide_kaarten)`.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365760" rtlCol="0" anchor="ctr"/>
          <a:lstStyle/>
          <a:p>
            <a:pPr algn="ctr">
              <a:defRPr sz="1600" b="1">
                <a:solidFill>
                  <a:srgbClr val="121E31"/>
                </a:solidFill>
              </a:defRPr>
            </a:pPr>
            <a:r>
              <a:t>🚀 2. De Automatische API Check</a:t>
            </a:r>
          </a:p>
          <a:p>
            <a:pPr>
              <a:spcBef>
                <a:spcPts val="1000"/>
              </a:spcBef>
              <a:defRPr sz="1200">
                <a:solidFill>
                  <a:srgbClr val="505A64"/>
                </a:solidFill>
              </a:defRPr>
            </a:pPr>
            <a:r>
              <a:t>• Voer de inlever-cel onderaan je notebook uit.</a:t>
            </a:r>
            <a:br/>
            <a:br/>
            <a:r>
              <a:t>• De API test direct:</a:t>
            </a:r>
            <a:br/>
            <a:r>
              <a:t>   ✔️ Draait de code zonder errors?</a:t>
            </a:r>
            <a:br/>
            <a:r>
              <a:t>   ✔️ Krijg je 'call', 'raise' of 'fold' terug?</a:t>
            </a:r>
            <a:br/>
            <a:r>
              <a:t>   ✔️ Bevat de grafiek een titel en labels?</a:t>
            </a:r>
            <a:br/>
            <a:br/>
            <a:r>
              <a:t>• ⏰ Deadline: Woensdag 13:40 uur.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B4D3E"/>
                </a:solidFill>
              </a:defRPr>
            </a:pPr>
            <a:r>
              <a:t>ZELFSTANDIG AAN HET WERK</a:t>
            </a:r>
          </a:p>
          <a:p>
            <a:pPr>
              <a:spcBef>
                <a:spcPts val="400"/>
              </a:spcBef>
              <a:defRPr sz="2400" b="1">
                <a:solidFill>
                  <a:srgbClr val="121E31"/>
                </a:solidFill>
              </a:defRPr>
            </a:pPr>
            <a:r>
              <a:t>Aan de slag! (35 minuten)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106984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8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457200" rtlCol="0" anchor="ctr"/>
          <a:lstStyle/>
          <a:p>
            <a:pPr algn="ctr">
              <a:defRPr sz="1800" b="1">
                <a:solidFill>
                  <a:srgbClr val="121E31"/>
                </a:solidFill>
              </a:defRPr>
            </a:pPr>
            <a:r>
              <a:t>📋 Jouw Stappenplan voor nu in de klas:</a:t>
            </a:r>
          </a:p>
          <a:p>
            <a:pPr>
              <a:spcBef>
                <a:spcPts val="1000"/>
              </a:spcBef>
              <a:defRPr sz="1300">
                <a:solidFill>
                  <a:srgbClr val="121E31"/>
                </a:solidFill>
              </a:defRPr>
            </a:pPr>
            <a:r>
              <a:t>1.  Open het Jupyter Notebook `Week1_Pokerbot_Opdracht.ipynb` in je omgeving.</a:t>
            </a:r>
          </a:p>
          <a:p>
            <a:pPr>
              <a:spcBef>
                <a:spcPts val="1000"/>
              </a:spcBef>
              <a:defRPr sz="1300">
                <a:solidFill>
                  <a:srgbClr val="121E31"/>
                </a:solidFill>
              </a:defRPr>
            </a:pPr>
            <a:r>
              <a:t>2.  Voer de simulatie-lus uit (10.000 trekkingen) en controleer of de data klopt.</a:t>
            </a:r>
          </a:p>
          <a:p>
            <a:pPr>
              <a:spcBef>
                <a:spcPts val="1000"/>
              </a:spcBef>
              <a:defRPr sz="1300">
                <a:solidFill>
                  <a:srgbClr val="121E31"/>
                </a:solidFill>
              </a:defRPr>
            </a:pPr>
            <a:r>
              <a:t>3.  Schrijf de `kies_actie(beide_kaarten)` functie voor Bot Versie 1.</a:t>
            </a:r>
          </a:p>
          <a:p>
            <a:pPr>
              <a:spcBef>
                <a:spcPts val="1000"/>
              </a:spcBef>
              <a:defRPr sz="1300">
                <a:solidFill>
                  <a:srgbClr val="121E31"/>
                </a:solidFill>
              </a:defRPr>
            </a:pPr>
            <a:r>
              <a:t>4.  Maak de Seaborn verdelingsplot met een duidelijke titel en accentkleur.</a:t>
            </a:r>
          </a:p>
          <a:p>
            <a:pPr>
              <a:spcBef>
                <a:spcPts val="1000"/>
              </a:spcBef>
              <a:defRPr sz="1300">
                <a:solidFill>
                  <a:srgbClr val="121E31"/>
                </a:solidFill>
              </a:defRPr>
            </a:pPr>
            <a:r>
              <a:t>5.  Sla op als `mijn_bot_week1.py` en test de API-inlevercel onderaan.</a:t>
            </a:r>
          </a:p>
          <a:p>
            <a:pPr>
              <a:spcBef>
                <a:spcPts val="2000"/>
              </a:spcBef>
              <a:defRPr sz="1200" b="1">
                <a:solidFill>
                  <a:srgbClr val="1B4D3E"/>
                </a:solidFill>
              </a:defRPr>
            </a:pPr>
            <a:r>
              <a:t>⏰ Deadline: Woensdag 13:40 uur  |  🙋 Hulp nodig? Steek je hand op!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1036</Words>
  <Application>Microsoft Macintosh PowerPoint</Application>
  <PresentationFormat>Breedbeeld</PresentationFormat>
  <Paragraphs>73</Paragraphs>
  <Slides>8</Slides>
  <Notes>8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2</vt:i4>
      </vt:variant>
      <vt:variant>
        <vt:lpstr>Thema</vt:lpstr>
      </vt:variant>
      <vt:variant>
        <vt:i4>1</vt:i4>
      </vt:variant>
      <vt:variant>
        <vt:lpstr>Diatitels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Jerome Mies</cp:lastModifiedBy>
  <cp:revision>3</cp:revision>
  <dcterms:created xsi:type="dcterms:W3CDTF">2013-01-27T09:14:16Z</dcterms:created>
  <dcterms:modified xsi:type="dcterms:W3CDTF">2026-08-31T08:03:41Z</dcterms:modified>
  <cp:category/>
</cp:coreProperties>
</file>