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Het idee van deze opzet: niemand kan een bot van vijftig regels in één keer bedenken.</a:t>
            </a:r>
          </a:p>
          <a:p/>
          <a:p>
            <a:r>
              <a:t>Elke regel geeft óf een actie, óf None — 'ik ga hier niet over'. Daardoor is samenvoegen in Deel 2 niets meer dan de regels in een volgorde zetten.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ze het echt doen, vijf minuten, en loop rond. Wie meteen begint te typen komt later vast te zitten op precies de plek waar zijn schema een gat had.</a:t>
            </a:r>
          </a:p>
          <a:p/>
          <a:p>
            <a:r>
              <a:t>Vraag bij twee of drie mensen: welke tak heb je weggelaten, en waarom? Dat is een betere vraag dan 'is het gelukt'.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Vraag het eerst aan de zaal: 'wat is een góede winkans?' Je krijgt 60, 70, 80 — en dat klopt alleen als je tegen één iemand speelt.</a:t>
            </a:r>
          </a:p>
          <a:p/>
          <a:p>
            <a:r>
              <a:t>Het punt is niet welk getal ze kiezen, maar dát ze er één kiezen en hun drempels erop afstemmen. Wie tegen 5 rekent en een drempel van 50 aanhoudt, heeft een bot die foldt.</a:t>
            </a:r>
          </a:p>
          <a:p/>
          <a:p>
            <a:r>
              <a:t>In 1D staat hoe je het aantal tegenstanders kunt schatten uit de actielijst. Dat mag, maar dan moeten de drempels meeschuiven — dat staat er expliciet bij.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 is de dia waar de vraag 'moet dat nou' wordt beantwoord.</a:t>
            </a:r>
          </a:p>
          <a:p/>
          <a:p>
            <a:r>
              <a:t>Maandag lever je een lat/lon in en bouw je de kaart met een verzonnen klas — er is nog niets om op te halen. Die kaart is wél de grafiek die je woensdag inlevert.</a:t>
            </a:r>
          </a:p>
          <a:p/>
          <a:p>
            <a:r>
              <a:t>Woensdag is het toernooi gedraaid en kleurt dezelfde kaart zichzelf in. In Werkcollege 9 wordt het een choropleth van heel Nederland, met de gemeentegrenzen uit een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cijfers rechts komen uit scripts/meet_toernooi_variantie.py: 44 bots met bekende kwaliteit, 20 simulaties per bot (wat de bonusweek ook draait), vijf verschillende kaartverdelingen.</a:t>
            </a:r>
          </a:p>
          <a:p/>
          <a:p>
            <a:r>
              <a:t>Zeg allebei de kanten eerlijk. Goed spelen loont: 76% van de punten gaat naar de betere helft van het veld, terwijl dat bij puur toeval 50% zou zijn. Maar wie precies in de top 5 valt, wisselt: deel opnieuw en er gaat gemiddeld nog maar 0,9 van de 5 plekken naar dezelfde bot.</a:t>
            </a:r>
          </a:p>
          <a:p/>
          <a:p>
            <a:r>
              <a:t>De boodschap: je kunt je kánsen vergroten, je kunt de bonus niet afdwingen. En andersom — val je net buiten de prijzen, dan is dat geen oordeel over je 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 is er niet om mensen te betrappen, en dat mag je ook hardop zeggen. Het is er omdat de bonus anders beloont dat je iemands bot overneemt.</a:t>
            </a:r>
          </a:p>
          <a:p/>
          <a:p>
            <a:r>
              <a:t>Wie zijn eigen bot heeft gebouwd, heeft hier vijf minuten werk aan. Wie dat niet heeft, merkt dat meteen.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Twee dingen waar ze op moeten letten.</a:t>
            </a:r>
          </a:p>
          <a:p/>
          <a:p>
            <a:r>
              <a:t>Vandaag: de groepscase komt na de pauze, en ze kiezen vandaag een onderwerp. Woensdag leg ik de eindopdracht uit.</a:t>
            </a:r>
          </a:p>
          <a:p/>
          <a:p>
            <a:r>
              <a:t>Maandag 5 oktober: vanaf 13:00/13:15 is er tijd om samen aan de case te werken, om 13:30 leggen we de onderwerpen definitief vast. Het werkcollege zelf gaat die middag alleen over de visuele kant — de kaart uit week 5 opnieuw ontwerpen in twee lagen. Wie moet herkansen, doet dat die middag.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WEEK 5 · WERKCOLLEGE 7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Bot v3</a:t>
            </a:r>
          </a:p>
          <a:p>
            <a:pPr>
              <a:spcBef>
                <a:spcPts val="600"/>
              </a:spcBef>
              <a:defRPr sz="2000" b="0">
                <a:solidFill>
                  <a:srgbClr val="DCE1E6"/>
                </a:solidFill>
              </a:defRPr>
            </a:pPr>
            <a:r>
              <a:t>Bluffen, tegenstanders lezen, en je laatste versie</a:t>
            </a:r>
          </a:p>
          <a:p>
            <a:pPr>
              <a:spcBef>
                <a:spcPts val="2000"/>
              </a:spcBef>
              <a:defRPr sz="1400" b="0">
                <a:solidFill>
                  <a:srgbClr val="DCE1E6"/>
                </a:solidFill>
              </a:defRPr>
            </a:pPr>
            <a:r>
              <a:t>Dit is de bot waarmee je de reeks afsluit.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1 · DE BOUWSTENEN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Vijf blokjes, één voor één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1E31"/>
                </a:solidFill>
                <a:latin typeface="Consolas"/>
              </a:defRPr>
            </a:pPr>
            <a:r>
              <a:t>1A  hand · stack      →  heb ik nog ruimte om te spelen?</a:t>
            </a:r>
          </a:p>
          <a:p>
            <a:pPr>
              <a:spcBef>
                <a:spcPts val="600"/>
              </a:spcBef>
              <a:defRPr sz="1500" b="1">
                <a:solidFill>
                  <a:srgbClr val="121E31"/>
                </a:solidFill>
                <a:latin typeface="Consolas"/>
              </a:defRPr>
            </a:pPr>
            <a:r>
              <a:t>1B  winkans           →  hoe sterk sta ik, nu ook mét het bord</a:t>
            </a:r>
          </a:p>
          <a:p>
            <a:pPr>
              <a:spcBef>
                <a:spcPts val="600"/>
              </a:spcBef>
              <a:defRPr sz="1500" b="1">
                <a:solidFill>
                  <a:srgbClr val="121E31"/>
                </a:solidFill>
                <a:latin typeface="Consolas"/>
              </a:defRPr>
            </a:pPr>
            <a:r>
              <a:t>1C  pot · inzet       →  wat kost meedoen?</a:t>
            </a:r>
          </a:p>
          <a:p>
            <a:pPr>
              <a:spcBef>
                <a:spcPts val="600"/>
              </a:spcBef>
              <a:defRPr sz="1500" b="1">
                <a:solidFill>
                  <a:srgbClr val="1B4D3E"/>
                </a:solidFill>
                <a:latin typeface="Consolas"/>
              </a:defRPr>
            </a:pPr>
            <a:r>
              <a:t>1D  tegenstander_acties →  wat doet de tafel?</a:t>
            </a:r>
          </a:p>
          <a:p>
            <a:pPr>
              <a:spcBef>
                <a:spcPts val="600"/>
              </a:spcBef>
              <a:defRPr sz="1500" b="1">
                <a:solidFill>
                  <a:srgbClr val="1B4D3E"/>
                </a:solidFill>
                <a:latin typeface="Consolas"/>
              </a:defRPr>
            </a:pPr>
            <a:r>
              <a:t>1E  bluf_kans         →  ga ik bluffen?</a:t>
            </a:r>
          </a:p>
          <a:p>
            <a:pPr>
              <a:spcBef>
                <a:spcPts val="1800"/>
              </a:spcBef>
              <a:defRPr sz="1300" b="0">
                <a:solidFill>
                  <a:srgbClr val="505A64"/>
                </a:solidFill>
              </a:defRPr>
            </a:pPr>
            <a:r>
              <a:t>De laatste twee zijn nieuw. 1D is nieuw in soort: voor het eerst krijgt je bot informatie over iemand anders.</a:t>
            </a:r>
          </a:p>
          <a:p>
            <a:pPr>
              <a:spcBef>
                <a:spcPts val="1000"/>
              </a:spcBef>
              <a:defRPr sz="1400" b="0">
                <a:solidFill>
                  <a:srgbClr val="121E31"/>
                </a:solidFill>
              </a:defRPr>
            </a:pPr>
            <a:r>
              <a:t>Elk blokje krijgt één simpele regel. In Deel 2 plak je ze achter elkaar en schrijf je ze weg naar mijn_bot_week5.py.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HET OVERZICHT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Waar je bot allemaal op kan letten</a:t>
            </a:r>
          </a:p>
        </p:txBody>
      </p:sp>
      <p:pic>
        <p:nvPicPr>
          <p:cNvPr id="4" name="Picture 3" descr="wc7_overzi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850" y="1600200"/>
            <a:ext cx="873399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VÓÓR JE GAAT TYPEN · 5 MIN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Teken eerst je eigen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1E31"/>
                </a:solidFill>
              </a:defRPr>
            </a:pPr>
            <a:r>
              <a:t>Welke van die vijf vragen stel jij, in welke volgorde, en waar valt de beslissing?</a:t>
            </a:r>
          </a:p>
          <a:p>
            <a:pPr>
              <a:spcBef>
                <a:spcPts val="1400"/>
              </a:spcBef>
              <a:defRPr sz="1500" b="1">
                <a:solidFill>
                  <a:srgbClr val="1B4D3E"/>
                </a:solidFill>
              </a:defRPr>
            </a:pPr>
            <a:r>
              <a:t>Op papier. Geen code.</a:t>
            </a:r>
          </a:p>
          <a:p>
            <a:pPr>
              <a:spcBef>
                <a:spcPts val="1400"/>
              </a:spcBef>
              <a:defRPr sz="1400" b="0">
                <a:solidFill>
                  <a:srgbClr val="121E31"/>
                </a:solidFill>
              </a:defRPr>
            </a:pPr>
            <a:r>
              <a:t>Je hoeft niet alles te gebruiken. Een bot die twee takken goed doet, verslaat er een die er vijf half doet.</a:t>
            </a:r>
          </a:p>
          <a:p>
            <a:pPr>
              <a:spcBef>
                <a:spcPts val="1600"/>
              </a:spcBef>
              <a:defRPr sz="1300" b="0">
                <a:solidFill>
                  <a:srgbClr val="505A64"/>
                </a:solidFill>
              </a:defRPr>
            </a:pPr>
            <a:r>
              <a:t>Een beslisregel die je niet kunt tekenen, kun je ook niet debuggen. En woensdag over een week moet je 'm kunnen uitleggen — dan heb je je tekening 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1B · DE SCHAAL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Waar komen je drempels vandaan?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1E31"/>
                </a:solidFill>
              </a:defRPr>
            </a:pPr>
            <a:r>
              <a:t>schat_winkans(..., tegenstanders=N) verandert je hand niet —</a:t>
            </a:r>
          </a:p>
          <a:p>
            <a:pPr>
              <a:spcBef>
                <a:spcPts val="200"/>
              </a:spcBef>
              <a:defRPr sz="1600" b="1">
                <a:solidFill>
                  <a:srgbClr val="121E31"/>
                </a:solidFill>
              </a:defRPr>
            </a:pPr>
            <a:r>
              <a:t>het verandert de schaal waarop je hem afleest.</a:t>
            </a:r>
          </a:p>
          <a:p>
            <a:pPr>
              <a:spcBef>
                <a:spcPts val="1800"/>
              </a:spcBef>
              <a:defRPr sz="1300" b="1">
                <a:solidFill>
                  <a:srgbClr val="505A64"/>
                </a:solidFill>
                <a:latin typeface="Consolas"/>
              </a:defRPr>
            </a:pPr>
            <a:r>
              <a:t>tegenstanders    gemiddelde hand wint    'goed' begint rond</a:t>
            </a:r>
          </a:p>
          <a:p>
            <a:pPr>
              <a:spcBef>
                <a:spcPts val="600"/>
              </a:spcBef>
              <a:defRPr sz="1400" b="0">
                <a:solidFill>
                  <a:srgbClr val="121E31"/>
                </a:solidFill>
                <a:latin typeface="Consolas"/>
              </a:defRPr>
            </a:pPr>
            <a:r>
              <a:t>      1                  50%                    60%</a:t>
            </a:r>
          </a:p>
          <a:p>
            <a:pPr>
              <a:spcBef>
                <a:spcPts val="400"/>
              </a:spcBef>
              <a:defRPr sz="1400" b="1">
                <a:solidFill>
                  <a:srgbClr val="1B4D3E"/>
                </a:solidFill>
                <a:latin typeface="Consolas"/>
              </a:defRPr>
            </a:pPr>
            <a:r>
              <a:t>      2                  33%                    45%</a:t>
            </a:r>
          </a:p>
          <a:p>
            <a:pPr>
              <a:spcBef>
                <a:spcPts val="400"/>
              </a:spcBef>
              <a:defRPr sz="1400" b="0">
                <a:solidFill>
                  <a:srgbClr val="121E31"/>
                </a:solidFill>
                <a:latin typeface="Consolas"/>
              </a:defRPr>
            </a:pPr>
            <a:r>
              <a:t>      5                  17%                    25%</a:t>
            </a:r>
          </a:p>
          <a:p>
            <a:pPr>
              <a:spcBef>
                <a:spcPts val="1800"/>
              </a:spcBef>
              <a:defRPr sz="1400" b="1">
                <a:solidFill>
                  <a:srgbClr val="121E31"/>
                </a:solidFill>
              </a:defRPr>
            </a:pPr>
            <a:r>
              <a:t>Kies één getal, houd het vast, en kies je drempels op díe schaal. De bot in Deel 2 rekent met 2.</a:t>
            </a:r>
          </a:p>
          <a:p>
            <a:pPr>
              <a:spcBef>
                <a:spcPts val="1200"/>
              </a:spcBef>
              <a:defRPr sz="1300" b="0">
                <a:solidFill>
                  <a:srgbClr val="B3261E"/>
                </a:solidFill>
              </a:defRPr>
            </a:pPr>
            <a:r>
              <a:t>Zet je drempel op 50 terwijl je tegen vijf rekent, dan doe je nooit mee — zelfs A-A haalt daar 50,2%. Vorig jaar was 92% van alle beslissingen een fold.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EN WAT HIJ NIET WEET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Drie dingen die er niet in staan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1E31"/>
                </a:solidFill>
              </a:defRPr>
            </a:pPr>
            <a:r>
              <a:t>Welke kaarten de anderen hebben</a:t>
            </a:r>
          </a:p>
          <a:p>
            <a:pPr>
              <a:spcBef>
                <a:spcPts val="200"/>
              </a:spcBef>
              <a:defRPr sz="1200" b="0">
                <a:solidFill>
                  <a:srgbClr val="505A64"/>
                </a:solidFill>
              </a:defRPr>
            </a:pPr>
            <a:r>
              <a:t>En ook niet hun stacks.</a:t>
            </a:r>
          </a:p>
          <a:p>
            <a:pPr>
              <a:spcBef>
                <a:spcPts val="1600"/>
              </a:spcBef>
              <a:defRPr sz="1600" b="1">
                <a:solidFill>
                  <a:srgbClr val="121E31"/>
                </a:solidFill>
              </a:defRPr>
            </a:pPr>
            <a:r>
              <a:t>Wat er in eerdere handen gebeurde</a:t>
            </a:r>
          </a:p>
          <a:p>
            <a:pPr>
              <a:spcBef>
                <a:spcPts val="200"/>
              </a:spcBef>
              <a:defRPr sz="1200" b="0">
                <a:solidFill>
                  <a:srgbClr val="505A64"/>
                </a:solidFill>
              </a:defRPr>
            </a:pPr>
            <a:r>
              <a:t>Elke hand begint schoon.</a:t>
            </a:r>
          </a:p>
          <a:p>
            <a:pPr>
              <a:spcBef>
                <a:spcPts val="1600"/>
              </a:spcBef>
              <a:defRPr sz="1600" b="1">
                <a:solidFill>
                  <a:srgbClr val="121E31"/>
                </a:solidFill>
              </a:defRPr>
            </a:pPr>
            <a:r>
              <a:t>Hoeveel tegenstanders er nog meespelen</a:t>
            </a:r>
          </a:p>
          <a:p>
            <a:pPr>
              <a:spcBef>
                <a:spcPts val="200"/>
              </a:spcBef>
              <a:defRPr sz="1200" b="0">
                <a:solidFill>
                  <a:srgbClr val="505A64"/>
                </a:solidFill>
              </a:defRPr>
            </a:pPr>
            <a:r>
              <a:t>Staat er niet bij — maar dit kun je wél schatten uit tegenstander_acties_deze_hand: tel de namen, haal eruit wie foldde.</a:t>
            </a:r>
          </a:p>
          <a:p>
            <a:pPr>
              <a:spcBef>
                <a:spcPts val="1800"/>
              </a:spcBef>
              <a:defRPr sz="1300" b="0">
                <a:solidFill>
                  <a:srgbClr val="B3261E"/>
                </a:solidFill>
              </a:defRPr>
            </a:pPr>
            <a:r>
              <a:t>En let op de namen: je krijgt een parameter alleen als je hem zelf opschrijft, exact zo gespeld. Verkeerd gespeld = je krijgt hem niet, zonder foutmelding.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4 EN 5 · HUISWERK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Waarom je een locatie meegeeft</a:t>
            </a:r>
          </a:p>
        </p:txBody>
      </p:sp>
      <p:pic>
        <p:nvPicPr>
          <p:cNvPr id="4" name="Picture 3" descr="wc7_loca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00" y="1600200"/>
            <a:ext cx="101416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 BONUS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Wat het oplevert, en wat toeval is</a:t>
            </a:r>
          </a:p>
        </p:txBody>
      </p:sp>
      <p:pic>
        <p:nvPicPr>
          <p:cNvPr id="4" name="Picture 3" descr="wc7_bon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474" y="1600200"/>
            <a:ext cx="741274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EN DAARNA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Wie bonus scoort, legt zijn bot uit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1E31"/>
                </a:solidFill>
              </a:defRPr>
            </a:pPr>
            <a:r>
              <a:t>Woensdag 7 oktober overhoor ik iedereen die bonuspunten heeft gescoord.</a:t>
            </a:r>
          </a:p>
          <a:p>
            <a:pPr>
              <a:spcBef>
                <a:spcPts val="1600"/>
              </a:spcBef>
              <a:defRPr sz="1500" b="1">
                <a:solidFill>
                  <a:srgbClr val="1B4D3E"/>
                </a:solidFill>
              </a:defRPr>
            </a:pPr>
            <a:r>
              <a:t>Geen strikvragen. Drie dingen:</a:t>
            </a:r>
          </a:p>
          <a:p>
            <a:pPr>
              <a:spcBef>
                <a:spcPts val="800"/>
              </a:spcBef>
              <a:defRPr sz="1500" b="0">
                <a:solidFill>
                  <a:srgbClr val="121E31"/>
                </a:solidFill>
                <a:latin typeface="Consolas"/>
              </a:defRPr>
            </a:pPr>
            <a:r>
              <a:t>1.  welke regels zitten in je bot?</a:t>
            </a:r>
          </a:p>
          <a:p>
            <a:pPr>
              <a:spcBef>
                <a:spcPts val="400"/>
              </a:spcBef>
              <a:defRPr sz="1500" b="0">
                <a:solidFill>
                  <a:srgbClr val="121E31"/>
                </a:solidFill>
                <a:latin typeface="Consolas"/>
              </a:defRPr>
            </a:pPr>
            <a:r>
              <a:t>2.  in welke volgorde staan ze, en waarom?</a:t>
            </a:r>
          </a:p>
          <a:p>
            <a:pPr>
              <a:spcBef>
                <a:spcPts val="400"/>
              </a:spcBef>
              <a:defRPr sz="1500" b="0">
                <a:solidFill>
                  <a:srgbClr val="121E31"/>
                </a:solidFill>
                <a:latin typeface="Consolas"/>
              </a:defRPr>
            </a:pPr>
            <a:r>
              <a:t>3.  wat heb je veranderd na het eerste toernooi, en waarop?</a:t>
            </a:r>
          </a:p>
          <a:p>
            <a:pPr>
              <a:spcBef>
                <a:spcPts val="2000"/>
              </a:spcBef>
              <a:defRPr sz="1400" b="1">
                <a:solidFill>
                  <a:srgbClr val="B3261E"/>
                </a:solidFill>
              </a:defRPr>
            </a:pPr>
            <a:r>
              <a:t>Dus: schrijf op waarom je iets verandert, terwijl je het verandert. Een comment van één regel is genoeg — achteraf reconstrueren lukt niemand.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 PLANNING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De komende twee weken</a:t>
            </a:r>
          </a:p>
        </p:txBody>
      </p:sp>
      <p:pic>
        <p:nvPicPr>
          <p:cNvPr id="4" name="Picture 3" descr="wc7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77" y="1600200"/>
            <a:ext cx="9731141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