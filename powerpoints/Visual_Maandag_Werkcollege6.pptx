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WEEK 4 · WERKCOLLEGE 6</a:t>
            </a:r>
          </a:p>
          <a:p>
            <a:pPr>
              <a:spcBef>
                <a:spcPts val="1000"/>
              </a:spcBef>
              <a:defRPr sz="4200" b="1">
                <a:solidFill>
                  <a:srgbClr val="FFFFFF"/>
                </a:solidFill>
              </a:defRPr>
            </a:pPr>
            <a:r>
              <a:t>Visual Maandag</a:t>
            </a:r>
          </a:p>
          <a:p>
            <a:pPr>
              <a:spcBef>
                <a:spcPts val="600"/>
              </a:spcBef>
              <a:defRPr sz="2000" b="0">
                <a:solidFill>
                  <a:srgbClr val="DCE1E6"/>
                </a:solidFill>
              </a:defRPr>
            </a:pPr>
            <a:r>
              <a:t>Spaghetti-grafieken, kleurcontrast en storytelling</a:t>
            </a:r>
          </a:p>
          <a:p>
            <a:pPr>
              <a:spcBef>
                <a:spcPts val="2000"/>
              </a:spcBef>
              <a:defRPr sz="1400" b="0">
                <a:solidFill>
                  <a:srgbClr val="DCE1E6"/>
                </a:solidFill>
              </a:defRPr>
            </a:pPr>
            <a:r>
              <a:t>Geen nieuwe bot vandaag. Dezelfde data, een ander verhaal.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VANDAAG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Twee dingen die Werkcollege 3 nog niet deed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t>1 · Pre-attentieve attributen</a:t>
            </a:r>
          </a:p>
          <a:p>
            <a:pPr>
              <a:spcBef>
                <a:spcPts val="600"/>
              </a:spcBef>
              <a:defRPr sz="1300" b="0">
                <a:solidFill>
                  <a:srgbClr val="121E31"/>
                </a:solidFill>
              </a:defRPr>
            </a:pPr>
            <a:r>
              <a:t>Verschillen die je brein ziet vóórdat je bewust kijkt — binnen 200 milliseconden,</a:t>
            </a:r>
          </a:p>
          <a:p>
            <a:pPr>
              <a:spcBef>
                <a:spcPts val="200"/>
              </a:spcBef>
              <a:defRPr sz="1300" b="0">
                <a:solidFill>
                  <a:srgbClr val="121E31"/>
                </a:solidFill>
              </a:defRPr>
            </a:pPr>
            <a:r>
              <a:t>zonder te zoeken. Kleur is er één van, maar niet de enige.</a:t>
            </a:r>
          </a:p>
          <a:p>
            <a:pPr>
              <a:spcBef>
                <a:spcPts val="1600"/>
              </a:spcBef>
              <a:defRPr sz="1600" b="1">
                <a:solidFill>
                  <a:srgbClr val="1B4D3E"/>
                </a:solidFill>
              </a:defRPr>
            </a:pPr>
            <a:r>
              <a:t>2 · Kleurcontrast en toegankelijkheid</a:t>
            </a:r>
          </a:p>
          <a:p>
            <a:pPr>
              <a:spcBef>
                <a:spcPts val="600"/>
              </a:spcBef>
              <a:defRPr sz="1300" b="0">
                <a:solidFill>
                  <a:srgbClr val="121E31"/>
                </a:solidFill>
              </a:defRPr>
            </a:pPr>
            <a:r>
              <a:t>Ongeveer 1 op de 12 mannen heeft een vorm van kleurenblindheid, meestal rood-groen.</a:t>
            </a:r>
          </a:p>
          <a:p>
            <a:pPr>
              <a:spcBef>
                <a:spcPts val="200"/>
              </a:spcBef>
              <a:defRPr sz="1300" b="0">
                <a:solidFill>
                  <a:srgbClr val="121E31"/>
                </a:solidFill>
              </a:defRPr>
            </a:pPr>
            <a:r>
              <a:t>Een grafiek die alléén op kleur leunt, valt voor die lezer uit elkaar.</a:t>
            </a:r>
          </a:p>
          <a:p>
            <a:pPr>
              <a:spcBef>
                <a:spcPts val="1800"/>
              </a:spcBef>
              <a:defRPr sz="1300" b="1">
                <a:solidFill>
                  <a:srgbClr val="505A64"/>
                </a:solidFill>
              </a:defRPr>
            </a:pPr>
            <a:r>
              <a:t>Geen nieuwe inleveropdracht vandaag. Je herontwerpt de data die je al hebt.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HET GEREEDSCHAP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Vier kanalen, en kleur is er maar één van</a:t>
            </a:r>
          </a:p>
        </p:txBody>
      </p:sp>
      <p:pic>
        <p:nvPicPr>
          <p:cNvPr id="4" name="Picture 3" descr="0_kan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572768"/>
            <a:ext cx="10607040" cy="2746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580644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A64"/>
                </a:solidFill>
              </a:defRPr>
            </a:pPr>
            <a:r>
              <a:t>Dezelfde acht lijnen, vier keer. Hoe verder naar rechts, hoe minder moeite het kost om de lijn te vinden die ertoe doet — zonder dat er één kleur bij komt.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HET GEREEDSCHAP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Wat elk kanaal doet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Kleur</a:t>
            </a:r>
          </a:p>
          <a:p>
            <a:pPr>
              <a:spcBef>
                <a:spcPts val="600"/>
              </a:spcBef>
              <a:defRPr sz="1200" b="0">
                <a:solidFill>
                  <a:srgbClr val="121E31"/>
                </a:solidFill>
              </a:defRPr>
            </a:pPr>
            <a:r>
              <a:t>trekt het sterkst, maar werkt maar voor een handjevol categorieën · 1 tot 4 dingen uitlichten</a:t>
            </a:r>
          </a:p>
          <a:p>
            <a:pPr>
              <a:spcBef>
                <a:spcPts val="1200"/>
              </a:spcBef>
              <a:defRPr sz="1400" b="1">
                <a:solidFill>
                  <a:srgbClr val="1B4D3E"/>
                </a:solidFill>
              </a:defRPr>
            </a:pPr>
            <a:r>
              <a:t>Lijndikte</a:t>
            </a:r>
          </a:p>
          <a:p>
            <a:pPr>
              <a:spcBef>
                <a:spcPts val="600"/>
              </a:spcBef>
              <a:defRPr sz="1200" b="0">
                <a:solidFill>
                  <a:srgbClr val="121E31"/>
                </a:solidFill>
              </a:defRPr>
            </a:pPr>
            <a:r>
              <a:t>duwt iets naar voren zonder een kleur op te maken · één lijn belangrijker maken</a:t>
            </a:r>
          </a:p>
          <a:p>
            <a:pPr>
              <a:spcBef>
                <a:spcPts val="1200"/>
              </a:spcBef>
              <a:defRPr sz="1400" b="1">
                <a:solidFill>
                  <a:srgbClr val="1B4D3E"/>
                </a:solidFill>
              </a:defRPr>
            </a:pPr>
            <a:r>
              <a:t>Opacity</a:t>
            </a:r>
          </a:p>
          <a:p>
            <a:pPr>
              <a:spcBef>
                <a:spcPts val="600"/>
              </a:spcBef>
              <a:defRPr sz="1200" b="0">
                <a:solidFill>
                  <a:srgbClr val="121E31"/>
                </a:solidFill>
              </a:defRPr>
            </a:pPr>
            <a:r>
              <a:t>duwt de rest naar áchteren in plaats van iets naar voren · veel achtergrondlijnen dempen</a:t>
            </a:r>
          </a:p>
          <a:p>
            <a:pPr>
              <a:spcBef>
                <a:spcPts val="1200"/>
              </a:spcBef>
              <a:defRPr sz="1400" b="1">
                <a:solidFill>
                  <a:srgbClr val="1B4D3E"/>
                </a:solidFill>
              </a:defRPr>
            </a:pPr>
            <a:r>
              <a:t>Positie</a:t>
            </a:r>
          </a:p>
          <a:p>
            <a:pPr>
              <a:spcBef>
                <a:spcPts val="600"/>
              </a:spcBef>
              <a:defRPr sz="1200" b="0">
                <a:solidFill>
                  <a:srgbClr val="121E31"/>
                </a:solidFill>
              </a:defRPr>
            </a:pPr>
            <a:r>
              <a:t>het sterkste kanaal van allemaal, maar bepaald door je data · sorteren (Werkcollege 3)</a:t>
            </a:r>
          </a:p>
          <a:p>
            <a:pPr>
              <a:spcBef>
                <a:spcPts val="1800"/>
              </a:spcBef>
              <a:defRPr sz="1400" b="1">
                <a:solidFill>
                  <a:srgbClr val="B3261E"/>
                </a:solidFill>
              </a:defRPr>
            </a:pPr>
            <a:r>
              <a:t>Heb je 8 lijnen en moet er één opvallen, dan is "8 kleuren" het verkeerde antwoord.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1 · 10 MIN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Spaghetti identificeren</a:t>
            </a:r>
          </a:p>
        </p:txBody>
      </p:sp>
      <p:pic>
        <p:nvPicPr>
          <p:cNvPr id="4" name="Picture 3" descr="1_spaghet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63" y="1572768"/>
            <a:ext cx="8583168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580644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A64"/>
                </a:solidFill>
              </a:defRPr>
            </a:pPr>
            <a:r>
              <a:t>Alle bots, alle zittingen, ongefilterd. Technisch klopt deze grafiek. Vraag aan de zaal: wie wint? En hoelang deed je erover?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2 · 12 MIN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Eerste reductie is geen design maar filteren</a:t>
            </a:r>
          </a:p>
        </p:txBody>
      </p:sp>
      <p:pic>
        <p:nvPicPr>
          <p:cNvPr id="4" name="Picture 3" descr="2_gefilt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63" y="1572768"/>
            <a:ext cx="8583168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580644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A64"/>
                </a:solidFill>
              </a:defRPr>
            </a:pPr>
            <a:r>
              <a:t>Eén tafel, één zitting. Van 120 lijnen naar 6. Leesbaar — en nog steeds geen verhaal: elke lijn schreeuwt even hard.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3 · 22 MIN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Eén bot naar voren, de rest naar achteren</a:t>
            </a:r>
          </a:p>
        </p:txBody>
      </p:sp>
      <p:pic>
        <p:nvPicPr>
          <p:cNvPr id="4" name="Picture 3" descr="3_uitgeli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63" y="1572768"/>
            <a:ext cx="8583168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580644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A64"/>
                </a:solidFill>
              </a:defRPr>
            </a:pPr>
            <a:r>
              <a:t>Kleur + dikte + volle dekking voor je eigen bot. Grijs + dun + halftransparant voor de rest. De tegenstanders zijn niet onbelangrijk, ze zijn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3 · DE CODE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Drie kanalen, drie argumenten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05A64"/>
                </a:solidFill>
              </a:defRPr>
            </a:pPr>
            <a:r>
              <a:t># de context</a:t>
            </a:r>
          </a:p>
          <a:p>
            <a:pPr>
              <a:spcBef>
                <a:spcPts val="200"/>
              </a:spcBef>
              <a:defRPr sz="1300" b="0">
                <a:solidFill>
                  <a:srgbClr val="121E31"/>
                </a:solidFill>
                <a:latin typeface="Consolas"/>
              </a:defRPr>
            </a:pPr>
            <a:r>
              <a:t>ax.plot(x, y, color="#9AA3AA", linewidth=1.0, alpha=0.45, zorder=1)</a:t>
            </a:r>
          </a:p>
          <a:p>
            <a:pPr>
              <a:spcBef>
                <a:spcPts val="1600"/>
              </a:spcBef>
              <a:defRPr sz="1300" b="1">
                <a:solidFill>
                  <a:srgbClr val="1B4D3E"/>
                </a:solidFill>
              </a:defRPr>
            </a:pPr>
            <a:r>
              <a:t># de hoofdrol</a:t>
            </a:r>
          </a:p>
          <a:p>
            <a:pPr>
              <a:spcBef>
                <a:spcPts val="200"/>
              </a:spcBef>
              <a:defRPr sz="1300" b="0">
                <a:solidFill>
                  <a:srgbClr val="121E31"/>
                </a:solidFill>
                <a:latin typeface="Consolas"/>
              </a:defRPr>
            </a:pPr>
            <a:r>
              <a:t>ax.plot(x, y, color=ACCENT,     linewidth=3.0, alpha=1.0,  zorder=3)</a:t>
            </a:r>
          </a:p>
          <a:p>
            <a:pPr>
              <a:spcBef>
                <a:spcPts val="1800"/>
              </a:spcBef>
              <a:defRPr sz="1300" b="0">
                <a:solidFill>
                  <a:srgbClr val="505A64"/>
                </a:solidFill>
              </a:defRPr>
            </a:pPr>
            <a:r>
              <a:t>zorder bepaalt wat er bovenop ligt. Zonder dat verdwijnt je hoofdlijn onder de grijze massa zodra ze elkaar kruisen.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4 · 12 MIN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Meer dan één lijn uitlichten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Kleur werkt tot ongeveer vier categorieën. Daarna ben je aan het zoeken in plaats van aan het zien.</a:t>
            </a:r>
          </a:p>
          <a:p>
            <a:pPr>
              <a:spcBef>
                <a:spcPts val="1200"/>
              </a:spcBef>
              <a:defRPr sz="1300" b="0">
                <a:solidFill>
                  <a:srgbClr val="121E31"/>
                </a:solidFill>
              </a:defRPr>
            </a:pPr>
            <a:r>
              <a:t>Kies twee of drie tegenstanders die iets anders doen dan jij — niet de willekeurige eersten in de lijst.</a:t>
            </a:r>
          </a:p>
          <a:p>
            <a:pPr>
              <a:spcBef>
                <a:spcPts val="1600"/>
              </a:spcBef>
              <a:defRPr sz="1400" b="1">
                <a:solidFill>
                  <a:srgbClr val="1B4D3E"/>
                </a:solidFill>
              </a:defRPr>
            </a:pPr>
            <a:r>
              <a:t>De vraag die je met de grafiek beantwoordt, bepaalt wie er kleur krijgt.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5 · 18 MIN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Een titel is een bewering, geen label</a:t>
            </a:r>
          </a:p>
        </p:txBody>
      </p:sp>
      <p:pic>
        <p:nvPicPr>
          <p:cNvPr id="4" name="Picture 3" descr="4_kantelp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63" y="1572768"/>
            <a:ext cx="8583168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580644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A64"/>
                </a:solidFill>
              </a:defRPr>
            </a:pPr>
            <a:r>
              <a:t>"Chipverloop tafel 0" zegt niets. Schrijf op wát er gebeurde, en zet de annotatie op het moment waarop het gebeurde.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5 · DE VALKUIL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Twee Series aftrekken gaat stil mis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  <a:latin typeface="Consolas"/>
              </a:defRPr>
            </a:pPr>
            <a:r>
              <a:t>verschil = mijn_stack - zijn_stack</a:t>
            </a:r>
          </a:p>
          <a:p>
            <a:pPr>
              <a:spcBef>
                <a:spcPts val="1400"/>
              </a:spcBef>
              <a:defRPr sz="1300" b="0">
                <a:solidFill>
                  <a:srgbClr val="121E31"/>
                </a:solidFill>
              </a:defRPr>
            </a:pPr>
            <a:r>
              <a:t>Pandas lijnt die twee uit op hun index — hand_nummer. Bust de een eerder dan de ander, dan krijg je NaN voor elke hand die maar bij één van de twee voorkomt. Zonder foutmelding.</a:t>
            </a:r>
          </a:p>
          <a:p>
            <a:pPr>
              <a:spcBef>
                <a:spcPts val="1000"/>
              </a:spcBef>
              <a:defRPr sz="1300" b="0">
                <a:solidFill>
                  <a:srgbClr val="121E31"/>
                </a:solidFill>
              </a:defRPr>
            </a:pPr>
            <a:r>
              <a:t>idxmax() slaat die NaN's stilletjes over. Je zoekt je kantelpunt dan alleen in de overlap, en dat is precies het stuk waar niets bijzonders gebeurde.</a:t>
            </a:r>
          </a:p>
          <a:p>
            <a:pPr>
              <a:spcBef>
                <a:spcPts val="1600"/>
              </a:spcBef>
              <a:defRPr sz="1400" b="1">
                <a:solidFill>
                  <a:srgbClr val="B3261E"/>
                </a:solidFill>
                <a:latin typeface="Consolas"/>
              </a:defRPr>
            </a:pPr>
            <a:r>
              <a:t>Tel ze eerst:  verschil.isna().sum()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6 · 12 MIN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De eerlijkste kleurtest: haal de kleur weg</a:t>
            </a:r>
          </a:p>
        </p:txBody>
      </p:sp>
      <p:pic>
        <p:nvPicPr>
          <p:cNvPr id="4" name="Picture 3" descr="6_kleurlo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63" y="1572768"/>
            <a:ext cx="8583168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580644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A64"/>
                </a:solidFill>
              </a:defRPr>
            </a:pPr>
            <a:r>
              <a:t>Blijft je bot herkenbaar? Dan deed je het werk met dikte en opacity. Valt de grafiek uit elkaar, dan leunde alles op kleur — en dat is wat 1 op de 12 lezers ziet.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7 · 18 MIN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De stand of wat er gebeurde</a:t>
            </a:r>
          </a:p>
        </p:txBody>
      </p:sp>
      <p:pic>
        <p:nvPicPr>
          <p:cNvPr id="4" name="Picture 3" descr="5_niveau_vs_ver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20" y="1572768"/>
            <a:ext cx="9903655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580644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A64"/>
                </a:solidFill>
              </a:defRPr>
            </a:pPr>
            <a:r>
              <a:t>Links de stack: waar sta je. Rechts diff(): wat leverde deze hand op. Dezelfde bot, dezelfde handen — en pas rechts zie je wannéér het misging.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7 · WAAROM DIT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diff, cumsum en shift staan in de rubric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E31"/>
                </a:solidFill>
                <a:latin typeface="Consolas"/>
              </a:defRPr>
            </a:pPr>
            <a:r>
              <a:t>df.groupby("bot_naam")["stack"].diff()</a:t>
            </a:r>
          </a:p>
          <a:p>
            <a:pPr>
              <a:spcBef>
                <a:spcPts val="200"/>
              </a:spcBef>
              <a:defRPr sz="1200" b="0">
                <a:solidFill>
                  <a:srgbClr val="505A64"/>
                </a:solidFill>
              </a:defRPr>
            </a:pPr>
            <a:r>
              <a:t>het verschil met de hand ervoor — groepeer, anders trek je de eerste hand van de ene bot af van de laatste van de andere</a:t>
            </a:r>
          </a:p>
          <a:p>
            <a:pPr>
              <a:spcBef>
                <a:spcPts val="1200"/>
              </a:spcBef>
              <a:defRPr sz="1300" b="0">
                <a:solidFill>
                  <a:srgbClr val="121E31"/>
                </a:solidFill>
                <a:latin typeface="Consolas"/>
              </a:defRPr>
            </a:pPr>
            <a:r>
              <a:t>df["winst"].cumsum()</a:t>
            </a:r>
          </a:p>
          <a:p>
            <a:pPr>
              <a:spcBef>
                <a:spcPts val="200"/>
              </a:spcBef>
              <a:defRPr sz="1200" b="0">
                <a:solidFill>
                  <a:srgbClr val="505A64"/>
                </a:solidFill>
              </a:defRPr>
            </a:pPr>
            <a:r>
              <a:t>het opgetelde verloop: hoeveel heb je tot hier verdiend</a:t>
            </a:r>
          </a:p>
          <a:p>
            <a:pPr>
              <a:spcBef>
                <a:spcPts val="1200"/>
              </a:spcBef>
              <a:defRPr sz="1300" b="0">
                <a:solidFill>
                  <a:srgbClr val="121E31"/>
                </a:solidFill>
                <a:latin typeface="Consolas"/>
              </a:defRPr>
            </a:pPr>
            <a:r>
              <a:t>df["stack"].shift(1)</a:t>
            </a:r>
          </a:p>
          <a:p>
            <a:pPr>
              <a:spcBef>
                <a:spcPts val="200"/>
              </a:spcBef>
              <a:defRPr sz="1200" b="0">
                <a:solidFill>
                  <a:srgbClr val="505A64"/>
                </a:solidFill>
              </a:defRPr>
            </a:pPr>
            <a:r>
              <a:t>de waarde van de hand ervoor, naast die van nu</a:t>
            </a:r>
          </a:p>
          <a:p>
            <a:pPr>
              <a:spcBef>
                <a:spcPts val="1800"/>
              </a:spcBef>
              <a:defRPr sz="1400" b="1">
                <a:solidFill>
                  <a:srgbClr val="1B4D3E"/>
                </a:solidFill>
              </a:defRPr>
            </a:pPr>
            <a:r>
              <a:t>Case 2, criterium Vergelijken en annoteren, vraagt letterlijk om deze drie.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8 TOT 10 · 40 MIN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Je eigen vooruitgang, de ranglijst, en een tweede paar ogen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Deel 8 · Multi-week (15 min)</a:t>
            </a:r>
          </a:p>
          <a:p>
            <a:pPr>
              <a:spcBef>
                <a:spcPts val="600"/>
              </a:spcBef>
              <a:defRPr sz="1200" b="0">
                <a:solidFill>
                  <a:srgbClr val="121E31"/>
                </a:solidFill>
              </a:defRPr>
            </a:pPr>
            <a:r>
              <a:t>v1 naast v3 in één grafiek. Dit is de grafiek waarmee je laat zien dat je iets hebt geleerd.</a:t>
            </a:r>
          </a:p>
          <a:p>
            <a:pPr>
              <a:spcBef>
                <a:spcPts val="1200"/>
              </a:spcBef>
              <a:defRPr sz="1400" b="1">
                <a:solidFill>
                  <a:srgbClr val="1B4D3E"/>
                </a:solidFill>
              </a:defRPr>
            </a:pPr>
            <a:r>
              <a:t>Deel 9 · De winkans-ranglijst (15 min)</a:t>
            </a:r>
          </a:p>
          <a:p>
            <a:pPr>
              <a:spcBef>
                <a:spcPts val="600"/>
              </a:spcBef>
              <a:defRPr sz="1200" b="0">
                <a:solidFill>
                  <a:srgbClr val="121E31"/>
                </a:solidFill>
              </a:defRPr>
            </a:pPr>
            <a:r>
              <a:t>De equity-tabel uit Werkcollege 5 als beeld. Sorteren is hier het hele ontwerp.</a:t>
            </a:r>
          </a:p>
          <a:p>
            <a:pPr>
              <a:spcBef>
                <a:spcPts val="1200"/>
              </a:spcBef>
              <a:defRPr sz="1400" b="1">
                <a:solidFill>
                  <a:srgbClr val="1B4D3E"/>
                </a:solidFill>
              </a:defRPr>
            </a:pPr>
            <a:r>
              <a:t>Deel 10 · Peer-vergelijking (10 min)</a:t>
            </a:r>
          </a:p>
          <a:p>
            <a:pPr>
              <a:spcBef>
                <a:spcPts val="600"/>
              </a:spcBef>
              <a:defRPr sz="1200" b="0">
                <a:solidFill>
                  <a:srgbClr val="121E31"/>
                </a:solidFill>
              </a:defRPr>
            </a:pPr>
            <a:r>
              <a:t>Laat je grafiek zien zonder iets te zeggen. Wat leest de ander eruit? Dat is je echte test, niet je eigen oordeel.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11 · 15 MIN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Van grafiek naar Streamlit-app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Je grafiek wordt een pagina met een widget. Dat is het skelet van je Case 2-dashboard.</a:t>
            </a:r>
          </a:p>
          <a:p>
            <a:pPr>
              <a:spcBef>
                <a:spcPts val="1400"/>
              </a:spcBef>
              <a:defRPr sz="1300" b="0">
                <a:solidFill>
                  <a:srgbClr val="121E31"/>
                </a:solidFill>
              </a:defRPr>
            </a:pPr>
            <a:r>
              <a:t>Eerst je data wegschrijven naar CSV — een script kent je notebook-variabelen niet en heeft je token niet.</a:t>
            </a:r>
          </a:p>
          <a:p>
            <a:pPr>
              <a:spcBef>
                <a:spcPts val="1000"/>
              </a:spcBef>
              <a:defRPr sz="1300" b="0">
                <a:solidFill>
                  <a:srgbClr val="121E31"/>
                </a:solidFill>
              </a:defRPr>
            </a:pPr>
            <a:r>
              <a:t>Dan st.multiselect erbij, en één regel die meldt hoeveel rijen er geselecteerd zijn. Daarmee zie je het rerun-model: bij elke klik draait het hele script opnieuw.</a:t>
            </a:r>
          </a:p>
          <a:p>
            <a:pPr>
              <a:spcBef>
                <a:spcPts val="1600"/>
              </a:spcBef>
              <a:defRPr sz="1400" b="1">
                <a:solidFill>
                  <a:srgbClr val="1B4D3E"/>
                </a:solidFill>
              </a:defRPr>
            </a:pPr>
            <a:r>
              <a:t>Case 2 vraagt een slider, een checkbox én een dropdown. Hier bouw je de eerste.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AAN HET EIND VAN VANDAAG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Wat je meeneemt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9848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653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E31"/>
                </a:solidFill>
              </a:defRPr>
            </a:pPr>
            <a:r>
              <a:t>Filteren is de goedkoopste reductie — doe dat eerst, en pas daarna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69848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523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E31"/>
                </a:solidFill>
              </a:defRPr>
            </a:pPr>
            <a:r>
              <a:t>Eén ding uitlichten doe je met drie kanalen tegelijk, niet met acht kleuren.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65576"/>
            <a:ext cx="1069848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E31"/>
                </a:solidFill>
              </a:defRPr>
            </a:pPr>
            <a:r>
              <a:t>Een titel is een bewering. Kun je hem niet opschrijven, dan heb je je verhaal nog niet.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52544"/>
            <a:ext cx="1069848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E31"/>
                </a:solidFill>
              </a:defRPr>
            </a:pPr>
            <a:r>
              <a:t>Haal de kleur weg. Werkt je grafiek nog, dan werkt hij voor iedereen.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39512"/>
            <a:ext cx="1069848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4132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E31"/>
                </a:solidFill>
              </a:defRPr>
            </a:pPr>
            <a:r>
              <a:t>diff, cumsum en shift staan in de rubric van Case 2 — dit is waar je ze leert.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