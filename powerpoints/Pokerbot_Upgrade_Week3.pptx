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011680"/>
            <a:ext cx="10058400" cy="2926080"/>
          </a:xfrm>
          <a:prstGeom prst="rect">
            <a:avLst/>
          </a:prstGeom>
          <a:noFill/>
        </p:spPr>
        <p:txBody>
          <a:bodyPr wrap="square">
            <a:spAutoFit/>
          </a:bodyPr>
          <a:lstStyle/>
          <a:p>
            <a:pPr>
              <a:defRPr sz="1300" b="1">
                <a:solidFill>
                  <a:srgbClr val="4FC3A1"/>
                </a:solidFill>
              </a:defRPr>
            </a:pPr>
            <a:r>
              <a:t>WEEK 3 · WERKCOLLEGE 4</a:t>
            </a:r>
          </a:p>
          <a:p>
            <a:pPr>
              <a:spcBef>
                <a:spcPts val="800"/>
              </a:spcBef>
              <a:defRPr sz="3800" b="1">
                <a:solidFill>
                  <a:srgbClr val="FFFFFF"/>
                </a:solidFill>
              </a:defRPr>
            </a:pPr>
            <a:r>
              <a:t>Bot v2: functies, dictionaries, pandas en Plotly</a:t>
            </a:r>
          </a:p>
          <a:p>
            <a:pPr>
              <a:spcBef>
                <a:spcPts val="1400"/>
              </a:spcBef>
              <a:defRPr sz="1700" b="0">
                <a:solidFill>
                  <a:srgbClr val="C8D2DC"/>
                </a:solidFill>
              </a:defRPr>
            </a:pPr>
            <a:r>
              <a:t>123 minuten werkcollege · 4 tot 8 uur huiswerk · twee deadlines: woensdag 09:00 en donderdag 18:00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WERKCOLLEGE 4</a:t>
            </a:r>
          </a:p>
          <a:p>
            <a:pPr>
              <a:spcBef>
                <a:spcPts val="400"/>
              </a:spcBef>
              <a:defRPr sz="2400" b="1">
                <a:solidFill>
                  <a:srgbClr val="121E31"/>
                </a:solidFill>
              </a:defRPr>
            </a:pPr>
            <a:r>
              <a:t>Wat komt er vandaag langs?</a:t>
            </a:r>
          </a:p>
        </p:txBody>
      </p:sp>
      <p:sp>
        <p:nvSpPr>
          <p:cNvPr id="4" name="Rounded Rectangle 3"/>
          <p:cNvSpPr/>
          <p:nvPr/>
        </p:nvSpPr>
        <p:spPr>
          <a:xfrm>
            <a:off x="7315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2834640" cy="4023360"/>
          </a:xfrm>
          <a:prstGeom prst="rect">
            <a:avLst/>
          </a:prstGeom>
          <a:noFill/>
        </p:spPr>
        <p:txBody>
          <a:bodyPr wrap="square">
            <a:spAutoFit/>
          </a:bodyPr>
          <a:lstStyle/>
          <a:p>
            <a:pPr>
              <a:defRPr sz="1300" b="1">
                <a:solidFill>
                  <a:srgbClr val="121E31"/>
                </a:solidFill>
              </a:defRPr>
            </a:pPr>
            <a:r>
              <a:t>Deel 1 — Python basis</a:t>
            </a:r>
          </a:p>
          <a:p>
            <a:pPr>
              <a:spcBef>
                <a:spcPts val="200"/>
              </a:spcBef>
              <a:defRPr sz="1000" b="0">
                <a:solidFill>
                  <a:srgbClr val="505A64"/>
                </a:solidFill>
              </a:defRPr>
            </a:pPr>
            <a:r>
              <a:t>33 min · Functies, list comprehensions, dictionaries, pandas en Plotly</a:t>
            </a:r>
          </a:p>
          <a:p>
            <a:pPr>
              <a:spcBef>
                <a:spcPts val="1400"/>
              </a:spcBef>
              <a:defRPr sz="1300" b="1">
                <a:solidFill>
                  <a:srgbClr val="121E31"/>
                </a:solidFill>
              </a:defRPr>
            </a:pPr>
            <a:r>
              <a:t>Deel 2 — Pokerbot Upgrade: hoe het spel écht werkt</a:t>
            </a:r>
          </a:p>
          <a:p>
            <a:pPr>
              <a:spcBef>
                <a:spcPts val="200"/>
              </a:spcBef>
              <a:defRPr sz="1000" b="0">
                <a:solidFill>
                  <a:srgbClr val="505A64"/>
                </a:solidFill>
              </a:defRPr>
            </a:pPr>
            <a:r>
              <a:t>16 min · De regels van Texas Hold'em, en wat Bot v2 erbij krijgt</a:t>
            </a:r>
          </a:p>
          <a:p>
            <a:pPr>
              <a:spcBef>
                <a:spcPts val="1400"/>
              </a:spcBef>
              <a:defRPr sz="1300" b="1">
                <a:solidFill>
                  <a:srgbClr val="121E31"/>
                </a:solidFill>
              </a:defRPr>
            </a:pPr>
            <a:r>
              <a:t>Deel 3 — Zelf starten: Bot v2 skeleton</a:t>
            </a:r>
          </a:p>
          <a:p>
            <a:pPr>
              <a:spcBef>
                <a:spcPts val="200"/>
              </a:spcBef>
              <a:defRPr sz="1000" b="0">
                <a:solidFill>
                  <a:srgbClr val="505A64"/>
                </a:solidFill>
              </a:defRPr>
            </a:pPr>
            <a:r>
              <a:t>12 min · kies_actie(hand, stack) — reageren op twee dingen tegelijk</a:t>
            </a:r>
          </a:p>
          <a:p>
            <a:pPr>
              <a:spcBef>
                <a:spcPts val="1400"/>
              </a:spcBef>
              <a:defRPr sz="1300" b="1">
                <a:solidFill>
                  <a:srgbClr val="121E31"/>
                </a:solidFill>
              </a:defRPr>
            </a:pPr>
            <a:r>
              <a:t>Deel 4 — Handsterkte: wat wint er eigenlijk?</a:t>
            </a:r>
          </a:p>
          <a:p>
            <a:pPr>
              <a:spcBef>
                <a:spcPts val="200"/>
              </a:spcBef>
              <a:defRPr sz="1000" b="0">
                <a:solidFill>
                  <a:srgbClr val="505A64"/>
                </a:solidFill>
              </a:defRPr>
            </a:pPr>
            <a:r>
              <a:t>14 min · De negen handsoorten, van hoge kaart tot straight flush</a:t>
            </a:r>
          </a:p>
        </p:txBody>
      </p:sp>
      <p:sp>
        <p:nvSpPr>
          <p:cNvPr id="6" name="Rounded Rectangle 5"/>
          <p:cNvSpPr/>
          <p:nvPr/>
        </p:nvSpPr>
        <p:spPr>
          <a:xfrm>
            <a:off x="43891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828800"/>
            <a:ext cx="2834640" cy="4023360"/>
          </a:xfrm>
          <a:prstGeom prst="rect">
            <a:avLst/>
          </a:prstGeom>
          <a:noFill/>
        </p:spPr>
        <p:txBody>
          <a:bodyPr wrap="square">
            <a:spAutoFit/>
          </a:bodyPr>
          <a:lstStyle/>
          <a:p>
            <a:pPr>
              <a:defRPr sz="1300" b="1">
                <a:solidFill>
                  <a:srgbClr val="121E31"/>
                </a:solidFill>
              </a:defRPr>
            </a:pPr>
            <a:r>
              <a:t>Deel 5 — Winkans: wat je ECHT hebt</a:t>
            </a:r>
          </a:p>
          <a:p>
            <a:pPr>
              <a:spcBef>
                <a:spcPts val="200"/>
              </a:spcBef>
              <a:defRPr sz="1000" b="0">
                <a:solidFill>
                  <a:srgbClr val="505A64"/>
                </a:solidFill>
              </a:defRPr>
            </a:pPr>
            <a:r>
              <a:t>32 min · schat_winkans(hand, simulaties=1000, tegenstanders=1)</a:t>
            </a:r>
          </a:p>
          <a:p>
            <a:pPr>
              <a:spcBef>
                <a:spcPts val="1400"/>
              </a:spcBef>
              <a:defRPr sz="1300" b="1">
                <a:solidFill>
                  <a:srgbClr val="121E31"/>
                </a:solidFill>
              </a:defRPr>
            </a:pPr>
            <a:r>
              <a:t>Deel 6 — Pot odds × winkans: een echte beslisregel</a:t>
            </a:r>
          </a:p>
          <a:p>
            <a:pPr>
              <a:spcBef>
                <a:spcPts val="200"/>
              </a:spcBef>
              <a:defRPr sz="1000" b="0">
                <a:solidFill>
                  <a:srgbClr val="505A64"/>
                </a:solidFill>
              </a:defRPr>
            </a:pPr>
            <a:r>
              <a:t>16 min · Call als je winkans hoger is dan wat de pot odds eisen</a:t>
            </a:r>
          </a:p>
          <a:p>
            <a:pPr>
              <a:spcBef>
                <a:spcPts val="1400"/>
              </a:spcBef>
              <a:defRPr sz="1300" b="1">
                <a:solidFill>
                  <a:srgbClr val="121E31"/>
                </a:solidFill>
              </a:defRPr>
            </a:pPr>
            <a:r>
              <a:t>Deel 7 — Bot v2 afmaken en verbeteren</a:t>
            </a:r>
          </a:p>
          <a:p>
            <a:pPr>
              <a:spcBef>
                <a:spcPts val="200"/>
              </a:spcBef>
              <a:defRPr sz="1000" b="0">
                <a:solidFill>
                  <a:srgbClr val="505A64"/>
                </a:solidFill>
              </a:defRPr>
            </a:pPr>
            <a:r>
              <a:t>huiswerk · Het grootste onderdeel van de week — 4 tot 8 uur</a:t>
            </a:r>
          </a:p>
        </p:txBody>
      </p:sp>
      <p:sp>
        <p:nvSpPr>
          <p:cNvPr id="8" name="Rounded Rectangle 7"/>
          <p:cNvSpPr/>
          <p:nvPr/>
        </p:nvSpPr>
        <p:spPr>
          <a:xfrm>
            <a:off x="80467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828800"/>
            <a:ext cx="2834640" cy="4023360"/>
          </a:xfrm>
          <a:prstGeom prst="rect">
            <a:avLst/>
          </a:prstGeom>
          <a:noFill/>
        </p:spPr>
        <p:txBody>
          <a:bodyPr wrap="square">
            <a:spAutoFit/>
          </a:bodyPr>
          <a:lstStyle/>
          <a:p>
            <a:pPr>
              <a:defRPr sz="1300" b="1">
                <a:solidFill>
                  <a:srgbClr val="121E31"/>
                </a:solidFill>
              </a:defRPr>
            </a:pPr>
            <a:r>
              <a:t>Deel 8 — Lokaal testen tegen je eigen Week 1-bot</a:t>
            </a:r>
          </a:p>
          <a:p>
            <a:pPr>
              <a:spcBef>
                <a:spcPts val="200"/>
              </a:spcBef>
              <a:defRPr sz="1000" b="0">
                <a:solidFill>
                  <a:srgbClr val="505A64"/>
                </a:solidFill>
              </a:defRPr>
            </a:pPr>
            <a:r>
              <a:t>10 min (huiswerk) · Is v2 werkelijk slimmer dan v1?</a:t>
            </a:r>
          </a:p>
          <a:p>
            <a:pPr>
              <a:spcBef>
                <a:spcPts val="1400"/>
              </a:spcBef>
              <a:defRPr sz="1300" b="1">
                <a:solidFill>
                  <a:srgbClr val="121E31"/>
                </a:solidFill>
              </a:defRPr>
            </a:pPr>
            <a:r>
              <a:t>Deel 9 — Plotly-grafiek van het Week 1-toernooi</a:t>
            </a:r>
          </a:p>
          <a:p>
            <a:pPr>
              <a:spcBef>
                <a:spcPts val="200"/>
              </a:spcBef>
              <a:defRPr sz="1000" b="0">
                <a:solidFill>
                  <a:srgbClr val="505A64"/>
                </a:solidFill>
              </a:defRPr>
            </a:pPr>
            <a:r>
              <a:t>15 min (huiswerk) · Alle bots tegelijk, niet alleen die van jou</a:t>
            </a:r>
          </a:p>
          <a:p>
            <a:pPr>
              <a:spcBef>
                <a:spcPts val="1400"/>
              </a:spcBef>
              <a:defRPr sz="1300" b="1">
                <a:solidFill>
                  <a:srgbClr val="121E31"/>
                </a:solidFill>
              </a:defRPr>
            </a:pPr>
            <a:r>
              <a:t>Deel 10 — Inleveren via de API</a:t>
            </a:r>
          </a:p>
          <a:p>
            <a:pPr>
              <a:spcBef>
                <a:spcPts val="200"/>
              </a:spcBef>
              <a:defRPr sz="1000" b="0">
                <a:solidFill>
                  <a:srgbClr val="505A64"/>
                </a:solidFill>
              </a:defRPr>
            </a:pPr>
            <a:r>
              <a:t>10 min (huiswerk) · Zelfde recept als Week 1, met één parameter meer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 · 33 MIN · DE THEORIE</a:t>
            </a:r>
          </a:p>
          <a:p>
            <a:pPr>
              <a:spcBef>
                <a:spcPts val="400"/>
              </a:spcBef>
              <a:defRPr sz="2400" b="1">
                <a:solidFill>
                  <a:srgbClr val="121E31"/>
                </a:solidFill>
              </a:defRPr>
            </a:pPr>
            <a:r>
              <a:t>Python basis</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Default-argumenten</a:t>
            </a:r>
          </a:p>
          <a:p>
            <a:pPr>
              <a:spcBef>
                <a:spcPts val="300"/>
              </a:spcBef>
              <a:defRPr sz="1150" b="0">
                <a:solidFill>
                  <a:srgbClr val="121E31"/>
                </a:solidFill>
              </a:defRPr>
            </a:pPr>
            <a:r>
              <a:t>Een parameter met een standaardwaarde: kies_call_drempel(stack, standaard=30). Je hoeft hem niet mee te geven, tenzij je hem bewust wil overschrijven.</a:t>
            </a:r>
          </a:p>
          <a:p>
            <a:pPr>
              <a:spcBef>
                <a:spcPts val="1400"/>
              </a:spcBef>
              <a:defRPr sz="1400" b="1">
                <a:solidFill>
                  <a:srgbClr val="1B4D3E"/>
                </a:solidFill>
              </a:defRPr>
            </a:pPr>
            <a:r>
              <a:t>Dictionaries</a:t>
            </a:r>
          </a:p>
          <a:p>
            <a:pPr>
              <a:spcBef>
                <a:spcPts val="300"/>
              </a:spcBef>
              <a:defRPr sz="1150" b="0">
                <a:solidFill>
                  <a:srgbClr val="121E31"/>
                </a:solidFill>
              </a:defRPr>
            </a:pPr>
            <a:r>
              <a:t>Een tabel in code: sleutel → waarde. Je bot gebruikt hem zo meteen om per handsoort een drempel op te zoeken.</a:t>
            </a:r>
          </a:p>
          <a:p>
            <a:pPr>
              <a:spcBef>
                <a:spcPts val="1400"/>
              </a:spcBef>
              <a:defRPr sz="1400" b="1">
                <a:solidFill>
                  <a:srgbClr val="1B4D3E"/>
                </a:solidFill>
              </a:defRPr>
            </a:pPr>
            <a:r>
              <a:t>pandas: filteren en groupby</a:t>
            </a:r>
          </a:p>
          <a:p>
            <a:pPr>
              <a:spcBef>
                <a:spcPts val="300"/>
              </a:spcBef>
              <a:defRPr sz="1150" b="0">
                <a:solidFill>
                  <a:srgbClr val="121E31"/>
                </a:solidFill>
              </a:defRPr>
            </a:pPr>
            <a:r>
              <a:t>Van 'alle regels' naar 'alleen wat ik nodig heb', en dan per groep één getal.</a:t>
            </a:r>
          </a:p>
          <a:p>
            <a:pPr>
              <a:spcBef>
                <a:spcPts val="1400"/>
              </a:spcBef>
              <a:defRPr sz="1400" b="1">
                <a:solidFill>
                  <a:srgbClr val="1B4D3E"/>
                </a:solidFill>
              </a:defRPr>
            </a:pPr>
            <a:r>
              <a:t>Plotly express</a:t>
            </a:r>
          </a:p>
          <a:p>
            <a:pPr>
              <a:spcBef>
                <a:spcPts val="300"/>
              </a:spcBef>
              <a:defRPr sz="1150" b="0">
                <a:solidFill>
                  <a:srgbClr val="121E31"/>
                </a:solidFill>
              </a:defRPr>
            </a:pPr>
            <a:r>
              <a:t>Zelfde grafiek als matplotlib, maar je kunt erin klikken en hoveren. Voor Deel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 · 33 MIN · WAT JIJ DOET</a:t>
            </a:r>
          </a:p>
          <a:p>
            <a:pPr>
              <a:spcBef>
                <a:spcPts val="400"/>
              </a:spcBef>
              <a:defRPr sz="2400" b="1">
                <a:solidFill>
                  <a:srgbClr val="121E31"/>
                </a:solidFill>
              </a:defRPr>
            </a:pPr>
            <a:r>
              <a:t>Python basis</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Vier korte oefeningen: eerst een gegeven voorbeeld, dan een half voorbeeld dat je afmaakt.</a:t>
            </a:r>
          </a:p>
          <a:p>
            <a:pPr>
              <a:spcBef>
                <a:spcPts val="1200"/>
              </a:spcBef>
              <a:defRPr sz="1400" b="0">
                <a:solidFill>
                  <a:srgbClr val="121E31"/>
                </a:solidFill>
              </a:defRPr>
            </a:pPr>
            <a:r>
              <a:t>•  Dit is gereedschap, geen doel. Alles wat hier langskomt gebruik je vandaag nog.</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apart — dit is de basis voor Deel 3 tot en met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16 MIN · DE THEORIE</a:t>
            </a:r>
          </a:p>
          <a:p>
            <a:pPr>
              <a:spcBef>
                <a:spcPts val="400"/>
              </a:spcBef>
              <a:defRPr sz="2400" b="1">
                <a:solidFill>
                  <a:srgbClr val="121E31"/>
                </a:solidFill>
              </a:defRPr>
            </a:pPr>
            <a:r>
              <a:t>Pokerbot Upgrade: hoe het spel écht werkt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Twee hole cards</a:t>
            </a:r>
          </a:p>
          <a:p>
            <a:pPr>
              <a:spcBef>
                <a:spcPts val="300"/>
              </a:spcBef>
              <a:defRPr sz="1150" b="0">
                <a:solidFill>
                  <a:srgbClr val="121E31"/>
                </a:solidFill>
              </a:defRPr>
            </a:pPr>
            <a:r>
              <a:t>Privé, alleen jij ziet ze. 'Hole' = in het gat: ze liggen dicht op tafel. Je hoort ook 'pocket cards'; dat is hetzelfde.</a:t>
            </a:r>
          </a:p>
          <a:p>
            <a:pPr>
              <a:spcBef>
                <a:spcPts val="1400"/>
              </a:spcBef>
              <a:defRPr sz="1400" b="1">
                <a:solidFill>
                  <a:srgbClr val="1B4D3E"/>
                </a:solidFill>
              </a:defRPr>
            </a:pPr>
            <a:r>
              <a:t>Blinds</a:t>
            </a:r>
          </a:p>
          <a:p>
            <a:pPr>
              <a:spcBef>
                <a:spcPts val="300"/>
              </a:spcBef>
              <a:defRPr sz="1150" b="0">
                <a:solidFill>
                  <a:srgbClr val="121E31"/>
                </a:solidFill>
              </a:defRPr>
            </a:pPr>
            <a:r>
              <a:t>Twee spelers leggen verplicht in vóór er een kaart is gedeeld. Er zit dus altijd al geld in de pot voordat iemand een keuze maakt.</a:t>
            </a:r>
          </a:p>
          <a:p>
            <a:pPr>
              <a:spcBef>
                <a:spcPts val="1400"/>
              </a:spcBef>
              <a:defRPr sz="1400" b="1">
                <a:solidFill>
                  <a:srgbClr val="1B4D3E"/>
                </a:solidFill>
              </a:defRPr>
            </a:pPr>
            <a:r>
              <a:t>Vier straten</a:t>
            </a:r>
          </a:p>
          <a:p>
            <a:pPr>
              <a:spcBef>
                <a:spcPts val="300"/>
              </a:spcBef>
              <a:defRPr sz="1150" b="0">
                <a:solidFill>
                  <a:srgbClr val="121E31"/>
                </a:solidFill>
              </a:defRPr>
            </a:pPr>
            <a:r>
              <a:t>preflop (alleen je hole cards) → flop (3 erbij) → turn (4) → river (5). Na elke straat een inzetronde.</a:t>
            </a:r>
          </a:p>
          <a:p>
            <a:pPr>
              <a:spcBef>
                <a:spcPts val="1400"/>
              </a:spcBef>
              <a:defRPr sz="1400" b="1">
                <a:solidFill>
                  <a:srgbClr val="1B4D3E"/>
                </a:solidFill>
              </a:defRPr>
            </a:pPr>
            <a:r>
              <a:t>Wat v2 erbij krijgt</a:t>
            </a:r>
          </a:p>
          <a:p>
            <a:pPr>
              <a:spcBef>
                <a:spcPts val="300"/>
              </a:spcBef>
              <a:defRPr sz="1150" b="0">
                <a:solidFill>
                  <a:srgbClr val="121E31"/>
                </a:solidFill>
              </a:defRPr>
            </a:pPr>
            <a:r>
              <a:t>Zijn eigen stack, en straks ook de ronde. Daarmee reageert hij voor het eerst op de SITUATIE en niet alleen op zijn kaarten.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Twee kaarten van jezelf, vijf van de tafel</a:t>
            </a:r>
          </a:p>
        </p:txBody>
      </p:sp>
      <p:pic>
        <p:nvPicPr>
          <p:cNvPr id="4" name="Picture 3" descr="hole_cards.png"/>
          <p:cNvPicPr>
            <a:picLocks noChangeAspect="1"/>
          </p:cNvPicPr>
          <p:nvPr/>
        </p:nvPicPr>
        <p:blipFill>
          <a:blip r:embed="rId2"/>
          <a:stretch>
            <a:fillRect/>
          </a:stretch>
        </p:blipFill>
        <p:spPr>
          <a:xfrm>
            <a:off x="746607" y="1554480"/>
            <a:ext cx="10698480" cy="3939162"/>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Jouw twee hole cards zijn privé. Wat de anderen hebben weet je niet — je schat het. Dat schatten is waar Deel 5 over gaat.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Er ligt al geld in de pot voordat iemand kiest</a:t>
            </a:r>
          </a:p>
        </p:txBody>
      </p:sp>
      <p:pic>
        <p:nvPicPr>
          <p:cNvPr id="4" name="Picture 3" descr="tafel.png"/>
          <p:cNvPicPr>
            <a:picLocks noChangeAspect="1"/>
          </p:cNvPicPr>
          <p:nvPr/>
        </p:nvPicPr>
        <p:blipFill>
          <a:blip r:embed="rId2"/>
          <a:stretch>
            <a:fillRect/>
          </a:stretch>
        </p:blipFill>
        <p:spPr>
          <a:xfrm>
            <a:off x="3364994" y="1554480"/>
            <a:ext cx="5461706"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Twee spelers leggen verplicht in: de small blind en de big blind, twee keer zo groot. Daarom is folden nooit gratis.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Vier straten, vier keer bieden</a:t>
            </a:r>
          </a:p>
        </p:txBody>
      </p:sp>
      <p:pic>
        <p:nvPicPr>
          <p:cNvPr id="4" name="Picture 3" descr="straten.png"/>
          <p:cNvPicPr>
            <a:picLocks noChangeAspect="1"/>
          </p:cNvPicPr>
          <p:nvPr/>
        </p:nvPicPr>
        <p:blipFill>
          <a:blip r:embed="rId2"/>
          <a:stretch>
            <a:fillRect/>
          </a:stretch>
        </p:blipFill>
        <p:spPr>
          <a:xfrm>
            <a:off x="2693161" y="1554480"/>
            <a:ext cx="680537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preflop → flop → turn → river. Na elke straat wordt er opnieuw geboden, dus je bot beslist vier keer per hand.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Waarom twee kaarten niet genoeg zijn</a:t>
            </a:r>
          </a:p>
        </p:txBody>
      </p:sp>
      <p:pic>
        <p:nvPicPr>
          <p:cNvPr id="4" name="Picture 3" descr="handverloop.png"/>
          <p:cNvPicPr>
            <a:picLocks noChangeAspect="1"/>
          </p:cNvPicPr>
          <p:nvPr/>
        </p:nvPicPr>
        <p:blipFill>
          <a:blip r:embed="rId2"/>
          <a:stretch>
            <a:fillRect/>
          </a:stretch>
        </p:blipFill>
        <p:spPr>
          <a:xfrm>
            <a:off x="1825300" y="1554480"/>
            <a:ext cx="8541095"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Twee azen tegen 7-8 schoppen. Preflop is dat geen wedstrijd; op de river wint 7-8. Dit is geen uitzondering die we hebben opgezocht.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De kleuren: twee tekens per kaart</a:t>
            </a:r>
          </a:p>
        </p:txBody>
      </p:sp>
      <p:pic>
        <p:nvPicPr>
          <p:cNvPr id="4" name="Picture 3" descr="kleuren.png"/>
          <p:cNvPicPr>
            <a:picLocks noChangeAspect="1"/>
          </p:cNvPicPr>
          <p:nvPr/>
        </p:nvPicPr>
        <p:blipFill>
          <a:blip r:embed="rId2"/>
          <a:stretch>
            <a:fillRect/>
          </a:stretch>
        </p:blipFill>
        <p:spPr>
          <a:xfrm>
            <a:off x="746607" y="1554480"/>
            <a:ext cx="10698480" cy="3148133"/>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Eerst de kleur, dan de rang. SA is schoppen aas. Let op de tien: in de hulpfuncties heet die T, in je eigen bot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Wat je bot per beslissing binnenkrijgt</a:t>
            </a:r>
          </a:p>
        </p:txBody>
      </p:sp>
      <p:pic>
        <p:nvPicPr>
          <p:cNvPr id="4" name="Picture 3" descr="flowchart.png"/>
          <p:cNvPicPr>
            <a:picLocks noChangeAspect="1"/>
          </p:cNvPicPr>
          <p:nvPr/>
        </p:nvPicPr>
        <p:blipFill>
          <a:blip r:embed="rId2"/>
          <a:stretch>
            <a:fillRect/>
          </a:stretch>
        </p:blipFill>
        <p:spPr>
          <a:xfrm>
            <a:off x="1509564" y="1554480"/>
            <a:ext cx="9172566"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Dit is de hele upgrade van deze week: je kies_actie wordt vier keer per hand aangeroepen, elke keer met een andere ronde.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Wat kost een raise eigenlijk?</a:t>
            </a:r>
          </a:p>
        </p:txBody>
      </p:sp>
      <p:pic>
        <p:nvPicPr>
          <p:cNvPr id="4" name="Picture 3" descr="raiseladder.png"/>
          <p:cNvPicPr>
            <a:picLocks noChangeAspect="1"/>
          </p:cNvPicPr>
          <p:nvPr/>
        </p:nvPicPr>
        <p:blipFill>
          <a:blip r:embed="rId2"/>
          <a:stretch>
            <a:fillRect/>
          </a:stretch>
        </p:blipFill>
        <p:spPr>
          <a:xfrm>
            <a:off x="1550772" y="1554480"/>
            <a:ext cx="9090150"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Geen verdubbeling: het bod gaat naar het volgende veelvoud van de big blind. grote_raise is iets anders — die zet in één keer naar 200.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16 MIN · WAT JIJ DOET</a:t>
            </a:r>
          </a:p>
          <a:p>
            <a:pPr>
              <a:spcBef>
                <a:spcPts val="400"/>
              </a:spcBef>
              <a:defRPr sz="2400" b="1">
                <a:solidFill>
                  <a:srgbClr val="121E31"/>
                </a:solidFill>
              </a:defRPr>
            </a:pPr>
            <a:r>
              <a:t>Pokerbot Upgrade: hoe het spel écht werkt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Live demo van één hand, en daarna bouw je zelf een rondje op in code.</a:t>
            </a:r>
          </a:p>
          <a:p>
            <a:pPr>
              <a:spcBef>
                <a:spcPts val="1200"/>
              </a:spcBef>
              <a:defRPr sz="1400" b="0">
                <a:solidFill>
                  <a:srgbClr val="121E31"/>
                </a:solidFill>
              </a:defRPr>
            </a:pPr>
            <a:r>
              <a:t>•  Let op de raise-regel: maximaal twee raises per straat — een derde wordt een call.</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 dit is de uitleg waar Deel 3 op verder bouwt.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3 · 12 MIN · DE THEORIE</a:t>
            </a:r>
          </a:p>
          <a:p>
            <a:pPr>
              <a:spcBef>
                <a:spcPts val="400"/>
              </a:spcBef>
              <a:defRPr sz="2400" b="1">
                <a:solidFill>
                  <a:srgbClr val="121E31"/>
                </a:solidFill>
              </a:defRPr>
            </a:pPr>
            <a:r>
              <a:t>Zelf starten: Bot v2 skeleton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Van één naar twee parameters</a:t>
            </a:r>
          </a:p>
          <a:p>
            <a:pPr>
              <a:spcBef>
                <a:spcPts val="300"/>
              </a:spcBef>
              <a:defRPr sz="1150" b="0">
                <a:solidFill>
                  <a:srgbClr val="121E31"/>
                </a:solidFill>
              </a:defRPr>
            </a:pPr>
            <a:r>
              <a:t>Bot v1 kende alleen je hand. Bot v2 krijgt je stack erbij: hoeveel risico kun je je veroorloven?</a:t>
            </a:r>
          </a:p>
          <a:p>
            <a:pPr>
              <a:spcBef>
                <a:spcPts val="1400"/>
              </a:spcBef>
              <a:defRPr sz="1400" b="1">
                <a:solidFill>
                  <a:srgbClr val="1B4D3E"/>
                </a:solidFill>
              </a:defRPr>
            </a:pPr>
            <a:r>
              <a:t>Een patroon, geen voorschrift</a:t>
            </a:r>
          </a:p>
          <a:p>
            <a:pPr>
              <a:spcBef>
                <a:spcPts val="300"/>
              </a:spcBef>
              <a:defRPr sz="1150" b="0">
                <a:solidFill>
                  <a:srgbClr val="121E31"/>
                </a:solidFill>
              </a:defRPr>
            </a:pPr>
            <a:r>
              <a:t>stack &gt; 700 kun je wachten of druk zetten; 300–700 normaal spelen; onder 300 korte-stack-modus. Bedenk je eigen getallen.</a:t>
            </a:r>
          </a:p>
          <a:p>
            <a:pPr>
              <a:spcBef>
                <a:spcPts val="1400"/>
              </a:spcBef>
              <a:defRPr sz="1400" b="1">
                <a:solidFill>
                  <a:srgbClr val="1B4D3E"/>
                </a:solidFill>
              </a:defRPr>
            </a:pPr>
            <a:r>
              <a:t>Vier acties</a:t>
            </a:r>
          </a:p>
          <a:p>
            <a:pPr>
              <a:spcBef>
                <a:spcPts val="300"/>
              </a:spcBef>
              <a:defRPr sz="1150" b="0">
                <a:solidFill>
                  <a:srgbClr val="121E31"/>
                </a:solidFill>
              </a:defRPr>
            </a:pPr>
            <a:r>
              <a:t>fold, call, raise, all_in. Wat elke actie doet staat in Deel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3 · 12 MIN · WAT JIJ DOET</a:t>
            </a:r>
          </a:p>
          <a:p>
            <a:pPr>
              <a:spcBef>
                <a:spcPts val="400"/>
              </a:spcBef>
              <a:defRPr sz="2400" b="1">
                <a:solidFill>
                  <a:srgbClr val="121E31"/>
                </a:solidFill>
              </a:defRPr>
            </a:pPr>
            <a:r>
              <a:t>Zelf starten: Bot v2 skeleton</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Schrijf kies_actie(hand, stack) in mijn_bot_week3.py.</a:t>
            </a:r>
          </a:p>
          <a:p>
            <a:pPr>
              <a:spcBef>
                <a:spcPts val="1200"/>
              </a:spcBef>
              <a:defRPr sz="1400" b="0">
                <a:solidFill>
                  <a:srgbClr val="121E31"/>
                </a:solidFill>
              </a:defRPr>
            </a:pPr>
            <a:r>
              <a:t>•  Bouw hem stap voor stap op: eerst de hand, dan de stack erbij.</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werkend skeleton — de rest van de week maak je hem beter.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14 MIN · DE THEORIE</a:t>
            </a:r>
          </a:p>
          <a:p>
            <a:pPr>
              <a:spcBef>
                <a:spcPts val="400"/>
              </a:spcBef>
              <a:defRPr sz="2400" b="1">
                <a:solidFill>
                  <a:srgbClr val="121E31"/>
                </a:solidFill>
              </a:defRPr>
            </a:pPr>
            <a:r>
              <a:t>Handsterkte: wat wint er eigenlijk?</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Negen soorten</a:t>
            </a:r>
          </a:p>
          <a:p>
            <a:pPr>
              <a:spcBef>
                <a:spcPts val="300"/>
              </a:spcBef>
              <a:defRPr sz="1150" b="0">
                <a:solidFill>
                  <a:srgbClr val="121E31"/>
                </a:solidFill>
              </a:defRPr>
            </a:pPr>
            <a:r>
              <a:t>hoge kaart · één paar · twee paar · three of a kind · straat · flush · full house · four of a kind · straight flush.</a:t>
            </a:r>
          </a:p>
          <a:p>
            <a:pPr>
              <a:spcBef>
                <a:spcPts val="1400"/>
              </a:spcBef>
              <a:defRPr sz="1400" b="1">
                <a:solidFill>
                  <a:srgbClr val="1B4D3E"/>
                </a:solidFill>
              </a:defRPr>
            </a:pPr>
            <a:r>
              <a:t>Vijf uit zeven</a:t>
            </a:r>
          </a:p>
          <a:p>
            <a:pPr>
              <a:spcBef>
                <a:spcPts val="300"/>
              </a:spcBef>
              <a:defRPr sz="1150" b="0">
                <a:solidFill>
                  <a:srgbClr val="121E31"/>
                </a:solidFill>
              </a:defRPr>
            </a:pPr>
            <a:r>
              <a:t>Elke speler maakt de beste 5-kaartshand uit zijn 2 hole cards plus de 5 gedeelde kaarten.</a:t>
            </a:r>
          </a:p>
          <a:p>
            <a:pPr>
              <a:spcBef>
                <a:spcPts val="1400"/>
              </a:spcBef>
              <a:defRPr sz="1400" b="1">
                <a:solidFill>
                  <a:srgbClr val="1B4D3E"/>
                </a:solidFill>
              </a:defRPr>
            </a:pPr>
            <a:r>
              <a:t>Kleur telt hier wél</a:t>
            </a:r>
          </a:p>
          <a:p>
            <a:pPr>
              <a:spcBef>
                <a:spcPts val="300"/>
              </a:spcBef>
              <a:defRPr sz="1150" b="0">
                <a:solidFill>
                  <a:srgbClr val="121E31"/>
                </a:solidFill>
              </a:defRPr>
            </a:pPr>
            <a:r>
              <a:t>Twee tekens: eerst de kleur, dan de rang. SA is schoppen aas, HK harten heer, DQ ruiten vrouw, CJ klaveren boer. Zonder kleur kun je geen flush herkennen.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DE RANGORDE</a:t>
            </a:r>
          </a:p>
          <a:p>
            <a:pPr>
              <a:spcBef>
                <a:spcPts val="400"/>
              </a:spcBef>
              <a:defRPr sz="2400" b="1">
                <a:solidFill>
                  <a:srgbClr val="121E31"/>
                </a:solidFill>
              </a:defRPr>
            </a:pPr>
            <a:r>
              <a:t>De negen handsoorten, zwakste bovenaan</a:t>
            </a:r>
          </a:p>
        </p:txBody>
      </p:sp>
      <p:pic>
        <p:nvPicPr>
          <p:cNvPr id="4" name="Picture 3" descr="handsterkte.png"/>
          <p:cNvPicPr>
            <a:picLocks noChangeAspect="1"/>
          </p:cNvPicPr>
          <p:nvPr/>
        </p:nvPicPr>
        <p:blipFill>
          <a:blip r:embed="rId2"/>
          <a:stretch>
            <a:fillRect/>
          </a:stretch>
        </p:blipFill>
        <p:spPr>
          <a:xfrm>
            <a:off x="1417041" y="1554480"/>
            <a:ext cx="935761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Elke rij is een echte vijfkaartshand. Let op het verschil tussen straat (waardes op volgorde) en flush (dezelfde kleur) — en straight flush, die allebei tegelijk 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14 MIN · WAT JIJ DOET</a:t>
            </a:r>
          </a:p>
          <a:p>
            <a:pPr>
              <a:spcBef>
                <a:spcPts val="400"/>
              </a:spcBef>
              <a:defRPr sz="2400" b="1">
                <a:solidFill>
                  <a:srgbClr val="121E31"/>
                </a:solidFill>
              </a:defRPr>
            </a:pPr>
            <a:r>
              <a:t>Handsterkte: wat wint er eigenlijk?</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Laat de helper een paar handen beoordelen en kijk of je de uitkomst had voorspeld.</a:t>
            </a:r>
          </a:p>
          <a:p>
            <a:pPr>
              <a:spcBef>
                <a:spcPts val="1200"/>
              </a:spcBef>
              <a:defRPr sz="1400" b="0">
                <a:solidFill>
                  <a:srgbClr val="121E31"/>
                </a:solidFill>
              </a:defRPr>
            </a:pPr>
            <a:r>
              <a:t>•  Let op: de helper klaagt niet als je dezelfde kaart twee keer gebruikt.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 maar zonder dit is Deel 5 een black box.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32 MIN · DE THEORIE</a:t>
            </a:r>
          </a:p>
          <a:p>
            <a:pPr>
              <a:spcBef>
                <a:spcPts val="400"/>
              </a:spcBef>
              <a:defRPr sz="2400" b="1">
                <a:solidFill>
                  <a:srgbClr val="121E31"/>
                </a:solidFill>
              </a:defRPr>
            </a:pPr>
            <a:r>
              <a:t>Winkans: wat je ECHT hebt</a:t>
            </a:r>
          </a:p>
        </p:txBody>
      </p:sp>
      <p:sp>
        <p:nvSpPr>
          <p:cNvPr id="4" name="Rounded Rectangle 3"/>
          <p:cNvSpPr/>
          <p:nvPr/>
        </p:nvSpPr>
        <p:spPr>
          <a:xfrm>
            <a:off x="731520" y="1600200"/>
            <a:ext cx="603504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5486400" cy="4023360"/>
          </a:xfrm>
          <a:prstGeom prst="rect">
            <a:avLst/>
          </a:prstGeom>
          <a:noFill/>
        </p:spPr>
        <p:txBody>
          <a:bodyPr wrap="square">
            <a:spAutoFit/>
          </a:bodyPr>
          <a:lstStyle/>
          <a:p>
            <a:pPr>
              <a:defRPr sz="1400" b="1">
                <a:solidFill>
                  <a:srgbClr val="1B4D3E"/>
                </a:solidFill>
              </a:defRPr>
            </a:pPr>
            <a:r>
              <a:t>Monte Carlo</a:t>
            </a:r>
          </a:p>
          <a:p>
            <a:pPr>
              <a:spcBef>
                <a:spcPts val="300"/>
              </a:spcBef>
              <a:defRPr sz="1150" b="0">
                <a:solidFill>
                  <a:srgbClr val="121E31"/>
                </a:solidFill>
              </a:defRPr>
            </a:pPr>
            <a:r>
              <a:t>Speel je hand duizenden keren uit tegen willekeurige tegenstanders en een willekeurig bord, en tel hoe vaak je wint. Dezelfde aanpak als n_simulaties in het toernooi.</a:t>
            </a:r>
          </a:p>
          <a:p>
            <a:pPr>
              <a:spcBef>
                <a:spcPts val="1400"/>
              </a:spcBef>
              <a:defRPr sz="1400" b="1">
                <a:solidFill>
                  <a:srgbClr val="1B4D3E"/>
                </a:solidFill>
              </a:defRPr>
            </a:pPr>
            <a:r>
              <a:t>Tegen hoeveel mensen?</a:t>
            </a:r>
          </a:p>
          <a:p>
            <a:pPr>
              <a:spcBef>
                <a:spcPts val="300"/>
              </a:spcBef>
              <a:defRPr sz="1150" b="0">
                <a:solidFill>
                  <a:srgbClr val="121E31"/>
                </a:solidFill>
              </a:defRPr>
            </a:pPr>
            <a:r>
              <a:t>Dit is het belangrijkste argument. De standaardwaarde is 1, maar je zit aan een tafel van zes.</a:t>
            </a:r>
          </a:p>
          <a:p>
            <a:pPr>
              <a:spcBef>
                <a:spcPts val="1400"/>
              </a:spcBef>
              <a:defRPr sz="1400" b="1">
                <a:solidFill>
                  <a:srgbClr val="1B4D3E"/>
                </a:solidFill>
              </a:defRPr>
            </a:pPr>
            <a:r>
              <a:t>Gemeten verschil</a:t>
            </a:r>
          </a:p>
          <a:p>
            <a:pPr>
              <a:spcBef>
                <a:spcPts val="300"/>
              </a:spcBef>
              <a:defRPr sz="1150" b="0">
                <a:solidFill>
                  <a:srgbClr val="121E31"/>
                </a:solidFill>
              </a:defRPr>
            </a:pPr>
            <a:r>
              <a:t>A-A gaat van 85,3% naar 50,2% als je van vijf mensen moet winnen in plaats van één. 7-2 zakt van 33,9% naar 9,3%.</a:t>
            </a:r>
          </a:p>
          <a:p>
            <a:pPr>
              <a:spcBef>
                <a:spcPts val="1400"/>
              </a:spcBef>
              <a:defRPr sz="1400" b="1">
                <a:solidFill>
                  <a:srgbClr val="1B4D3E"/>
                </a:solidFill>
              </a:defRPr>
            </a:pPr>
            <a:r>
              <a:t>Advies</a:t>
            </a:r>
          </a:p>
          <a:p>
            <a:pPr>
              <a:spcBef>
                <a:spcPts val="300"/>
              </a:spcBef>
              <a:defRPr sz="1150" b="0">
                <a:solidFill>
                  <a:srgbClr val="121E31"/>
                </a:solidFill>
              </a:defRPr>
            </a:pPr>
            <a:r>
              <a:t>Ga uit van 5 tegenstanders, tenzij je weet dat het er minder zijn.</a:t>
            </a:r>
          </a:p>
        </p:txBody>
      </p:sp>
      <p:pic>
        <p:nvPicPr>
          <p:cNvPr id="6" name="Picture 5" descr="winkans.png"/>
          <p:cNvPicPr>
            <a:picLocks noChangeAspect="1"/>
          </p:cNvPicPr>
          <p:nvPr/>
        </p:nvPicPr>
        <p:blipFill>
          <a:blip r:embed="rId2"/>
          <a:stretch>
            <a:fillRect/>
          </a:stretch>
        </p:blipFill>
        <p:spPr>
          <a:xfrm>
            <a:off x="7040880" y="2103120"/>
            <a:ext cx="4389120" cy="21605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MONTE CARLO</a:t>
            </a:r>
          </a:p>
          <a:p>
            <a:pPr>
              <a:spcBef>
                <a:spcPts val="400"/>
              </a:spcBef>
              <a:defRPr sz="2400" b="1">
                <a:solidFill>
                  <a:srgbClr val="121E31"/>
                </a:solidFill>
              </a:defRPr>
            </a:pPr>
            <a:r>
              <a:t>Monte Carlo: wat is dat eigenlijk?</a:t>
            </a:r>
          </a:p>
        </p:txBody>
      </p:sp>
      <p:pic>
        <p:nvPicPr>
          <p:cNvPr id="4" name="Picture 3" descr="montecarlo.png"/>
          <p:cNvPicPr>
            <a:picLocks noChangeAspect="1"/>
          </p:cNvPicPr>
          <p:nvPr/>
        </p:nvPicPr>
        <p:blipFill>
          <a:blip r:embed="rId2"/>
          <a:stretch>
            <a:fillRect/>
          </a:stretch>
        </p:blipFill>
        <p:spPr>
          <a:xfrm>
            <a:off x="1330741" y="1554480"/>
            <a:ext cx="953021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Als je een kans niet kunt uitrekenen, probeer je hem gewoon heel vaak. Tien worpen zeggen niets, duizend worpen komen dicht bij de waarheid. Meer proberen maakt het antwoord preciezer, nooit anders.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MONTE CARLO</a:t>
            </a:r>
          </a:p>
          <a:p>
            <a:pPr>
              <a:spcBef>
                <a:spcPts val="400"/>
              </a:spcBef>
              <a:defRPr sz="2400" b="1">
                <a:solidFill>
                  <a:srgbClr val="121E31"/>
                </a:solidFill>
              </a:defRPr>
            </a:pPr>
            <a:r>
              <a:t>Zo komt je winkans tot stand</a:t>
            </a:r>
          </a:p>
        </p:txBody>
      </p:sp>
      <p:pic>
        <p:nvPicPr>
          <p:cNvPr id="4" name="Picture 3" descr="montecarlo_poker.png"/>
          <p:cNvPicPr>
            <a:picLocks noChangeAspect="1"/>
          </p:cNvPicPr>
          <p:nvPr/>
        </p:nvPicPr>
        <p:blipFill>
          <a:blip r:embed="rId2"/>
          <a:stretch>
            <a:fillRect/>
          </a:stretch>
        </p:blipFill>
        <p:spPr>
          <a:xfrm>
            <a:off x="746607" y="1554480"/>
            <a:ext cx="10698480" cy="2478003"/>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Je hoeft het niet te bouwen — je moet weten wat het getal betekent, en tegen hoeveel mensen het gerekend is. Hetzelfde idee als n_simulaties in het toernooi: één toernooi is toeval, twintig zijn een meting.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32 MIN · WAT JIJ DOET</a:t>
            </a:r>
          </a:p>
          <a:p>
            <a:pPr>
              <a:spcBef>
                <a:spcPts val="400"/>
              </a:spcBef>
              <a:defRPr sz="2400" b="1">
                <a:solidFill>
                  <a:srgbClr val="121E31"/>
                </a:solidFill>
              </a:defRPr>
            </a:pPr>
            <a:r>
              <a:t>Winkans: wat je ECHT hebt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Test schat_winkans op bekende sterke en zwakke starthanden.</a:t>
            </a:r>
          </a:p>
          <a:p>
            <a:pPr>
              <a:spcBef>
                <a:spcPts val="1200"/>
              </a:spcBef>
              <a:defRPr sz="1400" b="0">
                <a:solidFill>
                  <a:srgbClr val="121E31"/>
                </a:solidFill>
              </a:defRPr>
            </a:pPr>
            <a:r>
              <a:t>•  Draai dezelfde hand met tegenstanders=1 en tegenstanders=5 en leg het verschil uit.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Je bot gebruikt schat_winkans() met tegenstanders=5.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6 · 16 MIN · DE THEORIE</a:t>
            </a:r>
          </a:p>
          <a:p>
            <a:pPr>
              <a:spcBef>
                <a:spcPts val="400"/>
              </a:spcBef>
              <a:defRPr sz="2400" b="1">
                <a:solidFill>
                  <a:srgbClr val="121E31"/>
                </a:solidFill>
              </a:defRPr>
            </a:pPr>
            <a:r>
              <a:t>Pot odds × winkans: een echte beslisregel</a:t>
            </a:r>
          </a:p>
        </p:txBody>
      </p:sp>
      <p:sp>
        <p:nvSpPr>
          <p:cNvPr id="4" name="Rounded Rectangle 3"/>
          <p:cNvSpPr/>
          <p:nvPr/>
        </p:nvSpPr>
        <p:spPr>
          <a:xfrm>
            <a:off x="731520" y="1600200"/>
            <a:ext cx="603504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5486400" cy="4023360"/>
          </a:xfrm>
          <a:prstGeom prst="rect">
            <a:avLst/>
          </a:prstGeom>
          <a:noFill/>
        </p:spPr>
        <p:txBody>
          <a:bodyPr wrap="square">
            <a:spAutoFit/>
          </a:bodyPr>
          <a:lstStyle/>
          <a:p>
            <a:pPr>
              <a:defRPr sz="1400" b="1">
                <a:solidFill>
                  <a:srgbClr val="1B4D3E"/>
                </a:solidFill>
              </a:defRPr>
            </a:pPr>
            <a:r>
              <a:t>De twee helften</a:t>
            </a:r>
          </a:p>
          <a:p>
            <a:pPr>
              <a:spcBef>
                <a:spcPts val="300"/>
              </a:spcBef>
              <a:defRPr sz="1150" b="0">
                <a:solidFill>
                  <a:srgbClr val="121E31"/>
                </a:solidFill>
              </a:defRPr>
            </a:pPr>
            <a:r>
              <a:t>bereken_pot_odds(pot, inzet) zegt wat je MINIMAAL moet winnen. schat_winkans zegt wat je NAAR VERWACHTING wint.</a:t>
            </a:r>
          </a:p>
          <a:p>
            <a:pPr>
              <a:spcBef>
                <a:spcPts val="1400"/>
              </a:spcBef>
              <a:defRPr sz="1400" b="1">
                <a:solidFill>
                  <a:srgbClr val="1B4D3E"/>
                </a:solidFill>
              </a:defRPr>
            </a:pPr>
            <a:r>
              <a:t>Rekenen, geen vuistregel</a:t>
            </a:r>
          </a:p>
          <a:p>
            <a:pPr>
              <a:spcBef>
                <a:spcPts val="300"/>
              </a:spcBef>
              <a:defRPr sz="1150" b="0">
                <a:solidFill>
                  <a:srgbClr val="121E31"/>
                </a:solidFill>
              </a:defRPr>
            </a:pPr>
            <a:r>
              <a:t>Pot 100, je moet 20 bijleggen: 20/(100+20) ≈ 17% nodig.</a:t>
            </a:r>
          </a:p>
          <a:p>
            <a:pPr>
              <a:spcBef>
                <a:spcPts val="1400"/>
              </a:spcBef>
              <a:defRPr sz="1400" b="1">
                <a:solidFill>
                  <a:srgbClr val="1B4D3E"/>
                </a:solidFill>
              </a:defRPr>
            </a:pPr>
            <a:r>
              <a:t>Waar het stil fout gaat</a:t>
            </a:r>
          </a:p>
          <a:p>
            <a:pPr>
              <a:spcBef>
                <a:spcPts val="300"/>
              </a:spcBef>
              <a:defRPr sz="1150" b="0">
                <a:solidFill>
                  <a:srgbClr val="121E31"/>
                </a:solidFill>
              </a:defRPr>
            </a:pPr>
            <a:r>
              <a:t>Vergelijk je een kop-op-kop-winkans met de prijs aan een tafel van zes, dan lijkt bijna elke hand de moeite waard. Je bot crasht niet — hij verliest alleen chips.</a:t>
            </a:r>
          </a:p>
          <a:p>
            <a:pPr>
              <a:spcBef>
                <a:spcPts val="1400"/>
              </a:spcBef>
              <a:defRPr sz="1400" b="1">
                <a:solidFill>
                  <a:srgbClr val="1B4D3E"/>
                </a:solidFill>
              </a:defRPr>
            </a:pPr>
            <a:r>
              <a:t>Zelfde regel, ander advies</a:t>
            </a:r>
          </a:p>
          <a:p>
            <a:pPr>
              <a:spcBef>
                <a:spcPts val="300"/>
              </a:spcBef>
              <a:defRPr sz="1150" b="0">
                <a:solidFill>
                  <a:srgbClr val="121E31"/>
                </a:solidFill>
              </a:defRPr>
            </a:pPr>
            <a:r>
              <a:t>Met 7-2: bij 1 tegenstander zegt de regel CALL, bij 5 tegenstanders FOLD.</a:t>
            </a:r>
          </a:p>
        </p:txBody>
      </p:sp>
      <p:pic>
        <p:nvPicPr>
          <p:cNvPr id="6" name="Picture 5" descr="potodds.png"/>
          <p:cNvPicPr>
            <a:picLocks noChangeAspect="1"/>
          </p:cNvPicPr>
          <p:nvPr/>
        </p:nvPicPr>
        <p:blipFill>
          <a:blip r:embed="rId2"/>
          <a:stretch>
            <a:fillRect/>
          </a:stretch>
        </p:blipFill>
        <p:spPr>
          <a:xfrm>
            <a:off x="7040880" y="2103120"/>
            <a:ext cx="4389120" cy="216365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6 · 16 MIN · WAT JIJ DOET</a:t>
            </a:r>
          </a:p>
          <a:p>
            <a:pPr>
              <a:spcBef>
                <a:spcPts val="400"/>
              </a:spcBef>
              <a:defRPr sz="2400" b="1">
                <a:solidFill>
                  <a:srgbClr val="121E31"/>
                </a:solidFill>
              </a:defRPr>
            </a:pPr>
            <a:r>
              <a:t>Pot odds × winkans: een echte beslisregel</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Reken de regel twee keer uit: met tegenstanders=1 en met tegenstanders=5.</a:t>
            </a:r>
          </a:p>
          <a:p>
            <a:pPr>
              <a:spcBef>
                <a:spcPts val="1200"/>
              </a:spcBef>
              <a:defRPr sz="1400" b="0">
                <a:solidFill>
                  <a:srgbClr val="121E31"/>
                </a:solidFill>
              </a:defRPr>
            </a:pPr>
            <a:r>
              <a:t>•  Kies daarna je eigen drempel en verdedig hem.</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beslisregel in je bot die beide getallen vergelijkt.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HUISWERK · DE THEORIE</a:t>
            </a:r>
          </a:p>
          <a:p>
            <a:pPr>
              <a:spcBef>
                <a:spcPts val="400"/>
              </a:spcBef>
              <a:defRPr sz="2400" b="1">
                <a:solidFill>
                  <a:srgbClr val="121E31"/>
                </a:solidFill>
              </a:defRPr>
            </a:pPr>
            <a:r>
              <a:t>Bot v2 afmaken en verbeteren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Geen invuloefening</a:t>
            </a:r>
          </a:p>
          <a:p>
            <a:pPr>
              <a:spcBef>
                <a:spcPts val="300"/>
              </a:spcBef>
              <a:defRPr sz="1150" b="0">
                <a:solidFill>
                  <a:srgbClr val="121E31"/>
                </a:solidFill>
              </a:defRPr>
            </a:pPr>
            <a:r>
              <a:t>Er is geen goed antwoord dat wij achter de hand houden. Hier zit je zelf aan het stuur.</a:t>
            </a:r>
          </a:p>
          <a:p>
            <a:pPr>
              <a:spcBef>
                <a:spcPts val="1400"/>
              </a:spcBef>
              <a:defRPr sz="1400" b="1">
                <a:solidFill>
                  <a:srgbClr val="1B4D3E"/>
                </a:solidFill>
              </a:defRPr>
            </a:pPr>
            <a:r>
              <a:t>Waar je tijd in gaat zitten</a:t>
            </a:r>
          </a:p>
          <a:p>
            <a:pPr>
              <a:spcBef>
                <a:spcPts val="300"/>
              </a:spcBef>
              <a:defRPr sz="1150" b="0">
                <a:solidFill>
                  <a:srgbClr val="121E31"/>
                </a:solidFill>
              </a:defRPr>
            </a:pPr>
            <a:r>
              <a:t>kies_actie uitbreiden met ronde, pot en inzet_om_te_callen: 1–2 uur. De winkans-regel inbouwen en drempels afstemmen: 1–2 uur. Een eigen testset bouwen: 1–2 uur. Reageren op de uitslag: 1–2 uur.</a:t>
            </a:r>
          </a:p>
          <a:p>
            <a:pPr>
              <a:spcBef>
                <a:spcPts val="1400"/>
              </a:spcBef>
              <a:defRPr sz="1400" b="1">
                <a:solidFill>
                  <a:srgbClr val="1B4D3E"/>
                </a:solidFill>
              </a:defRPr>
            </a:pPr>
            <a:r>
              <a:t>Twee momenten</a:t>
            </a:r>
          </a:p>
          <a:p>
            <a:pPr>
              <a:spcBef>
                <a:spcPts val="300"/>
              </a:spcBef>
              <a:defRPr sz="1150" b="0">
                <a:solidFill>
                  <a:srgbClr val="121E31"/>
                </a:solidFill>
              </a:defRPr>
            </a:pPr>
            <a:r>
              <a:t>Woensdag 09:00 een werkende bot voor het toernooi. Donderdag 18:00 je verbeterde versie.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4 TOT 8 UUR</a:t>
            </a:r>
          </a:p>
          <a:p>
            <a:pPr>
              <a:spcBef>
                <a:spcPts val="400"/>
              </a:spcBef>
              <a:defRPr sz="2400" b="1">
                <a:solidFill>
                  <a:srgbClr val="121E31"/>
                </a:solidFill>
              </a:defRPr>
            </a:pPr>
            <a:r>
              <a:t>Wat kun je meenemen in Bot v2?</a:t>
            </a:r>
          </a:p>
        </p:txBody>
      </p:sp>
      <p:sp>
        <p:nvSpPr>
          <p:cNvPr id="4" name="Rounded Rectangle 3"/>
          <p:cNvSpPr/>
          <p:nvPr/>
        </p:nvSpPr>
        <p:spPr>
          <a:xfrm>
            <a:off x="731520" y="1572768"/>
            <a:ext cx="5257800" cy="35661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10512"/>
            <a:ext cx="4709160" cy="3108960"/>
          </a:xfrm>
          <a:prstGeom prst="rect">
            <a:avLst/>
          </a:prstGeom>
          <a:noFill/>
        </p:spPr>
        <p:txBody>
          <a:bodyPr wrap="square">
            <a:spAutoFit/>
          </a:bodyPr>
          <a:lstStyle/>
          <a:p>
            <a:pPr>
              <a:defRPr sz="1400" b="1">
                <a:solidFill>
                  <a:srgbClr val="1B4D3E"/>
                </a:solidFill>
              </a:defRPr>
            </a:pPr>
            <a:r>
              <a:t>1.  Je winkans-grens</a:t>
            </a:r>
          </a:p>
          <a:p>
            <a:pPr>
              <a:spcBef>
                <a:spcPts val="300"/>
              </a:spcBef>
              <a:defRPr sz="1100" b="0">
                <a:solidFill>
                  <a:srgbClr val="121E31"/>
                </a:solidFill>
              </a:defRPr>
            </a:pPr>
            <a:r>
              <a:t>Vanaf welke winkans doe je mee, en vanaf welke raise je? Dat is een getal dat jij kiest — en waarvan je kunt meten of een ander getal beter werkt.</a:t>
            </a:r>
          </a:p>
          <a:p>
            <a:pPr>
              <a:spcBef>
                <a:spcPts val="1600"/>
              </a:spcBef>
              <a:defRPr sz="1400" b="1">
                <a:solidFill>
                  <a:srgbClr val="1B4D3E"/>
                </a:solidFill>
              </a:defRPr>
            </a:pPr>
            <a:r>
              <a:t>2.  Een andere grens per straat</a:t>
            </a:r>
          </a:p>
          <a:p>
            <a:pPr>
              <a:spcBef>
                <a:spcPts val="300"/>
              </a:spcBef>
              <a:defRPr sz="1100" b="0">
                <a:solidFill>
                  <a:srgbClr val="121E31"/>
                </a:solidFill>
              </a:defRPr>
            </a:pPr>
            <a:r>
              <a:t>Preflop weet je alleen je twee kaarten en komen er nog vijf bij; op de river ligt alles er al. Dezelfde 40% betekent daar dus iets anders.</a:t>
            </a:r>
          </a:p>
          <a:p>
            <a:pPr>
              <a:spcBef>
                <a:spcPts val="1600"/>
              </a:spcBef>
              <a:defRPr sz="1400" b="1">
                <a:solidFill>
                  <a:srgbClr val="1B4D3E"/>
                </a:solidFill>
              </a:defRPr>
            </a:pPr>
            <a:r>
              <a:t>3.  De pot-odds-regel</a:t>
            </a:r>
          </a:p>
          <a:p>
            <a:pPr>
              <a:spcBef>
                <a:spcPts val="300"/>
              </a:spcBef>
              <a:defRPr sz="1100" b="0">
                <a:solidFill>
                  <a:srgbClr val="121E31"/>
                </a:solidFill>
              </a:defRPr>
            </a:pPr>
            <a:r>
              <a:t>Wiskundig correct maar naief: hij foldt bijna nooit preflop. Wil je dat?</a:t>
            </a:r>
          </a:p>
        </p:txBody>
      </p:sp>
      <p:sp>
        <p:nvSpPr>
          <p:cNvPr id="6" name="Rounded Rectangle 5"/>
          <p:cNvSpPr/>
          <p:nvPr/>
        </p:nvSpPr>
        <p:spPr>
          <a:xfrm>
            <a:off x="6263640" y="1572768"/>
            <a:ext cx="5257800" cy="35661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60" y="1810512"/>
            <a:ext cx="4709160" cy="3108960"/>
          </a:xfrm>
          <a:prstGeom prst="rect">
            <a:avLst/>
          </a:prstGeom>
          <a:noFill/>
        </p:spPr>
        <p:txBody>
          <a:bodyPr wrap="square">
            <a:spAutoFit/>
          </a:bodyPr>
          <a:lstStyle/>
          <a:p>
            <a:pPr>
              <a:defRPr sz="1400" b="1">
                <a:solidFill>
                  <a:srgbClr val="1B4D3E"/>
                </a:solidFill>
              </a:defRPr>
            </a:pPr>
            <a:r>
              <a:t>4.  Stack-bewustzijn</a:t>
            </a:r>
          </a:p>
          <a:p>
            <a:pPr>
              <a:spcBef>
                <a:spcPts val="300"/>
              </a:spcBef>
              <a:defRPr sz="1100" b="0">
                <a:solidFill>
                  <a:srgbClr val="121E31"/>
                </a:solidFill>
              </a:defRPr>
            </a:pPr>
            <a:r>
              <a:t>Met 90 chips speel je anders dan met 900. Wanneer is all_in een plan?</a:t>
            </a:r>
          </a:p>
          <a:p>
            <a:pPr>
              <a:spcBef>
                <a:spcPts val="1600"/>
              </a:spcBef>
              <a:defRPr sz="1400" b="1">
                <a:solidFill>
                  <a:srgbClr val="1B4D3E"/>
                </a:solidFill>
              </a:defRPr>
            </a:pPr>
            <a:r>
              <a:t>5.  Je twee raises per straat</a:t>
            </a:r>
          </a:p>
          <a:p>
            <a:pPr>
              <a:spcBef>
                <a:spcPts val="300"/>
              </a:spcBef>
              <a:defRPr sz="1100" b="0">
                <a:solidFill>
                  <a:srgbClr val="121E31"/>
                </a:solidFill>
              </a:defRPr>
            </a:pPr>
            <a:r>
              <a:t>Meteen druk zetten, of pas als je het bord ziet? En pak je terug?</a:t>
            </a:r>
          </a:p>
          <a:p>
            <a:pPr>
              <a:spcBef>
                <a:spcPts val="1600"/>
              </a:spcBef>
              <a:defRPr sz="1400" b="1">
                <a:solidFill>
                  <a:srgbClr val="1B4D3E"/>
                </a:solidFill>
              </a:defRPr>
            </a:pPr>
            <a:r>
              <a:t>6.  Hoeveel je inzet</a:t>
            </a:r>
          </a:p>
          <a:p>
            <a:pPr>
              <a:spcBef>
                <a:spcPts val="300"/>
              </a:spcBef>
              <a:defRPr sz="1100" b="0">
                <a:solidFill>
                  <a:srgbClr val="121E31"/>
                </a:solidFill>
              </a:defRPr>
            </a:pPr>
            <a:r>
              <a:t>raise is het minimum, grote_raise zet naar 200. Wanneer is dat het waard?</a:t>
            </a:r>
          </a:p>
        </p:txBody>
      </p:sp>
      <p:sp>
        <p:nvSpPr>
          <p:cNvPr id="8" name="Rounded Rectangle 7"/>
          <p:cNvSpPr/>
          <p:nvPr/>
        </p:nvSpPr>
        <p:spPr>
          <a:xfrm>
            <a:off x="731520" y="5394960"/>
            <a:ext cx="10698480" cy="86868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559552"/>
            <a:ext cx="10149840" cy="640080"/>
          </a:xfrm>
          <a:prstGeom prst="rect">
            <a:avLst/>
          </a:prstGeom>
          <a:noFill/>
        </p:spPr>
        <p:txBody>
          <a:bodyPr wrap="square">
            <a:spAutoFit/>
          </a:bodyPr>
          <a:lstStyle/>
          <a:p>
            <a:pPr>
              <a:defRPr sz="1200" b="0">
                <a:solidFill>
                  <a:srgbClr val="121E31"/>
                </a:solidFill>
              </a:defRPr>
            </a:pPr>
            <a:r>
              <a:t>Je hoeft ze niet alle zes te doen. Kies er twee of drie die bij jouw idee van een goede bot passen, en werk die dan ook echt uit.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IN CODE</a:t>
            </a:r>
          </a:p>
          <a:p>
            <a:pPr>
              <a:spcBef>
                <a:spcPts val="400"/>
              </a:spcBef>
              <a:defRPr sz="2400" b="1">
                <a:solidFill>
                  <a:srgbClr val="121E31"/>
                </a:solidFill>
              </a:defRPr>
            </a:pPr>
            <a:r>
              <a:t>Hoe dat er los in code uitziet</a:t>
            </a:r>
          </a:p>
        </p:txBody>
      </p:sp>
      <p:sp>
        <p:nvSpPr>
          <p:cNvPr id="4" name="Rounded Rectangle 3"/>
          <p:cNvSpPr/>
          <p:nvPr/>
        </p:nvSpPr>
        <p:spPr>
          <a:xfrm>
            <a:off x="731520" y="15727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64208"/>
            <a:ext cx="4855464" cy="1002792"/>
          </a:xfrm>
          <a:prstGeom prst="rect">
            <a:avLst/>
          </a:prstGeom>
          <a:noFill/>
        </p:spPr>
        <p:txBody>
          <a:bodyPr wrap="square">
            <a:spAutoFit/>
          </a:bodyPr>
          <a:lstStyle/>
          <a:p>
            <a:pPr>
              <a:defRPr sz="1000" b="1">
                <a:solidFill>
                  <a:srgbClr val="4FC3A1"/>
                </a:solidFill>
              </a:defRPr>
            </a:pPr>
            <a:r>
              <a:t>1 · je winkans-grens</a:t>
            </a:r>
          </a:p>
          <a:p>
            <a:pPr>
              <a:spcBef>
                <a:spcPts val="500"/>
              </a:spcBef>
              <a:defRPr sz="900">
                <a:solidFill>
                  <a:srgbClr val="E8EEF4"/>
                </a:solidFill>
                <a:latin typeface="Consolas"/>
              </a:defRPr>
            </a:pPr>
            <a:r>
              <a:t># vanaf welke winkans doe je mee?</a:t>
            </a:r>
          </a:p>
          <a:p>
            <a:pPr>
              <a:defRPr sz="900">
                <a:solidFill>
                  <a:srgbClr val="E8EEF4"/>
                </a:solidFill>
                <a:latin typeface="Consolas"/>
              </a:defRPr>
            </a:pPr>
            <a:r>
              <a:t>GRENS = 40</a:t>
            </a:r>
          </a:p>
          <a:p>
            <a:pPr>
              <a:defRPr sz="900">
                <a:solidFill>
                  <a:srgbClr val="E8EEF4"/>
                </a:solidFill>
                <a:latin typeface="Consolas"/>
              </a:defRPr>
            </a:pPr>
            <a:r>
              <a:t> </a:t>
            </a:r>
          </a:p>
          <a:p>
            <a:pPr>
              <a:defRPr sz="900">
                <a:solidFill>
                  <a:srgbClr val="E8EEF4"/>
                </a:solidFill>
                <a:latin typeface="Consolas"/>
              </a:defRPr>
            </a:pPr>
            <a:r>
              <a:t>winkans = schat_winkans(hand, tegenstanders=5)</a:t>
            </a:r>
          </a:p>
          <a:p>
            <a:pPr>
              <a:defRPr sz="900">
                <a:solidFill>
                  <a:srgbClr val="E8EEF4"/>
                </a:solidFill>
                <a:latin typeface="Consolas"/>
              </a:defRPr>
            </a:pPr>
            <a:r>
              <a:t>if winkans &gt; GRENS:</a:t>
            </a:r>
          </a:p>
          <a:p>
            <a:pPr>
              <a:defRPr sz="900">
                <a:solidFill>
                  <a:srgbClr val="E8EEF4"/>
                </a:solidFill>
                <a:latin typeface="Consolas"/>
              </a:defRPr>
            </a:pPr>
            <a:r>
              <a:t>    return "raise"</a:t>
            </a:r>
          </a:p>
        </p:txBody>
      </p:sp>
      <p:sp>
        <p:nvSpPr>
          <p:cNvPr id="6" name="Rounded Rectangle 5"/>
          <p:cNvSpPr/>
          <p:nvPr/>
        </p:nvSpPr>
        <p:spPr>
          <a:xfrm>
            <a:off x="731520" y="28681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959608"/>
            <a:ext cx="4855464" cy="1002792"/>
          </a:xfrm>
          <a:prstGeom prst="rect">
            <a:avLst/>
          </a:prstGeom>
          <a:noFill/>
        </p:spPr>
        <p:txBody>
          <a:bodyPr wrap="square">
            <a:spAutoFit/>
          </a:bodyPr>
          <a:lstStyle/>
          <a:p>
            <a:pPr>
              <a:defRPr sz="1000" b="1">
                <a:solidFill>
                  <a:srgbClr val="4FC3A1"/>
                </a:solidFill>
              </a:defRPr>
            </a:pPr>
            <a:r>
              <a:t>2 · een andere grens per straat</a:t>
            </a:r>
          </a:p>
          <a:p>
            <a:pPr>
              <a:spcBef>
                <a:spcPts val="500"/>
              </a:spcBef>
              <a:defRPr sz="900">
                <a:solidFill>
                  <a:srgbClr val="E8EEF4"/>
                </a:solidFill>
                <a:latin typeface="Consolas"/>
              </a:defRPr>
            </a:pPr>
            <a:r>
              <a:t># zelfde idee, maar per straat een eigen getal</a:t>
            </a:r>
          </a:p>
          <a:p>
            <a:pPr>
              <a:defRPr sz="900">
                <a:solidFill>
                  <a:srgbClr val="E8EEF4"/>
                </a:solidFill>
                <a:latin typeface="Consolas"/>
              </a:defRPr>
            </a:pPr>
            <a:r>
              <a:t>GRENS = {"preflop": 45, "flop": 40,</a:t>
            </a:r>
          </a:p>
          <a:p>
            <a:pPr>
              <a:defRPr sz="900">
                <a:solidFill>
                  <a:srgbClr val="E8EEF4"/>
                </a:solidFill>
                <a:latin typeface="Consolas"/>
              </a:defRPr>
            </a:pPr>
            <a:r>
              <a:t>         "turn": 35, "river": 30}</a:t>
            </a:r>
          </a:p>
          <a:p>
            <a:pPr>
              <a:defRPr sz="900">
                <a:solidFill>
                  <a:srgbClr val="E8EEF4"/>
                </a:solidFill>
                <a:latin typeface="Consolas"/>
              </a:defRPr>
            </a:pPr>
            <a:r>
              <a:t> </a:t>
            </a:r>
          </a:p>
          <a:p>
            <a:pPr>
              <a:defRPr sz="900">
                <a:solidFill>
                  <a:srgbClr val="E8EEF4"/>
                </a:solidFill>
                <a:latin typeface="Consolas"/>
              </a:defRPr>
            </a:pPr>
            <a:r>
              <a:t>if winkans &gt; GRENS[ronde]:</a:t>
            </a:r>
          </a:p>
          <a:p>
            <a:pPr>
              <a:defRPr sz="900">
                <a:solidFill>
                  <a:srgbClr val="E8EEF4"/>
                </a:solidFill>
                <a:latin typeface="Consolas"/>
              </a:defRPr>
            </a:pPr>
            <a:r>
              <a:t>    return "raise"</a:t>
            </a:r>
          </a:p>
        </p:txBody>
      </p:sp>
      <p:sp>
        <p:nvSpPr>
          <p:cNvPr id="8" name="Rounded Rectangle 7"/>
          <p:cNvSpPr/>
          <p:nvPr/>
        </p:nvSpPr>
        <p:spPr>
          <a:xfrm>
            <a:off x="731520" y="4163567"/>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4255007"/>
            <a:ext cx="4855464" cy="1002792"/>
          </a:xfrm>
          <a:prstGeom prst="rect">
            <a:avLst/>
          </a:prstGeom>
          <a:noFill/>
        </p:spPr>
        <p:txBody>
          <a:bodyPr wrap="square">
            <a:spAutoFit/>
          </a:bodyPr>
          <a:lstStyle/>
          <a:p>
            <a:pPr>
              <a:defRPr sz="1000" b="1">
                <a:solidFill>
                  <a:srgbClr val="4FC3A1"/>
                </a:solidFill>
              </a:defRPr>
            </a:pPr>
            <a:r>
              <a:t>3 · de pot-odds-regel</a:t>
            </a:r>
          </a:p>
          <a:p>
            <a:pPr>
              <a:spcBef>
                <a:spcPts val="500"/>
              </a:spcBef>
              <a:defRPr sz="900">
                <a:solidFill>
                  <a:srgbClr val="E8EEF4"/>
                </a:solidFill>
                <a:latin typeface="Consolas"/>
              </a:defRPr>
            </a:pPr>
            <a:r>
              <a:t>nodig = bereken_pot_odds(pot, inzet_om_te_callen)</a:t>
            </a:r>
          </a:p>
          <a:p>
            <a:pPr>
              <a:defRPr sz="900">
                <a:solidFill>
                  <a:srgbClr val="E8EEF4"/>
                </a:solidFill>
                <a:latin typeface="Consolas"/>
              </a:defRPr>
            </a:pPr>
            <a:r>
              <a:t>if winkans &lt; nodig:</a:t>
            </a:r>
          </a:p>
          <a:p>
            <a:pPr>
              <a:defRPr sz="900">
                <a:solidFill>
                  <a:srgbClr val="E8EEF4"/>
                </a:solidFill>
                <a:latin typeface="Consolas"/>
              </a:defRPr>
            </a:pPr>
            <a:r>
              <a:t>    return "fold"</a:t>
            </a:r>
          </a:p>
        </p:txBody>
      </p:sp>
      <p:sp>
        <p:nvSpPr>
          <p:cNvPr id="10" name="Rounded Rectangle 9"/>
          <p:cNvSpPr/>
          <p:nvPr/>
        </p:nvSpPr>
        <p:spPr>
          <a:xfrm>
            <a:off x="6263640" y="15727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1664208"/>
            <a:ext cx="4855464" cy="1002792"/>
          </a:xfrm>
          <a:prstGeom prst="rect">
            <a:avLst/>
          </a:prstGeom>
          <a:noFill/>
        </p:spPr>
        <p:txBody>
          <a:bodyPr wrap="square">
            <a:spAutoFit/>
          </a:bodyPr>
          <a:lstStyle/>
          <a:p>
            <a:pPr>
              <a:defRPr sz="1000" b="1">
                <a:solidFill>
                  <a:srgbClr val="4FC3A1"/>
                </a:solidFill>
              </a:defRPr>
            </a:pPr>
            <a:r>
              <a:t>4 · stack-bewustzijn</a:t>
            </a:r>
          </a:p>
          <a:p>
            <a:pPr>
              <a:spcBef>
                <a:spcPts val="500"/>
              </a:spcBef>
              <a:defRPr sz="900">
                <a:solidFill>
                  <a:srgbClr val="E8EEF4"/>
                </a:solidFill>
                <a:latin typeface="Consolas"/>
              </a:defRPr>
            </a:pPr>
            <a:r>
              <a:t>if stack &lt; 200:</a:t>
            </a:r>
          </a:p>
          <a:p>
            <a:pPr>
              <a:defRPr sz="900">
                <a:solidFill>
                  <a:srgbClr val="E8EEF4"/>
                </a:solidFill>
                <a:latin typeface="Consolas"/>
              </a:defRPr>
            </a:pPr>
            <a:r>
              <a:t>    return "all_in" if winkans &gt; 50 else "fold"</a:t>
            </a:r>
          </a:p>
        </p:txBody>
      </p:sp>
      <p:sp>
        <p:nvSpPr>
          <p:cNvPr id="12" name="Rounded Rectangle 11"/>
          <p:cNvSpPr/>
          <p:nvPr/>
        </p:nvSpPr>
        <p:spPr>
          <a:xfrm>
            <a:off x="6263640" y="28681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8" y="2959608"/>
            <a:ext cx="4855464" cy="1002792"/>
          </a:xfrm>
          <a:prstGeom prst="rect">
            <a:avLst/>
          </a:prstGeom>
          <a:noFill/>
        </p:spPr>
        <p:txBody>
          <a:bodyPr wrap="square">
            <a:spAutoFit/>
          </a:bodyPr>
          <a:lstStyle/>
          <a:p>
            <a:pPr>
              <a:defRPr sz="1000" b="1">
                <a:solidFill>
                  <a:srgbClr val="4FC3A1"/>
                </a:solidFill>
              </a:defRPr>
            </a:pPr>
            <a:r>
              <a:t>5 · heeft iemand al geraised?</a:t>
            </a:r>
          </a:p>
          <a:p>
            <a:pPr>
              <a:spcBef>
                <a:spcPts val="500"/>
              </a:spcBef>
              <a:defRPr sz="900">
                <a:solidFill>
                  <a:srgbClr val="E8EEF4"/>
                </a:solidFill>
                <a:latin typeface="Consolas"/>
              </a:defRPr>
            </a:pPr>
            <a:r>
              <a:t>geraised = any(a["actie"] == "raise"</a:t>
            </a:r>
          </a:p>
          <a:p>
            <a:pPr>
              <a:defRPr sz="900">
                <a:solidFill>
                  <a:srgbClr val="E8EEF4"/>
                </a:solidFill>
                <a:latin typeface="Consolas"/>
              </a:defRPr>
            </a:pPr>
            <a:r>
              <a:t>               and a["ronde"] == ronde</a:t>
            </a:r>
          </a:p>
          <a:p>
            <a:pPr>
              <a:defRPr sz="900">
                <a:solidFill>
                  <a:srgbClr val="E8EEF4"/>
                </a:solidFill>
                <a:latin typeface="Consolas"/>
              </a:defRPr>
            </a:pPr>
            <a:r>
              <a:t>               for a in tegenstander_acties_deze_hand)</a:t>
            </a:r>
          </a:p>
        </p:txBody>
      </p:sp>
      <p:sp>
        <p:nvSpPr>
          <p:cNvPr id="14" name="Rounded Rectangle 13"/>
          <p:cNvSpPr/>
          <p:nvPr/>
        </p:nvSpPr>
        <p:spPr>
          <a:xfrm>
            <a:off x="6263640" y="4163567"/>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4255007"/>
            <a:ext cx="4855464" cy="1002792"/>
          </a:xfrm>
          <a:prstGeom prst="rect">
            <a:avLst/>
          </a:prstGeom>
          <a:noFill/>
        </p:spPr>
        <p:txBody>
          <a:bodyPr wrap="square">
            <a:spAutoFit/>
          </a:bodyPr>
          <a:lstStyle/>
          <a:p>
            <a:pPr>
              <a:defRPr sz="1000" b="1">
                <a:solidFill>
                  <a:srgbClr val="4FC3A1"/>
                </a:solidFill>
              </a:defRPr>
            </a:pPr>
            <a:r>
              <a:t>6 · hoeveel zet je in</a:t>
            </a:r>
          </a:p>
          <a:p>
            <a:pPr>
              <a:spcBef>
                <a:spcPts val="500"/>
              </a:spcBef>
              <a:defRPr sz="900">
                <a:solidFill>
                  <a:srgbClr val="E8EEF4"/>
                </a:solidFill>
                <a:latin typeface="Consolas"/>
              </a:defRPr>
            </a:pPr>
            <a:r>
              <a:t>return "grote_raise" if winkans &gt; 70 else "raise"</a:t>
            </a:r>
          </a:p>
        </p:txBody>
      </p:sp>
      <p:sp>
        <p:nvSpPr>
          <p:cNvPr id="16" name="TextBox 15"/>
          <p:cNvSpPr txBox="1"/>
          <p:nvPr/>
        </p:nvSpPr>
        <p:spPr>
          <a:xfrm>
            <a:off x="1005840" y="5715000"/>
            <a:ext cx="10149840" cy="822960"/>
          </a:xfrm>
          <a:prstGeom prst="rect">
            <a:avLst/>
          </a:prstGeom>
          <a:noFill/>
        </p:spPr>
        <p:txBody>
          <a:bodyPr wrap="square">
            <a:spAutoFit/>
          </a:bodyPr>
          <a:lstStyle/>
          <a:p>
            <a:pPr>
              <a:defRPr sz="1200" b="0">
                <a:solidFill>
                  <a:srgbClr val="121E31"/>
                </a:solidFill>
              </a:defRPr>
            </a:pPr>
            <a:r>
              <a:t>Zes losse stukjes. Geen van alle is af — het zijn de vormen, niet de antwoorden.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IN CODE</a:t>
            </a:r>
          </a:p>
          <a:p>
            <a:pPr>
              <a:spcBef>
                <a:spcPts val="400"/>
              </a:spcBef>
              <a:defRPr sz="2400" b="1">
                <a:solidFill>
                  <a:srgbClr val="121E31"/>
                </a:solidFill>
              </a:defRPr>
            </a:pPr>
            <a:r>
              <a:t>En hoe je ze samenvoegt</a:t>
            </a:r>
          </a:p>
        </p:txBody>
      </p:sp>
      <p:sp>
        <p:nvSpPr>
          <p:cNvPr id="4" name="Rounded Rectangle 3"/>
          <p:cNvSpPr/>
          <p:nvPr/>
        </p:nvSpPr>
        <p:spPr>
          <a:xfrm>
            <a:off x="731520" y="1572768"/>
            <a:ext cx="10698480" cy="37764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64208"/>
            <a:ext cx="10296144" cy="3593592"/>
          </a:xfrm>
          <a:prstGeom prst="rect">
            <a:avLst/>
          </a:prstGeom>
          <a:noFill/>
        </p:spPr>
        <p:txBody>
          <a:bodyPr wrap="square">
            <a:spAutoFit/>
          </a:bodyPr>
          <a:lstStyle/>
          <a:p>
            <a:pPr>
              <a:defRPr sz="1000" b="1">
                <a:solidFill>
                  <a:srgbClr val="4FC3A1"/>
                </a:solidFill>
              </a:defRPr>
            </a:pPr>
            <a:r>
              <a:t>de vorm van je kies_actie</a:t>
            </a:r>
          </a:p>
          <a:p>
            <a:pPr>
              <a:spcBef>
                <a:spcPts val="500"/>
              </a:spcBef>
              <a:defRPr sz="1050">
                <a:solidFill>
                  <a:srgbClr val="E8EEF4"/>
                </a:solidFill>
                <a:latin typeface="Consolas"/>
              </a:defRPr>
            </a:pPr>
            <a:r>
              <a:t>def kies_actie(hand, stack, ronde="preflop",</a:t>
            </a:r>
          </a:p>
          <a:p>
            <a:pPr>
              <a:defRPr sz="1050">
                <a:solidFill>
                  <a:srgbClr val="E8EEF4"/>
                </a:solidFill>
                <a:latin typeface="Consolas"/>
              </a:defRPr>
            </a:pPr>
            <a:r>
              <a:t>               pot=0, inzet_om_te_callen=0):</a:t>
            </a:r>
          </a:p>
          <a:p>
            <a:pPr>
              <a:defRPr sz="1050">
                <a:solidFill>
                  <a:srgbClr val="E8EEF4"/>
                </a:solidFill>
                <a:latin typeface="Consolas"/>
              </a:defRPr>
            </a:pPr>
            <a:r>
              <a:t> </a:t>
            </a:r>
          </a:p>
          <a:p>
            <a:pPr>
              <a:defRPr sz="1050">
                <a:solidFill>
                  <a:srgbClr val="E8EEF4"/>
                </a:solidFill>
                <a:latin typeface="Consolas"/>
              </a:defRPr>
            </a:pPr>
            <a:r>
              <a:t>    winkans = schat_winkans(hand, tegenstanders=5)</a:t>
            </a:r>
          </a:p>
          <a:p>
            <a:pPr>
              <a:defRPr sz="1050">
                <a:solidFill>
                  <a:srgbClr val="E8EEF4"/>
                </a:solidFill>
                <a:latin typeface="Consolas"/>
              </a:defRPr>
            </a:pPr>
            <a:r>
              <a:t>    nodig   = bereken_pot_odds(pot, inzet_om_te_callen)</a:t>
            </a:r>
          </a:p>
          <a:p>
            <a:pPr>
              <a:defRPr sz="1050">
                <a:solidFill>
                  <a:srgbClr val="E8EEF4"/>
                </a:solidFill>
                <a:latin typeface="Consolas"/>
              </a:defRPr>
            </a:pPr>
            <a:r>
              <a:t>    grens   = DREMPELS[ronde]</a:t>
            </a:r>
          </a:p>
          <a:p>
            <a:pPr>
              <a:defRPr sz="1050">
                <a:solidFill>
                  <a:srgbClr val="E8EEF4"/>
                </a:solidFill>
                <a:latin typeface="Consolas"/>
              </a:defRPr>
            </a:pPr>
            <a:r>
              <a:t> </a:t>
            </a:r>
          </a:p>
          <a:p>
            <a:pPr>
              <a:defRPr sz="1050">
                <a:solidFill>
                  <a:srgbClr val="E8EEF4"/>
                </a:solidFill>
                <a:latin typeface="Consolas"/>
              </a:defRPr>
            </a:pPr>
            <a:r>
              <a:t>    # eerst wat alles overschrijft</a:t>
            </a:r>
          </a:p>
          <a:p>
            <a:pPr>
              <a:defRPr sz="1050">
                <a:solidFill>
                  <a:srgbClr val="E8EEF4"/>
                </a:solidFill>
                <a:latin typeface="Consolas"/>
              </a:defRPr>
            </a:pPr>
            <a:r>
              <a:t>    if stack &lt; 200:</a:t>
            </a:r>
          </a:p>
          <a:p>
            <a:pPr>
              <a:defRPr sz="1050">
                <a:solidFill>
                  <a:srgbClr val="E8EEF4"/>
                </a:solidFill>
                <a:latin typeface="Consolas"/>
              </a:defRPr>
            </a:pPr>
            <a:r>
              <a:t>        return "all_in" if winkans &gt; 50 else "fold"</a:t>
            </a:r>
          </a:p>
          <a:p>
            <a:pPr>
              <a:defRPr sz="1050">
                <a:solidFill>
                  <a:srgbClr val="E8EEF4"/>
                </a:solidFill>
                <a:latin typeface="Consolas"/>
              </a:defRPr>
            </a:pPr>
            <a:r>
              <a:t> </a:t>
            </a:r>
          </a:p>
          <a:p>
            <a:pPr>
              <a:defRPr sz="1050">
                <a:solidFill>
                  <a:srgbClr val="E8EEF4"/>
                </a:solidFill>
                <a:latin typeface="Consolas"/>
              </a:defRPr>
            </a:pPr>
            <a:r>
              <a:t>    # dan: is deze call de prijs waard?</a:t>
            </a:r>
          </a:p>
          <a:p>
            <a:pPr>
              <a:defRPr sz="1050">
                <a:solidFill>
                  <a:srgbClr val="E8EEF4"/>
                </a:solidFill>
                <a:latin typeface="Consolas"/>
              </a:defRPr>
            </a:pPr>
            <a:r>
              <a:t>    if winkans &lt; nodig:</a:t>
            </a:r>
          </a:p>
          <a:p>
            <a:pPr>
              <a:defRPr sz="1050">
                <a:solidFill>
                  <a:srgbClr val="E8EEF4"/>
                </a:solidFill>
                <a:latin typeface="Consolas"/>
              </a:defRPr>
            </a:pPr>
            <a:r>
              <a:t>        return "fold"</a:t>
            </a:r>
          </a:p>
          <a:p>
            <a:pPr>
              <a:defRPr sz="1050">
                <a:solidFill>
                  <a:srgbClr val="E8EEF4"/>
                </a:solidFill>
                <a:latin typeface="Consolas"/>
              </a:defRPr>
            </a:pPr>
            <a:r>
              <a:t> </a:t>
            </a:r>
          </a:p>
          <a:p>
            <a:pPr>
              <a:defRPr sz="1050">
                <a:solidFill>
                  <a:srgbClr val="E8EEF4"/>
                </a:solidFill>
                <a:latin typeface="Consolas"/>
              </a:defRPr>
            </a:pPr>
            <a:r>
              <a:t>    # en pas dan: hoe sterk sta je?</a:t>
            </a:r>
          </a:p>
          <a:p>
            <a:pPr>
              <a:defRPr sz="1050">
                <a:solidFill>
                  <a:srgbClr val="E8EEF4"/>
                </a:solidFill>
                <a:latin typeface="Consolas"/>
              </a:defRPr>
            </a:pPr>
            <a:r>
              <a:t>    if winkans &gt; grens:</a:t>
            </a:r>
          </a:p>
          <a:p>
            <a:pPr>
              <a:defRPr sz="1050">
                <a:solidFill>
                  <a:srgbClr val="E8EEF4"/>
                </a:solidFill>
                <a:latin typeface="Consolas"/>
              </a:defRPr>
            </a:pPr>
            <a:r>
              <a:t>        return "raise"</a:t>
            </a:r>
          </a:p>
          <a:p>
            <a:pPr>
              <a:defRPr sz="1050">
                <a:solidFill>
                  <a:srgbClr val="E8EEF4"/>
                </a:solidFill>
                <a:latin typeface="Consolas"/>
              </a:defRPr>
            </a:pPr>
            <a:r>
              <a:t>    return "call"</a:t>
            </a:r>
          </a:p>
        </p:txBody>
      </p:sp>
      <p:sp>
        <p:nvSpPr>
          <p:cNvPr id="6" name="TextBox 5"/>
          <p:cNvSpPr txBox="1"/>
          <p:nvPr/>
        </p:nvSpPr>
        <p:spPr>
          <a:xfrm>
            <a:off x="1005840" y="5715000"/>
            <a:ext cx="10149840" cy="822960"/>
          </a:xfrm>
          <a:prstGeom prst="rect">
            <a:avLst/>
          </a:prstGeom>
          <a:noFill/>
        </p:spPr>
        <p:txBody>
          <a:bodyPr wrap="square">
            <a:spAutoFit/>
          </a:bodyPr>
          <a:lstStyle/>
          <a:p>
            <a:pPr>
              <a:defRPr sz="1200" b="0">
                <a:solidFill>
                  <a:srgbClr val="121E31"/>
                </a:solidFill>
              </a:defRPr>
            </a:pPr>
            <a:r>
              <a:t>De volgorde is de hele truc: wat je eerst controleert, overschrijft de rest. Dit is het skelet — de getallen erin zijn van jou.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4 TOT 8 UUR · WAT JIJ DOET</a:t>
            </a:r>
          </a:p>
          <a:p>
            <a:pPr>
              <a:spcBef>
                <a:spcPts val="400"/>
              </a:spcBef>
              <a:defRPr sz="2400" b="1">
                <a:solidFill>
                  <a:srgbClr val="121E31"/>
                </a:solidFill>
              </a:defRPr>
            </a:pPr>
            <a:r>
              <a:t>Bot v2 afmaken en verbeteren</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Bouw verder op je skeleton uit Deel 3.</a:t>
            </a:r>
          </a:p>
          <a:p>
            <a:pPr>
              <a:spcBef>
                <a:spcPts val="1200"/>
              </a:spcBef>
              <a:defRPr sz="1400" b="0">
                <a:solidFill>
                  <a:srgbClr val="121E31"/>
                </a:solidFill>
              </a:defRPr>
            </a:pPr>
            <a:r>
              <a:t>•  Test met je eigen situaties, niet alleen met de gegeven voorbeelden.</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wo 09:00 een werkende Bot v2 · do 18:00 je verbeterde versie.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8 · 10 MIN · HUISWERK · DE THEORIE</a:t>
            </a:r>
          </a:p>
          <a:p>
            <a:pPr>
              <a:spcBef>
                <a:spcPts val="400"/>
              </a:spcBef>
              <a:defRPr sz="2400" b="1">
                <a:solidFill>
                  <a:srgbClr val="121E31"/>
                </a:solidFill>
              </a:defRPr>
            </a:pPr>
            <a:r>
              <a:t>Lokaal testen tegen je eigen Week 1-bot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Zelfde handen, twee bots</a:t>
            </a:r>
          </a:p>
          <a:p>
            <a:pPr>
              <a:spcBef>
                <a:spcPts val="300"/>
              </a:spcBef>
              <a:defRPr sz="1150" b="0">
                <a:solidFill>
                  <a:srgbClr val="121E31"/>
                </a:solidFill>
              </a:defRPr>
            </a:pPr>
            <a:r>
              <a:t>Laat Bot v2 en Bot v1 dezelfde testhanden zien en vergelijk wat ze kiezen.</a:t>
            </a:r>
          </a:p>
          <a:p>
            <a:pPr>
              <a:spcBef>
                <a:spcPts val="1400"/>
              </a:spcBef>
              <a:defRPr sz="1400" b="1">
                <a:solidFill>
                  <a:srgbClr val="1B4D3E"/>
                </a:solidFill>
              </a:defRPr>
            </a:pPr>
            <a:r>
              <a:t>De vraag erachter</a:t>
            </a:r>
          </a:p>
          <a:p>
            <a:pPr>
              <a:spcBef>
                <a:spcPts val="300"/>
              </a:spcBef>
              <a:defRPr sz="1150" b="0">
                <a:solidFill>
                  <a:srgbClr val="121E31"/>
                </a:solidFill>
              </a:defRPr>
            </a:pPr>
            <a:r>
              <a:t>Verwacht je dat v2 slimmer speelt? Waarom wel of niet, gegeven dat v2 nu ook de stack meeweegt?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8 · 10 MIN · WAT JIJ DOET</a:t>
            </a:r>
          </a:p>
          <a:p>
            <a:pPr>
              <a:spcBef>
                <a:spcPts val="400"/>
              </a:spcBef>
              <a:defRPr sz="2400" b="1">
                <a:solidFill>
                  <a:srgbClr val="121E31"/>
                </a:solidFill>
              </a:defRPr>
            </a:pPr>
            <a:r>
              <a:t>Lokaal testen tegen je eigen Week 1-bot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Bedenk minstens vier testhanden waar je vermoedt dat ze het oneens zijn.</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apart — maar het is je laatste check vóór je inlevert.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9 · 15 MIN · HUISWERK · DE THEORIE</a:t>
            </a:r>
          </a:p>
          <a:p>
            <a:pPr>
              <a:spcBef>
                <a:spcPts val="400"/>
              </a:spcBef>
              <a:defRPr sz="2400" b="1">
                <a:solidFill>
                  <a:srgbClr val="121E31"/>
                </a:solidFill>
              </a:defRPr>
            </a:pPr>
            <a:r>
              <a:t>Plotly-grafiek van het Week 1-toernooi</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Kleur per bot</a:t>
            </a:r>
          </a:p>
          <a:p>
            <a:pPr>
              <a:spcBef>
                <a:spcPts val="300"/>
              </a:spcBef>
              <a:defRPr sz="1150" b="0">
                <a:solidFill>
                  <a:srgbClr val="121E31"/>
                </a:solidFill>
              </a:defRPr>
            </a:pPr>
            <a:r>
              <a:t>Eén lijn per bot, kleur als onderscheid.</a:t>
            </a:r>
          </a:p>
          <a:p>
            <a:pPr>
              <a:spcBef>
                <a:spcPts val="1400"/>
              </a:spcBef>
              <a:defRPr sz="1400" b="1">
                <a:solidFill>
                  <a:srgbClr val="1B4D3E"/>
                </a:solidFill>
              </a:defRPr>
            </a:pPr>
            <a:r>
              <a:t>Beperk je scope</a:t>
            </a:r>
          </a:p>
          <a:p>
            <a:pPr>
              <a:spcBef>
                <a:spcPts val="300"/>
              </a:spcBef>
              <a:defRPr sz="1150" b="0">
                <a:solidFill>
                  <a:srgbClr val="121E31"/>
                </a:solidFill>
              </a:defRPr>
            </a:pPr>
            <a:r>
              <a:t>Eén tafel en één simulatie, anders krijg je een spaghetti-grafiek — daar ga je in Werkcollege 6 mee aan de slag.</a:t>
            </a:r>
          </a:p>
          <a:p>
            <a:pPr>
              <a:spcBef>
                <a:spcPts val="1400"/>
              </a:spcBef>
              <a:defRPr sz="1400" b="1">
                <a:solidFill>
                  <a:srgbClr val="1B4D3E"/>
                </a:solidFill>
              </a:defRPr>
            </a:pPr>
            <a:r>
              <a:t>De vraag om te onthouden</a:t>
            </a:r>
          </a:p>
          <a:p>
            <a:pPr>
              <a:spcBef>
                <a:spcPts val="300"/>
              </a:spcBef>
              <a:defRPr sz="1150" b="0">
                <a:solidFill>
                  <a:srgbClr val="121E31"/>
                </a:solidFill>
              </a:defRPr>
            </a:pPr>
            <a:r>
              <a:t>Kun je zónder de legenda af te lezen zien wie er wint? Bewaar dat gevoel voor Werkcollege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9 · 15 MIN · WAT JIJ DOET</a:t>
            </a:r>
          </a:p>
          <a:p>
            <a:pPr>
              <a:spcBef>
                <a:spcPts val="400"/>
              </a:spcBef>
              <a:defRPr sz="2400" b="1">
                <a:solidFill>
                  <a:srgbClr val="121E31"/>
                </a:solidFill>
              </a:defRPr>
            </a:pPr>
            <a:r>
              <a:t>Plotly-grafiek van het Week 1-toernooi</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Bouw de grafiek in Plotly express en geef hem een echte actietitel.</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Plotly-grafiek met titel, x_label en y_label.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10 · 10 MIN · HUISWERK · DE THEORIE</a:t>
            </a:r>
          </a:p>
          <a:p>
            <a:pPr>
              <a:spcBef>
                <a:spcPts val="400"/>
              </a:spcBef>
              <a:defRPr sz="2400" b="1">
                <a:solidFill>
                  <a:srgbClr val="121E31"/>
                </a:solidFill>
              </a:defRPr>
            </a:pPr>
            <a:r>
              <a:t>Inleveren via de API</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Drie stappen</a:t>
            </a:r>
          </a:p>
          <a:p>
            <a:pPr>
              <a:spcBef>
                <a:spcPts val="300"/>
              </a:spcBef>
              <a:defRPr sz="1150" b="0">
                <a:solidFill>
                  <a:srgbClr val="121E31"/>
                </a:solidFill>
              </a:defRPr>
            </a:pPr>
            <a:r>
              <a:t>Je bot-bestand inlezen, je grafiek klaarzetten met export_chart_info(), en versturen met lever_in().</a:t>
            </a:r>
          </a:p>
          <a:p>
            <a:pPr>
              <a:spcBef>
                <a:spcPts val="1400"/>
              </a:spcBef>
              <a:defRPr sz="1400" b="1">
                <a:solidFill>
                  <a:srgbClr val="1B4D3E"/>
                </a:solidFill>
              </a:defRPr>
            </a:pPr>
            <a:r>
              <a:t>Wat er verandert</a:t>
            </a:r>
          </a:p>
          <a:p>
            <a:pPr>
              <a:spcBef>
                <a:spcPts val="300"/>
              </a:spcBef>
              <a:defRPr sz="1150" b="0">
                <a:solidFill>
                  <a:srgbClr val="121E31"/>
                </a:solidFill>
              </a:defRPr>
            </a:pPr>
            <a:r>
              <a:t>Je bot-functie heeft nu 2 parameters in plaats van 1. Verder verandert er niets. Vanaf Week 5 komen strategie en bluf_kans erbij.</a:t>
            </a:r>
          </a:p>
          <a:p>
            <a:pPr>
              <a:spcBef>
                <a:spcPts val="1400"/>
              </a:spcBef>
              <a:defRPr sz="1400" b="1">
                <a:solidFill>
                  <a:srgbClr val="1B4D3E"/>
                </a:solidFill>
              </a:defRPr>
            </a:pPr>
            <a:r>
              <a:t>geldig: False?</a:t>
            </a:r>
          </a:p>
          <a:p>
            <a:pPr>
              <a:spcBef>
                <a:spcPts val="300"/>
              </a:spcBef>
              <a:defRPr sz="1150" b="0">
                <a:solidFill>
                  <a:srgbClr val="121E31"/>
                </a:solidFill>
              </a:defRPr>
            </a:pPr>
            <a:r>
              <a:t>Lees resultaat['bot_check'] en resultaat['chart_check'] — daar staat in het Nederlands wat er mis is.</a:t>
            </a:r>
          </a:p>
          <a:p>
            <a:pPr>
              <a:spcBef>
                <a:spcPts val="1400"/>
              </a:spcBef>
              <a:defRPr sz="1400" b="1">
                <a:solidFill>
                  <a:srgbClr val="1B4D3E"/>
                </a:solidFill>
              </a:defRPr>
            </a:pPr>
            <a:r>
              <a:t>Zo vaak als je wil</a:t>
            </a:r>
          </a:p>
          <a:p>
            <a:pPr>
              <a:spcBef>
                <a:spcPts val="300"/>
              </a:spcBef>
              <a:defRPr sz="1150" b="0">
                <a:solidFill>
                  <a:srgbClr val="121E31"/>
                </a:solidFill>
              </a:defRPr>
            </a:pPr>
            <a:r>
              <a:t>Het systeem gebruikt altijd je laatste geldige inzending.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10 · 10 MIN · WAT JIJ DOET</a:t>
            </a:r>
          </a:p>
          <a:p>
            <a:pPr>
              <a:spcBef>
                <a:spcPts val="400"/>
              </a:spcBef>
              <a:defRPr sz="2400" b="1">
                <a:solidFill>
                  <a:srgbClr val="121E31"/>
                </a:solidFill>
              </a:defRPr>
            </a:pPr>
            <a:r>
              <a:t>Inleveren via de API</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Lever in, lees het antwoord, en los op wat er nog niet klopt.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inzending met geldig: True.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WERKCOLLEGE 4 · SLOT</a:t>
            </a:r>
          </a:p>
          <a:p>
            <a:pPr>
              <a:spcBef>
                <a:spcPts val="400"/>
              </a:spcBef>
              <a:defRPr sz="2400" b="1">
                <a:solidFill>
                  <a:srgbClr val="121E31"/>
                </a:solidFill>
              </a:defRPr>
            </a:pPr>
            <a:r>
              <a:t>Wat lever je in, en wanneer?</a:t>
            </a:r>
          </a:p>
        </p:txBody>
      </p:sp>
      <p:sp>
        <p:nvSpPr>
          <p:cNvPr id="4" name="Rounded Rectangle 3"/>
          <p:cNvSpPr/>
          <p:nvPr/>
        </p:nvSpPr>
        <p:spPr>
          <a:xfrm>
            <a:off x="731520" y="1600200"/>
            <a:ext cx="10698480" cy="274320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286000"/>
          </a:xfrm>
          <a:prstGeom prst="rect">
            <a:avLst/>
          </a:prstGeom>
          <a:noFill/>
        </p:spPr>
        <p:txBody>
          <a:bodyPr wrap="square">
            <a:spAutoFit/>
          </a:bodyPr>
          <a:lstStyle/>
          <a:p>
            <a:pPr>
              <a:defRPr sz="1600" b="1">
                <a:solidFill>
                  <a:srgbClr val="1B4D3E"/>
                </a:solidFill>
              </a:defRPr>
            </a:pPr>
            <a:r>
              <a:t>wo 09:00</a:t>
            </a:r>
          </a:p>
          <a:p>
            <a:pPr>
              <a:spcBef>
                <a:spcPts val="300"/>
              </a:spcBef>
              <a:defRPr sz="1300" b="0">
                <a:solidFill>
                  <a:srgbClr val="121E31"/>
                </a:solidFill>
              </a:defRPr>
            </a:pPr>
            <a:r>
              <a:t>Een werkende Bot v2 — anders speel je niet mee in het toernooi van woensdag</a:t>
            </a:r>
          </a:p>
          <a:p>
            <a:pPr>
              <a:spcBef>
                <a:spcPts val="1600"/>
              </a:spcBef>
              <a:defRPr sz="1600" b="1">
                <a:solidFill>
                  <a:srgbClr val="1B4D3E"/>
                </a:solidFill>
              </a:defRPr>
            </a:pPr>
            <a:r>
              <a:t>wo werkcollege</a:t>
            </a:r>
          </a:p>
          <a:p>
            <a:pPr>
              <a:spcBef>
                <a:spcPts val="300"/>
              </a:spcBef>
              <a:defRPr sz="1300" b="0">
                <a:solidFill>
                  <a:srgbClr val="121E31"/>
                </a:solidFill>
              </a:defRPr>
            </a:pPr>
            <a:r>
              <a:t>Je ziet de uitslag terug in Werkcollege 5</a:t>
            </a:r>
          </a:p>
          <a:p>
            <a:pPr>
              <a:spcBef>
                <a:spcPts val="1600"/>
              </a:spcBef>
              <a:defRPr sz="1600" b="1">
                <a:solidFill>
                  <a:srgbClr val="1B4D3E"/>
                </a:solidFill>
              </a:defRPr>
            </a:pPr>
            <a:r>
              <a:t>do 18:00</a:t>
            </a:r>
          </a:p>
          <a:p>
            <a:pPr>
              <a:spcBef>
                <a:spcPts val="300"/>
              </a:spcBef>
              <a:defRPr sz="1300" b="0">
                <a:solidFill>
                  <a:srgbClr val="121E31"/>
                </a:solidFill>
              </a:defRPr>
            </a:pPr>
            <a:r>
              <a:t>Je verbeterde Bot v2, plus de Plotly-grafiek, plus het onderwerp van Case 2</a:t>
            </a:r>
          </a:p>
        </p:txBody>
      </p:sp>
      <p:sp>
        <p:nvSpPr>
          <p:cNvPr id="6" name="Rounded Rectangle 5"/>
          <p:cNvSpPr/>
          <p:nvPr/>
        </p:nvSpPr>
        <p:spPr>
          <a:xfrm>
            <a:off x="731520" y="4617720"/>
            <a:ext cx="10698480" cy="1188720"/>
          </a:xfrm>
          <a:prstGeom prst="roundRect">
            <a:avLst>
              <a:gd name="adj" fmla="val 3000"/>
            </a:avLst>
          </a:prstGeom>
          <a:solidFill>
            <a:srgbClr val="FCF2F1"/>
          </a:solidFill>
          <a:ln w="9525">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800600"/>
            <a:ext cx="10149840" cy="822960"/>
          </a:xfrm>
          <a:prstGeom prst="rect">
            <a:avLst/>
          </a:prstGeom>
          <a:noFill/>
        </p:spPr>
        <p:txBody>
          <a:bodyPr wrap="square">
            <a:spAutoFit/>
          </a:bodyPr>
          <a:lstStyle/>
          <a:p>
            <a:pPr>
              <a:defRPr sz="1200" b="1">
                <a:solidFill>
                  <a:srgbClr val="B3261E"/>
                </a:solidFill>
              </a:defRPr>
            </a:pPr>
            <a:r>
              <a:t>De deadline handhaaft zichzelf</a:t>
            </a:r>
          </a:p>
          <a:p>
            <a:pPr>
              <a:spcBef>
                <a:spcPts val="400"/>
              </a:spcBef>
              <a:defRPr sz="1200" b="0">
                <a:solidFill>
                  <a:srgbClr val="121E31"/>
                </a:solidFill>
              </a:defRPr>
            </a:pPr>
            <a:r>
              <a:t>Een toernooi speelt met de bots die er op dat moment zijn. Lever je woensdagmiddag in, dan doe je niet mee aan het woensdagtoernooi.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