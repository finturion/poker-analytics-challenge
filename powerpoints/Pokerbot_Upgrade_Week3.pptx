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C3A1"/>
                </a:solidFill>
              </a:defRPr>
            </a:pPr>
            <a:r>
              <a:t>WEEK 3 · WERKCOLLEGE 4</a:t>
            </a:r>
          </a:p>
          <a:p>
            <a:pPr>
              <a:spcBef>
                <a:spcPts val="800"/>
              </a:spcBef>
              <a:defRPr sz="3800" b="1">
                <a:solidFill>
                  <a:srgbClr val="FFFFFF"/>
                </a:solidFill>
              </a:defRPr>
            </a:pPr>
            <a:r>
              <a:t>Bot v2: functies, dictionaries, pandas en Plotly</a:t>
            </a:r>
          </a:p>
          <a:p>
            <a:pPr>
              <a:spcBef>
                <a:spcPts val="1400"/>
              </a:spcBef>
              <a:defRPr sz="1700" b="0">
                <a:solidFill>
                  <a:srgbClr val="C8D2DC"/>
                </a:solidFill>
              </a:defRPr>
            </a:pPr>
            <a:r>
              <a:t>123 minuten werkcollege · 4 tot 8 uur huiswerk · twee deadlines: woensdag 09:00 en donderdag 18:00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WERKCOLLEGE 4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Wat komt er vandaag langs?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E31"/>
                </a:solidFill>
              </a:defRPr>
            </a:pPr>
            <a:r>
              <a:t>Deel 1 — Python basis</a:t>
            </a:r>
          </a:p>
          <a:p>
            <a:pPr>
              <a:spcBef>
                <a:spcPts val="200"/>
              </a:spcBef>
              <a:defRPr sz="1000" b="0">
                <a:solidFill>
                  <a:srgbClr val="505A64"/>
                </a:solidFill>
              </a:defRPr>
            </a:pPr>
            <a:r>
              <a:t>33 min · Functies, list comprehensions, dictionaries, pandas en Plotly</a:t>
            </a:r>
          </a:p>
          <a:p>
            <a:pPr>
              <a:spcBef>
                <a:spcPts val="1400"/>
              </a:spcBef>
              <a:defRPr sz="1300" b="1">
                <a:solidFill>
                  <a:srgbClr val="121E31"/>
                </a:solidFill>
              </a:defRPr>
            </a:pPr>
            <a:r>
              <a:t>Deel 2 — Pokerbot Upgrade: hoe het spel écht werkt</a:t>
            </a:r>
          </a:p>
          <a:p>
            <a:pPr>
              <a:spcBef>
                <a:spcPts val="200"/>
              </a:spcBef>
              <a:defRPr sz="1000" b="0">
                <a:solidFill>
                  <a:srgbClr val="505A64"/>
                </a:solidFill>
              </a:defRPr>
            </a:pPr>
            <a:r>
              <a:t>16 min · De regels van Texas Hold'em, en wat Bot v2 erbij krijgt</a:t>
            </a:r>
          </a:p>
          <a:p>
            <a:pPr>
              <a:spcBef>
                <a:spcPts val="1400"/>
              </a:spcBef>
              <a:defRPr sz="1300" b="1">
                <a:solidFill>
                  <a:srgbClr val="121E31"/>
                </a:solidFill>
              </a:defRPr>
            </a:pPr>
            <a:r>
              <a:t>Deel 3 — Zelf starten: Bot v2 skeleton</a:t>
            </a:r>
          </a:p>
          <a:p>
            <a:pPr>
              <a:spcBef>
                <a:spcPts val="200"/>
              </a:spcBef>
              <a:defRPr sz="1000" b="0">
                <a:solidFill>
                  <a:srgbClr val="505A64"/>
                </a:solidFill>
              </a:defRPr>
            </a:pPr>
            <a:r>
              <a:t>12 min · kies_actie(hand, stack) — reageren op twee dingen tegelijk</a:t>
            </a:r>
          </a:p>
          <a:p>
            <a:pPr>
              <a:spcBef>
                <a:spcPts val="1400"/>
              </a:spcBef>
              <a:defRPr sz="1300" b="1">
                <a:solidFill>
                  <a:srgbClr val="121E31"/>
                </a:solidFill>
              </a:defRPr>
            </a:pPr>
            <a:r>
              <a:t>Deel 4 — Handsterkte: wat wint er eigenlijk?</a:t>
            </a:r>
          </a:p>
          <a:p>
            <a:pPr>
              <a:spcBef>
                <a:spcPts val="200"/>
              </a:spcBef>
              <a:defRPr sz="1000" b="0">
                <a:solidFill>
                  <a:srgbClr val="505A64"/>
                </a:solidFill>
              </a:defRPr>
            </a:pPr>
            <a:r>
              <a:t>14 min · De negen handsoorten, van hoge kaart tot straight flush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00200"/>
            <a:ext cx="33832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E31"/>
                </a:solidFill>
              </a:defRPr>
            </a:pPr>
            <a:r>
              <a:t>Deel 5 — Winkans: wat je ECHT hebt</a:t>
            </a:r>
          </a:p>
          <a:p>
            <a:pPr>
              <a:spcBef>
                <a:spcPts val="200"/>
              </a:spcBef>
              <a:defRPr sz="1000" b="0">
                <a:solidFill>
                  <a:srgbClr val="505A64"/>
                </a:solidFill>
              </a:defRPr>
            </a:pPr>
            <a:r>
              <a:t>32 min · schat_winkans(hand, simulaties=1000, tegenstanders=1)</a:t>
            </a:r>
          </a:p>
          <a:p>
            <a:pPr>
              <a:spcBef>
                <a:spcPts val="1400"/>
              </a:spcBef>
              <a:defRPr sz="1300" b="1">
                <a:solidFill>
                  <a:srgbClr val="121E31"/>
                </a:solidFill>
              </a:defRPr>
            </a:pPr>
            <a:r>
              <a:t>Deel 6 — Pot odds × winkans: een echte beslisregel</a:t>
            </a:r>
          </a:p>
          <a:p>
            <a:pPr>
              <a:spcBef>
                <a:spcPts val="200"/>
              </a:spcBef>
              <a:defRPr sz="1000" b="0">
                <a:solidFill>
                  <a:srgbClr val="505A64"/>
                </a:solidFill>
              </a:defRPr>
            </a:pPr>
            <a:r>
              <a:t>16 min · Call als je winkans hoger is dan wat de pot odds eisen</a:t>
            </a:r>
          </a:p>
          <a:p>
            <a:pPr>
              <a:spcBef>
                <a:spcPts val="1400"/>
              </a:spcBef>
              <a:defRPr sz="1300" b="1">
                <a:solidFill>
                  <a:srgbClr val="121E31"/>
                </a:solidFill>
              </a:defRPr>
            </a:pPr>
            <a:r>
              <a:t>Deel 7 — Bot v2 afmaken en verbeteren</a:t>
            </a:r>
          </a:p>
          <a:p>
            <a:pPr>
              <a:spcBef>
                <a:spcPts val="200"/>
              </a:spcBef>
              <a:defRPr sz="1000" b="0">
                <a:solidFill>
                  <a:srgbClr val="505A64"/>
                </a:solidFill>
              </a:defRPr>
            </a:pPr>
            <a:r>
              <a:t>huiswerk · Het grootste onderdeel van de week — 4 tot 8 uur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00200"/>
            <a:ext cx="33832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2834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1E31"/>
                </a:solidFill>
              </a:defRPr>
            </a:pPr>
            <a:r>
              <a:t>Deel 8 — Lokaal testen tegen je eigen Week 1-bot</a:t>
            </a:r>
          </a:p>
          <a:p>
            <a:pPr>
              <a:spcBef>
                <a:spcPts val="200"/>
              </a:spcBef>
              <a:defRPr sz="1000" b="0">
                <a:solidFill>
                  <a:srgbClr val="505A64"/>
                </a:solidFill>
              </a:defRPr>
            </a:pPr>
            <a:r>
              <a:t>10 min (huiswerk) · Is v2 werkelijk slimmer dan v1?</a:t>
            </a:r>
          </a:p>
          <a:p>
            <a:pPr>
              <a:spcBef>
                <a:spcPts val="1400"/>
              </a:spcBef>
              <a:defRPr sz="1300" b="1">
                <a:solidFill>
                  <a:srgbClr val="121E31"/>
                </a:solidFill>
              </a:defRPr>
            </a:pPr>
            <a:r>
              <a:t>Deel 9 — Plotly-grafiek van het Week 1-toernooi</a:t>
            </a:r>
          </a:p>
          <a:p>
            <a:pPr>
              <a:spcBef>
                <a:spcPts val="200"/>
              </a:spcBef>
              <a:defRPr sz="1000" b="0">
                <a:solidFill>
                  <a:srgbClr val="505A64"/>
                </a:solidFill>
              </a:defRPr>
            </a:pPr>
            <a:r>
              <a:t>15 min (huiswerk) · Alle bots tegelijk, niet alleen die van jou</a:t>
            </a:r>
          </a:p>
          <a:p>
            <a:pPr>
              <a:spcBef>
                <a:spcPts val="1400"/>
              </a:spcBef>
              <a:defRPr sz="1300" b="1">
                <a:solidFill>
                  <a:srgbClr val="121E31"/>
                </a:solidFill>
              </a:defRPr>
            </a:pPr>
            <a:r>
              <a:t>Deel 10 — Inleveren via de API</a:t>
            </a:r>
          </a:p>
          <a:p>
            <a:pPr>
              <a:spcBef>
                <a:spcPts val="200"/>
              </a:spcBef>
              <a:defRPr sz="1000" b="0">
                <a:solidFill>
                  <a:srgbClr val="505A64"/>
                </a:solidFill>
              </a:defRPr>
            </a:pPr>
            <a:r>
              <a:t>10 min (huiswerk) · Zelfde recept als Week 1, met één parameter meer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1 · 33 MIN · DE THEORIE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Python basis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t>Default-argumenten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Een parameter met een standaardwaarde: kies_call_drempel(stack, standaard=30). Je hoeft hem niet mee te geven, tenzij je hem bewust wil overschrijven.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Dictionaries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Een tabel in code: sleutel → waarde. Je bot gebruikt hem zo meteen om per handsoort een drempel op te zoeken.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pandas: filteren en groupby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Van 'alle regels' naar 'alleen wat ik nodig heb', en dan per groep één getal.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Plotly express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Zelfde grafiek als matplotlib, maar je kunt erin klikken en hoveren. Voor Deel 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1 · 33 MIN · WAT JIJ DOET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Python basis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21E31"/>
                </a:solidFill>
              </a:defRPr>
            </a:pPr>
            <a:r>
              <a:t>•  Vier korte oefeningen: eerst een gegeven voorbeeld, dan een half voorbeeld dat je afmaakt.</a:t>
            </a:r>
          </a:p>
          <a:p>
            <a:pPr>
              <a:spcBef>
                <a:spcPts val="1200"/>
              </a:spcBef>
              <a:defRPr sz="1400" b="0">
                <a:solidFill>
                  <a:srgbClr val="121E31"/>
                </a:solidFill>
              </a:defRPr>
            </a:pPr>
            <a:r>
              <a:t>•  Dit is gereedschap, geen doel. Alles wat hier langskomt gebruik je vandaag nog.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1371600"/>
          </a:xfrm>
          <a:prstGeom prst="roundRect">
            <a:avLst>
              <a:gd name="adj" fmla="val 3000"/>
            </a:avLst>
          </a:prstGeom>
          <a:solidFill>
            <a:srgbClr val="F0F6F3"/>
          </a:solidFill>
          <a:ln w="9525">
            <a:solidFill>
              <a:srgbClr val="1B4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WAT JE HIERVAN INLEVERT</a:t>
            </a:r>
          </a:p>
          <a:p>
            <a:pPr>
              <a:spcBef>
                <a:spcPts val="500"/>
              </a:spcBef>
              <a:defRPr sz="1500" b="1">
                <a:solidFill>
                  <a:srgbClr val="121E31"/>
                </a:solidFill>
              </a:defRPr>
            </a:pPr>
            <a:r>
              <a:t>Niets apart — dit is de basis voor Deel 3 tot en met 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2 · 16 MIN · DE THEORIE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Pokerbot Upgrade: hoe het spel écht werkt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t>Twee hole cards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Privé, alleen jij ziet ze. 'Hole' = in het gat: ze liggen dicht op tafel. Je hoort ook 'pocket cards'; dat is hetzelfde.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Blinds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Twee spelers leggen verplicht in vóór er een kaart is gedeeld. Er zit dus altijd al geld in de pot voordat iemand een keuze maakt.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Vier straten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preflop (alleen je hole cards) → flop (3 erbij) → turn (4) → river (5). Na elke straat een inzetronde.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Wat v2 erbij krijgt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Zijn eigen stack, en straks ook de ronde. Daarmee reageert hij voor het eerst op de SITUATIE en niet alleen op zijn kaarten.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2 · 16 MIN · WAT JIJ DOET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Pokerbot Upgrade: hoe het spel écht werkt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21E31"/>
                </a:solidFill>
              </a:defRPr>
            </a:pPr>
            <a:r>
              <a:t>•  Live demo van één hand, en daarna bouw je zelf een rondje op in code.</a:t>
            </a:r>
          </a:p>
          <a:p>
            <a:pPr>
              <a:spcBef>
                <a:spcPts val="1200"/>
              </a:spcBef>
              <a:defRPr sz="1400" b="0">
                <a:solidFill>
                  <a:srgbClr val="121E31"/>
                </a:solidFill>
              </a:defRPr>
            </a:pPr>
            <a:r>
              <a:t>•  Let op de raise-regel: maximaal twee raises per straat.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1371600"/>
          </a:xfrm>
          <a:prstGeom prst="roundRect">
            <a:avLst>
              <a:gd name="adj" fmla="val 3000"/>
            </a:avLst>
          </a:prstGeom>
          <a:solidFill>
            <a:srgbClr val="F0F6F3"/>
          </a:solidFill>
          <a:ln w="9525">
            <a:solidFill>
              <a:srgbClr val="1B4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WAT JE HIERVAN INLEVERT</a:t>
            </a:r>
          </a:p>
          <a:p>
            <a:pPr>
              <a:spcBef>
                <a:spcPts val="500"/>
              </a:spcBef>
              <a:defRPr sz="1500" b="1">
                <a:solidFill>
                  <a:srgbClr val="121E31"/>
                </a:solidFill>
              </a:defRPr>
            </a:pPr>
            <a:r>
              <a:t>Niets — dit is de uitleg waar Deel 3 op verder bouwt.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3 · 12 MIN · DE THEORIE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Zelf starten: Bot v2 skeleton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t>Van één naar twee parameters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Bot v1 kende alleen je hand. Bot v2 krijgt je stack erbij: hoeveel risico kun je je veroorloven?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Een patroon, geen voorschrift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stack &gt; 700 kun je wachten of druk zetten; 300–700 normaal spelen; onder 300 korte-stack-modus. Bedenk je eigen getallen.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Vier acties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fold, call, raise, all_in. Wat elke actie doet staat in Deel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3 · 12 MIN · WAT JIJ DOET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Zelf starten: Bot v2 skeleton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21E31"/>
                </a:solidFill>
              </a:defRPr>
            </a:pPr>
            <a:r>
              <a:t>•  Schrijf kies_actie(hand, stack) in mijn_bot_week3.py.</a:t>
            </a:r>
          </a:p>
          <a:p>
            <a:pPr>
              <a:spcBef>
                <a:spcPts val="1200"/>
              </a:spcBef>
              <a:defRPr sz="1400" b="0">
                <a:solidFill>
                  <a:srgbClr val="121E31"/>
                </a:solidFill>
              </a:defRPr>
            </a:pPr>
            <a:r>
              <a:t>•  Bouw hem stap voor stap op: eerst de hand, dan de stack erbij.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1371600"/>
          </a:xfrm>
          <a:prstGeom prst="roundRect">
            <a:avLst>
              <a:gd name="adj" fmla="val 3000"/>
            </a:avLst>
          </a:prstGeom>
          <a:solidFill>
            <a:srgbClr val="F0F6F3"/>
          </a:solidFill>
          <a:ln w="9525">
            <a:solidFill>
              <a:srgbClr val="1B4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WAT JE HIERVAN INLEVERT</a:t>
            </a:r>
          </a:p>
          <a:p>
            <a:pPr>
              <a:spcBef>
                <a:spcPts val="500"/>
              </a:spcBef>
              <a:defRPr sz="1500" b="1">
                <a:solidFill>
                  <a:srgbClr val="121E31"/>
                </a:solidFill>
              </a:defRPr>
            </a:pPr>
            <a:r>
              <a:t>Een werkend skeleton — de rest van de week maak je hem beter.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4 · 14 MIN · DE THEORIE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Handsterkte: wat wint er eigenlijk?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t>Negen soorten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hoge kaart · één paar · twee paar · three of a kind · straat · flush · full house · four of a kind · straight flush.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Vijf uit zeven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Elke speler maakt de beste 5-kaartshand uit zijn 2 hole cards plus de 5 gedeelde kaarten.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Kleur telt hier wél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Twee tekens: eerst de kleur, dan de rang. SA is schoppen aas, HK harten heer, DQ ruiten vrouw, CJ klaveren boer. Zonder kleur kun je geen flush herkennen.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4 · 14 MIN · WAT JIJ DOET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Handsterkte: wat wint er eigenlijk?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21E31"/>
                </a:solidFill>
              </a:defRPr>
            </a:pPr>
            <a:r>
              <a:t>•  Laat de helper een paar handen beoordelen en kijk of je de uitkomst had voorspeld.</a:t>
            </a:r>
          </a:p>
          <a:p>
            <a:pPr>
              <a:spcBef>
                <a:spcPts val="1200"/>
              </a:spcBef>
              <a:defRPr sz="1400" b="0">
                <a:solidFill>
                  <a:srgbClr val="121E31"/>
                </a:solidFill>
              </a:defRPr>
            </a:pPr>
            <a:r>
              <a:t>•  Let op: de helper klaagt niet als je dezelfde kaart twee keer gebruikt.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1371600"/>
          </a:xfrm>
          <a:prstGeom prst="roundRect">
            <a:avLst>
              <a:gd name="adj" fmla="val 3000"/>
            </a:avLst>
          </a:prstGeom>
          <a:solidFill>
            <a:srgbClr val="F0F6F3"/>
          </a:solidFill>
          <a:ln w="9525">
            <a:solidFill>
              <a:srgbClr val="1B4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WAT JE HIERVAN INLEVERT</a:t>
            </a:r>
          </a:p>
          <a:p>
            <a:pPr>
              <a:spcBef>
                <a:spcPts val="500"/>
              </a:spcBef>
              <a:defRPr sz="1500" b="1">
                <a:solidFill>
                  <a:srgbClr val="121E31"/>
                </a:solidFill>
              </a:defRPr>
            </a:pPr>
            <a:r>
              <a:t>Niets — maar zonder dit is Deel 5 een black box.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5 · 32 MIN · DE THEORIE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Winkans: wat je ECHT hebt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603504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t>Monte Carlo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Speel je hand duizenden keren uit tegen willekeurige tegenstanders en een willekeurig bord, en tel hoe vaak je wint. Dezelfde aanpak als n_simulaties in het toernooi.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Tegen hoeveel mensen?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Dit is het belangrijkste argument. De standaardwaarde is 1, maar je zit aan een tafel van zes.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Gemeten verschil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A-A gaat van 85,3% naar 50,2% als je van vijf mensen moet winnen in plaats van één. 7-2 zakt van 33,9% naar 9,3%.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Advies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Ga uit van 5 tegenstanders, tenzij je weet dat het er minder zijn.</a:t>
            </a:r>
          </a:p>
        </p:txBody>
      </p:sp>
      <p:pic>
        <p:nvPicPr>
          <p:cNvPr id="6" name="Picture 5" descr="wink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03120"/>
            <a:ext cx="4389120" cy="216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5 · 32 MIN · WAT JIJ DOET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Winkans: wat je ECHT hebt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21E31"/>
                </a:solidFill>
              </a:defRPr>
            </a:pPr>
            <a:r>
              <a:t>•  Test schat_winkans op bekende sterke en zwakke starthanden.</a:t>
            </a:r>
          </a:p>
          <a:p>
            <a:pPr>
              <a:spcBef>
                <a:spcPts val="1200"/>
              </a:spcBef>
              <a:defRPr sz="1400" b="0">
                <a:solidFill>
                  <a:srgbClr val="121E31"/>
                </a:solidFill>
              </a:defRPr>
            </a:pPr>
            <a:r>
              <a:t>•  Draai dezelfde hand met tegenstanders=1 en tegenstanders=5 en leg het verschil uit.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1371600"/>
          </a:xfrm>
          <a:prstGeom prst="roundRect">
            <a:avLst>
              <a:gd name="adj" fmla="val 3000"/>
            </a:avLst>
          </a:prstGeom>
          <a:solidFill>
            <a:srgbClr val="F0F6F3"/>
          </a:solidFill>
          <a:ln w="9525">
            <a:solidFill>
              <a:srgbClr val="1B4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WAT JE HIERVAN INLEVERT</a:t>
            </a:r>
          </a:p>
          <a:p>
            <a:pPr>
              <a:spcBef>
                <a:spcPts val="500"/>
              </a:spcBef>
              <a:defRPr sz="1500" b="1">
                <a:solidFill>
                  <a:srgbClr val="121E31"/>
                </a:solidFill>
              </a:defRPr>
            </a:pPr>
            <a:r>
              <a:t>Je bot gebruikt schat_winkans() met tegenstanders=5.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6 · 16 MIN · DE THEORIE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Pot odds × winkans: een echte beslisregel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603504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t>De twee helften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bereken_pot_odds(pot, inzet) zegt wat je MINIMAAL moet winnen. schat_winkans zegt wat je NAAR VERWACHTING wint.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Rekenen, geen vuistregel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Pot 100, je moet 20 bijleggen: 20/(100+20) ≈ 17% nodig.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Waar het stil fout gaat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Vergelijk je een kop-op-kop-winkans met de prijs aan een tafel van zes, dan lijkt bijna elke hand de moeite waard. Je bot crasht niet — hij verliest alleen chips.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Zelfde regel, ander advies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Met 7-2: bij 1 tegenstander zegt de regel CALL, bij 5 tegenstanders FOLD.</a:t>
            </a:r>
          </a:p>
        </p:txBody>
      </p:sp>
      <p:pic>
        <p:nvPicPr>
          <p:cNvPr id="6" name="Picture 5" descr="potod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03120"/>
            <a:ext cx="4389120" cy="21636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6 · 16 MIN · WAT JIJ DOET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Pot odds × winkans: een echte beslisregel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21E31"/>
                </a:solidFill>
              </a:defRPr>
            </a:pPr>
            <a:r>
              <a:t>•  Reken de regel twee keer uit: met tegenstanders=1 en met tegenstanders=5.</a:t>
            </a:r>
          </a:p>
          <a:p>
            <a:pPr>
              <a:spcBef>
                <a:spcPts val="1200"/>
              </a:spcBef>
              <a:defRPr sz="1400" b="0">
                <a:solidFill>
                  <a:srgbClr val="121E31"/>
                </a:solidFill>
              </a:defRPr>
            </a:pPr>
            <a:r>
              <a:t>•  Kies daarna je eigen drempel en verdedig 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1371600"/>
          </a:xfrm>
          <a:prstGeom prst="roundRect">
            <a:avLst>
              <a:gd name="adj" fmla="val 3000"/>
            </a:avLst>
          </a:prstGeom>
          <a:solidFill>
            <a:srgbClr val="F0F6F3"/>
          </a:solidFill>
          <a:ln w="9525">
            <a:solidFill>
              <a:srgbClr val="1B4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WAT JE HIERVAN INLEVERT</a:t>
            </a:r>
          </a:p>
          <a:p>
            <a:pPr>
              <a:spcBef>
                <a:spcPts val="500"/>
              </a:spcBef>
              <a:defRPr sz="1500" b="1">
                <a:solidFill>
                  <a:srgbClr val="121E31"/>
                </a:solidFill>
              </a:defRPr>
            </a:pPr>
            <a:r>
              <a:t>Een beslisregel in je bot die beide getallen vergelijkt.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7 · HUISWERK · DE THEORIE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Bot v2 afmaken en verbeteren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t>Geen invuloefening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Er is geen goed antwoord dat wij achter de hand houden. Hier zit je zelf aan het stuur.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Waar je tijd in gaat zitten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kies_actie uitbreiden met ronde, pot en inzet_om_te_callen: 1–2 uur. De winkans-regel inbouwen en drempels afstemmen: 1–2 uur. Een eigen testset bouwen: 1–2 uur. Reageren op de uitslag: 1–2 uur.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Twee momenten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Woensdag 09:00 een werkende bot voor het toernooi. Donderdag 18:00 je verbeterde versie.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7 · 4 TOT 8 UUR · WAT JIJ DOET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Bot v2 afmaken en verbeteren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21E31"/>
                </a:solidFill>
              </a:defRPr>
            </a:pPr>
            <a:r>
              <a:t>•  Bouw verder op je skeleton uit Deel 3.</a:t>
            </a:r>
          </a:p>
          <a:p>
            <a:pPr>
              <a:spcBef>
                <a:spcPts val="1200"/>
              </a:spcBef>
              <a:defRPr sz="1400" b="0">
                <a:solidFill>
                  <a:srgbClr val="121E31"/>
                </a:solidFill>
              </a:defRPr>
            </a:pPr>
            <a:r>
              <a:t>•  Test met je eigen situaties, niet alleen met de gegeven voorbeelden.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1371600"/>
          </a:xfrm>
          <a:prstGeom prst="roundRect">
            <a:avLst>
              <a:gd name="adj" fmla="val 3000"/>
            </a:avLst>
          </a:prstGeom>
          <a:solidFill>
            <a:srgbClr val="F0F6F3"/>
          </a:solidFill>
          <a:ln w="9525">
            <a:solidFill>
              <a:srgbClr val="1B4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WAT JE HIERVAN INLEVERT</a:t>
            </a:r>
          </a:p>
          <a:p>
            <a:pPr>
              <a:spcBef>
                <a:spcPts val="500"/>
              </a:spcBef>
              <a:defRPr sz="1500" b="1">
                <a:solidFill>
                  <a:srgbClr val="121E31"/>
                </a:solidFill>
              </a:defRPr>
            </a:pPr>
            <a:r>
              <a:t>wo 09:00 een werkende Bot v2 · do 18:00 je verbeterde versie.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8 · 10 MIN · HUISWERK · DE THEORIE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Lokaal testen tegen je eigen Week 1-bot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t>Zelfde handen, twee bots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Laat Bot v2 en Bot v1 dezelfde testhanden zien en vergelijk wat ze kiezen.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De vraag erachter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Verwacht je dat v2 slimmer speelt? Waarom wel of niet, gegeven dat v2 nu ook de stack meeweegt?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8 · 10 MIN · WAT JIJ DOET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Lokaal testen tegen je eigen Week 1-bot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21E31"/>
                </a:solidFill>
              </a:defRPr>
            </a:pPr>
            <a:r>
              <a:t>•  Bedenk minstens vier testhanden waar je vermoedt dat ze het oneens zijn.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1371600"/>
          </a:xfrm>
          <a:prstGeom prst="roundRect">
            <a:avLst>
              <a:gd name="adj" fmla="val 3000"/>
            </a:avLst>
          </a:prstGeom>
          <a:solidFill>
            <a:srgbClr val="F0F6F3"/>
          </a:solidFill>
          <a:ln w="9525">
            <a:solidFill>
              <a:srgbClr val="1B4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WAT JE HIERVAN INLEVERT</a:t>
            </a:r>
          </a:p>
          <a:p>
            <a:pPr>
              <a:spcBef>
                <a:spcPts val="500"/>
              </a:spcBef>
              <a:defRPr sz="1500" b="1">
                <a:solidFill>
                  <a:srgbClr val="121E31"/>
                </a:solidFill>
              </a:defRPr>
            </a:pPr>
            <a:r>
              <a:t>Niets apart — maar het is je laatste check vóór je inlevert.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9 · 15 MIN · HUISWERK · DE THEORIE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Plotly-grafiek van het Week 1-toernooi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t>Kleur per bot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Eén lijn per bot, kleur als onderscheid.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Beperk je scope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Eén tafel en één simulatie, anders krijg je een spaghetti-grafiek — daar ga je in Werkcollege 6 mee aan de slag.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De vraag om te onthouden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Kun je zónder de legenda af te lezen zien wie er wint? Bewaar dat gevoel voor Werkcollege 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9 · 15 MIN · WAT JIJ DOET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Plotly-grafiek van het Week 1-toernooi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21E31"/>
                </a:solidFill>
              </a:defRPr>
            </a:pPr>
            <a:r>
              <a:t>•  Bouw de grafiek in Plotly express en geef hem een echte actietitel.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1371600"/>
          </a:xfrm>
          <a:prstGeom prst="roundRect">
            <a:avLst>
              <a:gd name="adj" fmla="val 3000"/>
            </a:avLst>
          </a:prstGeom>
          <a:solidFill>
            <a:srgbClr val="F0F6F3"/>
          </a:solidFill>
          <a:ln w="9525">
            <a:solidFill>
              <a:srgbClr val="1B4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WAT JE HIERVAN INLEVERT</a:t>
            </a:r>
          </a:p>
          <a:p>
            <a:pPr>
              <a:spcBef>
                <a:spcPts val="500"/>
              </a:spcBef>
              <a:defRPr sz="1500" b="1">
                <a:solidFill>
                  <a:srgbClr val="121E31"/>
                </a:solidFill>
              </a:defRPr>
            </a:pPr>
            <a:r>
              <a:t>Een Plotly-grafiek met titel, x_label en y_label.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10 · 10 MIN · HUISWERK · DE THEORIE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Inleveren via de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4D3E"/>
                </a:solidFill>
              </a:defRPr>
            </a:pPr>
            <a:r>
              <a:t>Drie stappen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Je bot-bestand inlezen, je grafiek klaarzetten met export_chart_info(), en versturen met lever_in().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Wat er verandert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Je bot-functie heeft nu 2 parameters in plaats van 1. Verder verandert er niets. Vanaf Week 5 komen strategie en bluf_kans erbij.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geldig: False?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Lees resultaat['bot_check'] en resultaat['chart_check'] — daar staat in het Nederlands wat er mis is.</a:t>
            </a:r>
          </a:p>
          <a:p>
            <a:pPr>
              <a:spcBef>
                <a:spcPts val="1400"/>
              </a:spcBef>
              <a:defRPr sz="1400" b="1">
                <a:solidFill>
                  <a:srgbClr val="1B4D3E"/>
                </a:solidFill>
              </a:defRPr>
            </a:pPr>
            <a:r>
              <a:t>Zo vaak als je wil</a:t>
            </a:r>
          </a:p>
          <a:p>
            <a:pPr>
              <a:spcBef>
                <a:spcPts val="300"/>
              </a:spcBef>
              <a:defRPr sz="1150" b="0">
                <a:solidFill>
                  <a:srgbClr val="121E31"/>
                </a:solidFill>
              </a:defRPr>
            </a:pPr>
            <a:r>
              <a:t>Het systeem gebruikt altijd je laatste geldige inzending.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DEEL 10 · 10 MIN · WAT JIJ DOET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Inleveren via de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21E31"/>
                </a:solidFill>
              </a:defRPr>
            </a:pPr>
            <a:r>
              <a:t>•  Lever in, lees het antwoord, en los op wat er nog niet klopt.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43400"/>
            <a:ext cx="10698480" cy="1371600"/>
          </a:xfrm>
          <a:prstGeom prst="roundRect">
            <a:avLst>
              <a:gd name="adj" fmla="val 3000"/>
            </a:avLst>
          </a:prstGeom>
          <a:solidFill>
            <a:srgbClr val="F0F6F3"/>
          </a:solidFill>
          <a:ln w="9525">
            <a:solidFill>
              <a:srgbClr val="1B4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WAT JE HIERVAN INLEVERT</a:t>
            </a:r>
          </a:p>
          <a:p>
            <a:pPr>
              <a:spcBef>
                <a:spcPts val="500"/>
              </a:spcBef>
              <a:defRPr sz="1500" b="1">
                <a:solidFill>
                  <a:srgbClr val="121E31"/>
                </a:solidFill>
              </a:defRPr>
            </a:pPr>
            <a:r>
              <a:t>Een inzending met geldig: True.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B4D3E"/>
                </a:solidFill>
              </a:defRPr>
            </a:pPr>
            <a:r>
              <a:t>WERKCOLLEGE 4 · SLOT</a:t>
            </a:r>
          </a:p>
          <a:p>
            <a:pPr>
              <a:spcBef>
                <a:spcPts val="400"/>
              </a:spcBef>
              <a:defRPr sz="2400" b="1">
                <a:solidFill>
                  <a:srgbClr val="121E31"/>
                </a:solidFill>
              </a:defRPr>
            </a:pPr>
            <a:r>
              <a:t>Wat lever je in, en wanneer?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106984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4D3E"/>
                </a:solidFill>
              </a:defRPr>
            </a:pPr>
            <a:r>
              <a:t>wo 09:00</a:t>
            </a:r>
          </a:p>
          <a:p>
            <a:pPr>
              <a:spcBef>
                <a:spcPts val="300"/>
              </a:spcBef>
              <a:defRPr sz="1300" b="0">
                <a:solidFill>
                  <a:srgbClr val="121E31"/>
                </a:solidFill>
              </a:defRPr>
            </a:pPr>
            <a:r>
              <a:t>Een werkende Bot v2 — anders speel je niet mee in het toernooi van woensdag</a:t>
            </a:r>
          </a:p>
          <a:p>
            <a:pPr>
              <a:spcBef>
                <a:spcPts val="1600"/>
              </a:spcBef>
              <a:defRPr sz="1600" b="1">
                <a:solidFill>
                  <a:srgbClr val="1B4D3E"/>
                </a:solidFill>
              </a:defRPr>
            </a:pPr>
            <a:r>
              <a:t>wo werkcollege</a:t>
            </a:r>
          </a:p>
          <a:p>
            <a:pPr>
              <a:spcBef>
                <a:spcPts val="300"/>
              </a:spcBef>
              <a:defRPr sz="1300" b="0">
                <a:solidFill>
                  <a:srgbClr val="121E31"/>
                </a:solidFill>
              </a:defRPr>
            </a:pPr>
            <a:r>
              <a:t>Je ziet de uitslag terug in Werkcollege 5</a:t>
            </a:r>
          </a:p>
          <a:p>
            <a:pPr>
              <a:spcBef>
                <a:spcPts val="1600"/>
              </a:spcBef>
              <a:defRPr sz="1600" b="1">
                <a:solidFill>
                  <a:srgbClr val="1B4D3E"/>
                </a:solidFill>
              </a:defRPr>
            </a:pPr>
            <a:r>
              <a:t>do 18:00</a:t>
            </a:r>
          </a:p>
          <a:p>
            <a:pPr>
              <a:spcBef>
                <a:spcPts val="300"/>
              </a:spcBef>
              <a:defRPr sz="1300" b="0">
                <a:solidFill>
                  <a:srgbClr val="121E31"/>
                </a:solidFill>
              </a:defRPr>
            </a:pPr>
            <a:r>
              <a:t>Je verbeterde Bot v2, plus de Plotly-grafiek, plus het onderwerp van Case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17720"/>
            <a:ext cx="10698480" cy="1188720"/>
          </a:xfrm>
          <a:prstGeom prst="roundRect">
            <a:avLst>
              <a:gd name="adj" fmla="val 3000"/>
            </a:avLst>
          </a:prstGeom>
          <a:solidFill>
            <a:srgbClr val="FCF2F1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006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B3261E"/>
                </a:solidFill>
              </a:defRPr>
            </a:pPr>
            <a:r>
              <a:t>De deadline handhaaft zichzelf</a:t>
            </a:r>
          </a:p>
          <a:p>
            <a:pPr>
              <a:spcBef>
                <a:spcPts val="400"/>
              </a:spcBef>
              <a:defRPr sz="1200" b="0">
                <a:solidFill>
                  <a:srgbClr val="121E31"/>
                </a:solidFill>
              </a:defRPr>
            </a:pPr>
            <a:r>
              <a:t>Een toernooi speelt met de bots die er op dat moment zijn. Lever je woensdagmiddag in, dan doe je niet mee aan het woensdagtoernooi.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